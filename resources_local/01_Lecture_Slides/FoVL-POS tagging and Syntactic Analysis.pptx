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409CC4-58D0-4E40-A9B3-1C3D6BC5DD18}">
  <a:tblStyle styleId="{06409CC4-58D0-4E40-A9B3-1C3D6BC5DD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slide" Target="slides/slide4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h7bdb24e5bfae700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h7bdb24e5bfae70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h7bdb24e5bfae700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h7bdb24e5bfae700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h7bdb24e5bfae700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h7bdb24e5bfae700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7bdb24e5bfae700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7bdb24e5bfae700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7bdb24e5bfae700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h7bdb24e5bfae700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7bdb24e5bfae700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7bdb24e5bfae700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h7bdb24e5bfae700_0_2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h7bdb24e5bfae70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7bdb24e5bfae700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7bdb24e5bfae70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7bdb24e5bfae70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h7bdb24e5bfae70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6af8d2cf0f678b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6af8d2cf0f678b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6af8d2cf0f678b1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h6af8d2cf0f678b1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6af8d2cf0f678b1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h6af8d2cf0f678b1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h6af8d2cf0f678b1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h6af8d2cf0f678b1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6af8d2cf0f678b1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h6af8d2cf0f678b1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h6af8d2cf0f678b1a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h6af8d2cf0f678b1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6af8d2cf0f678b1a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6af8d2cf0f678b1a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h6af8d2cf0f678b1a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h6af8d2cf0f678b1a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h7bdb24e5bfae700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h7bdb24e5bfae70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7bdb24e5bfae70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h7bdb24e5bfae70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bdb24e5bfae70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7bdb24e5bfae70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h7bdb24e5bfae700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h7bdb24e5bfae700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7bdb24e5bfae700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h7bdb24e5bfae70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h7bdb24e5bfae70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h7bdb24e5bfae70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7bdb24e5bfae700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h7bdb24e5bfae700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h7bdb24e5bfae70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h7bdb24e5bfae70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h7bdb24e5bfae700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h7bdb24e5bfae700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h7bdb24e5bfae700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h7bdb24e5bfae700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7bdb24e5bfae70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h7bdb24e5bfae70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h7bdb24e5bfae70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h7bdb24e5bfae70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7bdb24e5bfae700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7bdb24e5bfae700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7bdb24e5bfae700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h7bdb24e5bfae700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7bdb24e5bfae700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h7bdb24e5bfae70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h7bdb24e5bfae700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h7bdb24e5bfae700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h2f187c0b4c5b8db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h2f187c0b4c5b8db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h6af8d2cf0f678b1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h6af8d2cf0f678b1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h6af8d2cf0f678b1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h6af8d2cf0f678b1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2f187c0b4c5b8dba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h2f187c0b4c5b8db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h2f187c0b4c5b8db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h2f187c0b4c5b8db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h2f187c0b4c5b8db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h2f187c0b4c5b8db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h2f187c0b4c5b8dba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h2f187c0b4c5b8db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h2f187c0b4c5b8db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h2f187c0b4c5b8db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h2f187c0b4c5b8dba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h2f187c0b4c5b8dba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h6af8d2cf0f678b1a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h6af8d2cf0f678b1a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drive.google.com/drive/folders/1B1iGYnJ_LGkUGk15DcpTKzldo03muqId?usp=sharing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universaldependencies.org/" TargetMode="External"/><Relationship Id="rId4" Type="http://schemas.openxmlformats.org/officeDocument/2006/relationships/hyperlink" Target="https://www.nltk.org/howto/corpus.html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universaldependencies.org/" TargetMode="External"/><Relationship Id="rId4" Type="http://schemas.openxmlformats.org/officeDocument/2006/relationships/hyperlink" Target="https://www.nltk.org/howto/corpus.html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1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ltk.org/book/" TargetMode="External"/><Relationship Id="rId4" Type="http://schemas.openxmlformats.org/officeDocument/2006/relationships/hyperlink" Target="https://spacy.io/usage/linguistic-features#named-entities" TargetMode="External"/><Relationship Id="rId5" Type="http://schemas.openxmlformats.org/officeDocument/2006/relationships/hyperlink" Target="https://stanfordnlp.github.io/stanza/neural_pipelin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98945"/>
            <a:ext cx="8520600" cy="94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Foundations of Vision and Language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39006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00"/>
                </a:solidFill>
              </a:rPr>
              <a:t>POS tagging and Syntactic Analysis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2988900" y="3406325"/>
            <a:ext cx="3166200" cy="6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9900FF"/>
                </a:solidFill>
              </a:rPr>
              <a:t>Sidharth Ranjan</a:t>
            </a:r>
            <a:endParaRPr sz="2400">
              <a:solidFill>
                <a:srgbClr val="9900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Outline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POS tagging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Linguistic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Constituency Formalism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Dependency Formalism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Syntactic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POS </a:t>
            </a:r>
            <a:r>
              <a:rPr lang="en"/>
              <a:t>tagging</a:t>
            </a:r>
            <a:r>
              <a:rPr lang="en"/>
              <a:t>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</a:t>
            </a:r>
            <a:r>
              <a:rPr lang="en"/>
              <a:t>ask of assigning a grammatical category to each word in a sentence.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8375" y="1861823"/>
            <a:ext cx="7045299" cy="248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 tagging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642400" cy="3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Tagging ambiguity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 read a book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Here, </a:t>
            </a:r>
            <a:r>
              <a:rPr i="1" lang="en"/>
              <a:t>book</a:t>
            </a:r>
            <a:r>
              <a:rPr lang="en"/>
              <a:t> is a noun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Please book a ticket.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Here, </a:t>
            </a:r>
            <a:r>
              <a:rPr i="1" lang="en"/>
              <a:t>book</a:t>
            </a:r>
            <a:r>
              <a:rPr lang="en"/>
              <a:t> is a verb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Problem Statement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Data is available in the format (w, t),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 = observed data, such as words in a sentence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 = classes, such as POS tags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Supervised Setting: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Training: Words and their correct POS tags pair (w, t)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Testing: A new sentence and ask the model to predict its tags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So POS tags </a:t>
            </a:r>
            <a:r>
              <a:rPr lang="en"/>
              <a:t>(t)</a:t>
            </a:r>
            <a:r>
              <a:rPr lang="en"/>
              <a:t> are hidden or unknown for the sentence being tagged  </a:t>
            </a:r>
            <a:endParaRPr/>
          </a:p>
        </p:txBody>
      </p:sp>
      <p:graphicFrame>
        <p:nvGraphicFramePr>
          <p:cNvPr id="76" name="Google Shape;76;p16"/>
          <p:cNvGraphicFramePr/>
          <p:nvPr/>
        </p:nvGraphicFramePr>
        <p:xfrm>
          <a:off x="6026699" y="31479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{06409CC4-58D0-4E40-A9B3-1C3D6BC5DD18}</a:tableStyleId>
              </a:tblPr>
              <a:tblGrid>
                <a:gridCol w="1758900"/>
                <a:gridCol w="1168550"/>
              </a:tblGrid>
              <a:tr h="445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 word (w)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POS tag (t)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Dogs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Noun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chase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Verb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cats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Noun</a:t>
                      </a:r>
                      <a:endParaRPr/>
                    </a:p>
                  </a:txBody>
                  <a:tcPr marT="91425" marB="91425" marR="91425" marL="91425">
                    <a:lnL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Tagging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Part of speech (POS) tagging is a type of </a:t>
            </a:r>
            <a:r>
              <a:rPr i="1" lang="en">
                <a:solidFill>
                  <a:srgbClr val="980000"/>
                </a:solidFill>
              </a:rPr>
              <a:t>sequence tagging</a:t>
            </a:r>
            <a:endParaRPr i="1">
              <a:solidFill>
                <a:srgbClr val="98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It assi</a:t>
            </a:r>
            <a:r>
              <a:rPr lang="en"/>
              <a:t>gns grammatical categories such as nouns, verbs, adjectives, and adverbs etc to each word in a text </a:t>
            </a:r>
            <a:r>
              <a:rPr lang="en">
                <a:solidFill>
                  <a:srgbClr val="9900FF"/>
                </a:solidFill>
              </a:rPr>
              <a:t>based on its definition and context</a:t>
            </a:r>
            <a:r>
              <a:rPr lang="en"/>
              <a:t>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Given a sequence of observations, the POS tagger assigns a label/class to each item in the sequence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helps machines to </a:t>
            </a:r>
            <a:r>
              <a:rPr lang="en">
                <a:solidFill>
                  <a:srgbClr val="9900FF"/>
                </a:solidFill>
              </a:rPr>
              <a:t>understand sentence structure and word relationships</a:t>
            </a:r>
            <a:r>
              <a:rPr lang="en"/>
              <a:t>, essential for varieties of NLP tasks like MT, IE, Understanding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difficulty is that the same word can have different POS tags depending on its use. Thus, r</a:t>
            </a:r>
            <a:r>
              <a:rPr lang="en"/>
              <a:t>esolving lexical ambiguity is an important aspect of this task</a:t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2335000" y="4530156"/>
            <a:ext cx="429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0000FF"/>
                </a:solidFill>
              </a:rPr>
              <a:t>British Left Waffles on Falkland Islands</a:t>
            </a:r>
            <a:endParaRPr i="1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8903" y="18748"/>
            <a:ext cx="6535175" cy="29139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680850" y="3104900"/>
            <a:ext cx="8382300" cy="18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Each of the part of speech tags represent states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A noun state goes to another noun state, followed by a verb etc.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Each of these states is mapped to a sequence of observations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Char char="-"/>
            </a:pPr>
            <a:r>
              <a:rPr lang="en" sz="1600">
                <a:solidFill>
                  <a:schemeClr val="dk2"/>
                </a:solidFill>
              </a:rPr>
              <a:t>In this case, we are doing a type of sequence prediction, mediated by the POS tags</a:t>
            </a:r>
            <a:endParaRPr sz="1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POS tagger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Rule-based or Look-up Tagger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Regular expression tagger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Default taggers &amp; N-gram Taggers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Statistical Tagger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Generative Tagger: HMM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Discriminative Tagger: Maximum Entropy Tagger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Neural Tagger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BiLSTM taggers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Transformer-based models (e.g., BERT, spaCy's pipelines, or Stanza)</a:t>
            </a: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Generative Model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generative model learns how likely a sequence of POS tags is and how likely words are given those tag</a:t>
            </a:r>
            <a:r>
              <a:rPr lang="en"/>
              <a:t>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It learns that a noun is likely to generate words such as student, dog, or book, while a verb may generate words such as read, run, or eat.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Objective: How words and tags are jointly generated?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Mathematically, it models the joint probability: P(W, T), where the main question is how likely are these words and tags together?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And then to tag a sentence, it finds the most probable tag sequence: </a:t>
            </a:r>
            <a:endParaRPr/>
          </a:p>
        </p:txBody>
      </p:sp>
      <p:pic>
        <p:nvPicPr>
          <p:cNvPr id="102" name="Google Shape;10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225" y="4530206"/>
            <a:ext cx="2501775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Discriminative Model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discriminative model directly learns how to predict the POS tags from the observed words and their context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</a:t>
            </a:r>
            <a:r>
              <a:rPr lang="en"/>
              <a:t>t learns that reads is likely to be a verb in the sentence: </a:t>
            </a:r>
            <a:r>
              <a:rPr i="1" lang="en"/>
              <a:t>The student reads books.</a:t>
            </a:r>
            <a:r>
              <a:rPr lang="en"/>
              <a:t>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Objective: </a:t>
            </a:r>
            <a:r>
              <a:rPr lang="en"/>
              <a:t>How to predict tags from words?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Mathematically, it models the conditional probability: P(T | W), where the main question is g</a:t>
            </a:r>
            <a:r>
              <a:rPr lang="en"/>
              <a:t>iven these history of words, which tags are most likely?</a:t>
            </a:r>
            <a:r>
              <a:rPr lang="en"/>
              <a:t>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And then it </a:t>
            </a:r>
            <a:r>
              <a:rPr lang="en"/>
              <a:t>predicts the tag sequence with the highest conditional probability </a:t>
            </a:r>
            <a:r>
              <a:rPr lang="en"/>
              <a:t>: </a:t>
            </a:r>
            <a:endParaRPr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1050" y="4388525"/>
            <a:ext cx="2552700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 Markov Model (Generative Approach)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can model the POS tagging problem with the words as the seen (observable) events and tags that are the hidden events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hidden Markov model allows us to create a probabilistic model that contains both observed events and hidden events</a:t>
            </a:r>
            <a:endParaRPr/>
          </a:p>
        </p:txBody>
      </p:sp>
      <p:pic>
        <p:nvPicPr>
          <p:cNvPr id="116" name="Google Shape;11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612" y="3044025"/>
            <a:ext cx="5988226" cy="173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Finite State Automaton (FSA)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Each FSA is a </a:t>
            </a:r>
            <a:r>
              <a:rPr b="1" lang="en"/>
              <a:t>five-tuple</a:t>
            </a:r>
            <a:r>
              <a:rPr lang="en"/>
              <a:t> consisting of </a:t>
            </a:r>
            <a:r>
              <a:rPr b="1" lang="en"/>
              <a:t>alphabet symbols (</a:t>
            </a:r>
            <a:r>
              <a:rPr lang="en"/>
              <a:t>Σ)</a:t>
            </a:r>
            <a:r>
              <a:rPr lang="en"/>
              <a:t>, set of states (Q), an initial (</a:t>
            </a:r>
            <a:r>
              <a:rPr lang="en"/>
              <a:t>q</a:t>
            </a:r>
            <a:r>
              <a:rPr baseline="-25000" lang="en"/>
              <a:t>0</a:t>
            </a:r>
            <a:r>
              <a:rPr lang="en"/>
              <a:t>)</a:t>
            </a:r>
            <a:r>
              <a:rPr lang="en"/>
              <a:t> and final state (F), a transition function (δ) showing a relation from states to alphabet symbols to states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FSA: A = &lt; Q, Σ, q</a:t>
            </a:r>
            <a:r>
              <a:rPr baseline="-25000" lang="en"/>
              <a:t>0</a:t>
            </a:r>
            <a:r>
              <a:rPr lang="en"/>
              <a:t>, δ, F &gt;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where Q = {q</a:t>
            </a:r>
            <a:r>
              <a:rPr baseline="-25000" lang="en"/>
              <a:t>0</a:t>
            </a:r>
            <a:r>
              <a:rPr lang="en"/>
              <a:t>, q</a:t>
            </a:r>
            <a:r>
              <a:rPr baseline="-25000" lang="en"/>
              <a:t>1</a:t>
            </a:r>
            <a:r>
              <a:rPr lang="en"/>
              <a:t>, q</a:t>
            </a:r>
            <a:r>
              <a:rPr baseline="-25000" lang="en"/>
              <a:t>2</a:t>
            </a:r>
            <a:r>
              <a:rPr lang="en"/>
              <a:t>, q</a:t>
            </a:r>
            <a:r>
              <a:rPr baseline="-25000" lang="en"/>
              <a:t>3</a:t>
            </a:r>
            <a:r>
              <a:rPr lang="en"/>
              <a:t>},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Σ = {c, a,t, r},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F= {q</a:t>
            </a:r>
            <a:r>
              <a:rPr baseline="-25000" lang="en"/>
              <a:t>3</a:t>
            </a:r>
            <a:r>
              <a:rPr lang="en"/>
              <a:t>},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δ = {&lt; q</a:t>
            </a:r>
            <a:r>
              <a:rPr baseline="-25000" lang="en"/>
              <a:t>0</a:t>
            </a:r>
            <a:r>
              <a:rPr lang="en"/>
              <a:t>, c, q</a:t>
            </a:r>
            <a:r>
              <a:rPr baseline="-25000" lang="en"/>
              <a:t>1</a:t>
            </a:r>
            <a:r>
              <a:rPr lang="en"/>
              <a:t> &gt;, &lt; q</a:t>
            </a:r>
            <a:r>
              <a:rPr baseline="-25000" lang="en"/>
              <a:t>1</a:t>
            </a:r>
            <a:r>
              <a:rPr lang="en"/>
              <a:t>, a, q</a:t>
            </a:r>
            <a:r>
              <a:rPr baseline="-25000" lang="en"/>
              <a:t>2</a:t>
            </a:r>
            <a:r>
              <a:rPr lang="en"/>
              <a:t> &gt;, &lt; q</a:t>
            </a:r>
            <a:r>
              <a:rPr baseline="-25000" lang="en"/>
              <a:t>2</a:t>
            </a:r>
            <a:r>
              <a:rPr lang="en"/>
              <a:t>,t, q</a:t>
            </a:r>
            <a:r>
              <a:rPr baseline="-25000" lang="en"/>
              <a:t>3</a:t>
            </a:r>
            <a:r>
              <a:rPr lang="en"/>
              <a:t> &gt;, &lt;q</a:t>
            </a:r>
            <a:r>
              <a:rPr baseline="-25000" lang="en"/>
              <a:t>2</a:t>
            </a:r>
            <a:r>
              <a:rPr lang="en"/>
              <a:t>, r, q</a:t>
            </a:r>
            <a:r>
              <a:rPr baseline="-25000" lang="en"/>
              <a:t>3</a:t>
            </a:r>
            <a:r>
              <a:rPr lang="en"/>
              <a:t> &gt;}</a:t>
            </a:r>
            <a:endParaRPr/>
          </a:p>
        </p:txBody>
      </p:sp>
      <p:pic>
        <p:nvPicPr>
          <p:cNvPr id="123" name="Google Shape;12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2648" y="4135737"/>
            <a:ext cx="6917399" cy="101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Recognizing sheep language baaa</a:t>
            </a:r>
            <a:endParaRPr/>
          </a:p>
        </p:txBody>
      </p:sp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1564" y="1170125"/>
            <a:ext cx="4992468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6050" y="1471385"/>
            <a:ext cx="634365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196625" y="3421825"/>
            <a:ext cx="8811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At this point, we have reached the accept state at the end of the string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For bb: no accepting state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6701" y="1216824"/>
            <a:ext cx="7235976" cy="302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6"/>
          <p:cNvSpPr txBox="1"/>
          <p:nvPr/>
        </p:nvSpPr>
        <p:spPr>
          <a:xfrm>
            <a:off x="855750" y="4241575"/>
            <a:ext cx="8094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It will reject the string, because q1 is not a final state.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Transition not defined</a:t>
            </a:r>
            <a:r>
              <a:rPr lang="en"/>
              <a:t> </a:t>
            </a:r>
            <a:r>
              <a:rPr i="1" lang="en"/>
              <a:t>bac</a:t>
            </a:r>
            <a:endParaRPr i="1"/>
          </a:p>
        </p:txBody>
      </p:sp>
      <p:pic>
        <p:nvPicPr>
          <p:cNvPr id="148" name="Google Shape;14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534" y="1170125"/>
            <a:ext cx="5112082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4802" y="152400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Hidden Markov Model (Generative Approach)</a:t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 hidden Markov model allows us to create a probabilistic model that contains both observed events and hidden events</a:t>
            </a:r>
            <a:endParaRPr/>
          </a:p>
        </p:txBody>
      </p:sp>
      <p:pic>
        <p:nvPicPr>
          <p:cNvPr id="160" name="Google Shape;1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102" y="2250924"/>
            <a:ext cx="7179499" cy="207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638" y="1419898"/>
            <a:ext cx="6739725" cy="26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33156"/>
            <a:ext cx="8839204" cy="3245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Ngrams vs HMMs</a:t>
            </a:r>
            <a:endParaRPr/>
          </a:p>
        </p:txBody>
      </p:sp>
      <p:sp>
        <p:nvSpPr>
          <p:cNvPr id="176" name="Google Shape;176;p32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 = British Left Waffles on Falkland Islands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Bigram model (n-gram)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P(British) . P(Left | British) . P(Waffles | Left) . P(on | Waffles) . P(Falkland | on) . P(Islands | Falkland)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N N V P N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P(N) x P(N|N) x P(V | N) x P (P |V) x …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 (British | N), P (Left | N), P (Waffles | V), 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HMM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P(N) P(British | N) P(N | N) P(Left | N) P(V | N) P(Waffles | V) P(P | V) P(on | P) P(N | P) P(Falkland | N) P(N | N) P(Islands | N)</a:t>
            </a:r>
            <a:endParaRPr/>
          </a:p>
        </p:txBody>
      </p:sp>
      <p:pic>
        <p:nvPicPr>
          <p:cNvPr id="177" name="Google Shape;177;p32"/>
          <p:cNvPicPr preferRelativeResize="0"/>
          <p:nvPr/>
        </p:nvPicPr>
        <p:blipFill rotWithShape="1">
          <a:blip r:embed="rId3">
            <a:alphaModFix/>
          </a:blip>
          <a:srcRect b="8921" l="0" r="0" t="8937"/>
          <a:stretch/>
        </p:blipFill>
        <p:spPr>
          <a:xfrm>
            <a:off x="5090400" y="35775"/>
            <a:ext cx="4053601" cy="122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types of finite state machines</a:t>
            </a:r>
            <a:endParaRPr/>
          </a:p>
        </p:txBody>
      </p:sp>
      <p:sp>
        <p:nvSpPr>
          <p:cNvPr id="183" name="Google Shape;18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first associates an output value with each transition edge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second associates an output value with each state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Both representations are equivalent, but we will use the second for HMM problem</a:t>
            </a:r>
            <a:endParaRPr/>
          </a:p>
        </p:txBody>
      </p:sp>
      <p:pic>
        <p:nvPicPr>
          <p:cNvPr id="184" name="Google Shape;1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9500" y="2523275"/>
            <a:ext cx="5084399" cy="24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Probabilistic FSM</a:t>
            </a:r>
            <a:endParaRPr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43224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HMM is a probabilistic form of the Moore machine (type of FSA)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Start at a state i with a start state π</a:t>
            </a:r>
            <a:r>
              <a:rPr baseline="-25000" lang="en"/>
              <a:t>i</a:t>
            </a:r>
            <a:endParaRPr baseline="-25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Transition from state i to state j denoted by transition probability P(j | i) e.g (P(N | N))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Emission of symbol (word) o from state i has an emission probability P(o | i) e.g (P(British | N))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outgoing transition arcs from a state must sum to 1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symbol emissions from a state must sum to 1</a:t>
            </a:r>
            <a:endParaRPr/>
          </a:p>
        </p:txBody>
      </p:sp>
      <p:pic>
        <p:nvPicPr>
          <p:cNvPr id="191" name="Google Shape;191;p34"/>
          <p:cNvPicPr preferRelativeResize="0"/>
          <p:nvPr/>
        </p:nvPicPr>
        <p:blipFill rotWithShape="1">
          <a:blip r:embed="rId3">
            <a:alphaModFix/>
          </a:blip>
          <a:srcRect b="8921" l="0" r="0" t="8937"/>
          <a:stretch/>
        </p:blipFill>
        <p:spPr>
          <a:xfrm>
            <a:off x="5090400" y="35775"/>
            <a:ext cx="4053601" cy="1222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0097" y="662243"/>
            <a:ext cx="4144326" cy="3554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/>
        </p:nvSpPr>
        <p:spPr>
          <a:xfrm>
            <a:off x="355075" y="527227"/>
            <a:ext cx="41442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All symbol emissions from A and N sum to 1 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All outgoing transition arcs from A and N sum to 1 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Valid transition probability and valid emission probability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 (A | A) = ⅓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 (N | A) = ⅔ </a:t>
            </a:r>
            <a:br>
              <a:rPr lang="en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 (A | N) = 1/10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>
                <a:solidFill>
                  <a:schemeClr val="dk1"/>
                </a:solidFill>
              </a:rPr>
              <a:t>P (N | N) =   9/10 = 0.9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2248" y="152400"/>
            <a:ext cx="695061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HMM Parsing</a:t>
            </a:r>
            <a:endParaRPr/>
          </a:p>
        </p:txBody>
      </p:sp>
      <p:sp>
        <p:nvSpPr>
          <p:cNvPr id="208" name="Google Shape;20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HMM as parser: Compute the best sequence of states for a given observation sequence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Given an ambiguous sequence, we get the correct sequence of tags that describes it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Once we have obtained the table of emission and transition probabilities and the start probabilities, this is straightforward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</a:t>
            </a:r>
            <a:endParaRPr/>
          </a:p>
        </p:txBody>
      </p:sp>
      <p:sp>
        <p:nvSpPr>
          <p:cNvPr id="214" name="Google Shape;21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a given observation sequence O=(o</a:t>
            </a:r>
            <a:r>
              <a:rPr baseline="-25000" lang="en"/>
              <a:t>1</a:t>
            </a:r>
            <a:r>
              <a:rPr lang="en"/>
              <a:t> ...o</a:t>
            </a:r>
            <a:r>
              <a:rPr baseline="-25000" lang="en"/>
              <a:t>t</a:t>
            </a:r>
            <a:r>
              <a:rPr lang="en"/>
              <a:t>...o</a:t>
            </a:r>
            <a:r>
              <a:rPr baseline="-25000" lang="en"/>
              <a:t>T</a:t>
            </a:r>
            <a:r>
              <a:rPr lang="en"/>
              <a:t>), find the most likely state sequence i.e. sequence of tag states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Learn from a set of observations with the sequence of states provided (i.e already tagged data)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Once learnt, HMM as parser compute the best sequence of states for a given observation sequence</a:t>
            </a:r>
            <a:br>
              <a:rPr lang="en"/>
            </a:br>
            <a:endParaRPr/>
          </a:p>
        </p:txBody>
      </p:sp>
      <p:pic>
        <p:nvPicPr>
          <p:cNvPr id="215" name="Google Shape;21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450" y="3853000"/>
            <a:ext cx="3905949" cy="123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9"/>
          <p:cNvPicPr preferRelativeResize="0"/>
          <p:nvPr/>
        </p:nvPicPr>
        <p:blipFill rotWithShape="1">
          <a:blip r:embed="rId3">
            <a:alphaModFix/>
          </a:blip>
          <a:srcRect b="0" l="0" r="0" t="29438"/>
          <a:stretch/>
        </p:blipFill>
        <p:spPr>
          <a:xfrm>
            <a:off x="1191883" y="1738312"/>
            <a:ext cx="6790151" cy="341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7920" y="54049"/>
            <a:ext cx="2604149" cy="173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Estimation</a:t>
            </a:r>
            <a:endParaRPr/>
          </a:p>
        </p:txBody>
      </p:sp>
      <p:sp>
        <p:nvSpPr>
          <p:cNvPr id="227" name="Google Shape;227;p40"/>
          <p:cNvSpPr txBox="1"/>
          <p:nvPr>
            <p:ph idx="1" type="body"/>
          </p:nvPr>
        </p:nvSpPr>
        <p:spPr>
          <a:xfrm>
            <a:off x="311700" y="1152475"/>
            <a:ext cx="8587800" cy="387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</a:t>
            </a:r>
            <a:r>
              <a:rPr baseline="-25000" lang="en"/>
              <a:t>1</a:t>
            </a:r>
            <a:r>
              <a:rPr lang="en"/>
              <a:t> = (British Left, NN)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</a:t>
            </a:r>
            <a:r>
              <a:rPr baseline="-25000" lang="en"/>
              <a:t>1</a:t>
            </a:r>
            <a:r>
              <a:rPr lang="en"/>
              <a:t>) = P(N) P(British | N) P(N | N) P(Left | N)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</a:t>
            </a:r>
            <a:r>
              <a:rPr baseline="-25000" lang="en"/>
              <a:t>2</a:t>
            </a:r>
            <a:r>
              <a:rPr lang="en"/>
              <a:t> = (British Left, NV)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</a:t>
            </a:r>
            <a:r>
              <a:rPr baseline="-25000" lang="en"/>
              <a:t>2</a:t>
            </a:r>
            <a:r>
              <a:rPr lang="en"/>
              <a:t>) = P(N) P(British | N) P(V | N) P(Left | V)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</a:t>
            </a:r>
            <a:r>
              <a:rPr baseline="-25000" lang="en"/>
              <a:t>2</a:t>
            </a:r>
            <a:r>
              <a:rPr lang="en"/>
              <a:t>) &gt; P(S</a:t>
            </a:r>
            <a:r>
              <a:rPr baseline="-25000" lang="en"/>
              <a:t>1</a:t>
            </a:r>
            <a:r>
              <a:rPr lang="en"/>
              <a:t>)</a:t>
            </a:r>
            <a:endParaRPr/>
          </a:p>
          <a:p>
            <a:pPr indent="-31083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1400"/>
              <a:t>AA, AN, NA, NN</a:t>
            </a:r>
            <a:br>
              <a:rPr lang="en" sz="1400"/>
            </a:br>
            <a:endParaRPr sz="1400"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 = (Killer Clown, AA)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P(S) = P(A) P(Killer | A) P(A | A) P(Clown | A)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P(S) = π x b</a:t>
            </a:r>
            <a:r>
              <a:rPr baseline="-25000" lang="en"/>
              <a:t>A</a:t>
            </a:r>
            <a:r>
              <a:rPr lang="en"/>
              <a:t>(killer) x a </a:t>
            </a:r>
            <a:r>
              <a:rPr baseline="-25000" lang="en"/>
              <a:t>A,A</a:t>
            </a:r>
            <a:r>
              <a:rPr lang="en"/>
              <a:t> x b</a:t>
            </a:r>
            <a:r>
              <a:rPr baseline="-25000" lang="en"/>
              <a:t>A</a:t>
            </a:r>
            <a:r>
              <a:rPr lang="en"/>
              <a:t>(Clown) = 0.25 x 0 x 0 x 0 = 0</a:t>
            </a:r>
            <a:br>
              <a:rPr lang="en"/>
            </a:b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S = (Killer Clown, NN)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P(S) = P(N) P(Killer | N) P(N | N) P(Clown | N) = 0.25 x 0.3 x 0.5 x 0.4 = 0.045  </a:t>
            </a:r>
            <a:endParaRPr/>
          </a:p>
        </p:txBody>
      </p:sp>
      <p:pic>
        <p:nvPicPr>
          <p:cNvPr id="228" name="Google Shape;228;p40"/>
          <p:cNvPicPr preferRelativeResize="0"/>
          <p:nvPr/>
        </p:nvPicPr>
        <p:blipFill rotWithShape="1">
          <a:blip r:embed="rId3">
            <a:alphaModFix/>
          </a:blip>
          <a:srcRect b="0" l="0" r="62181" t="0"/>
          <a:stretch/>
        </p:blipFill>
        <p:spPr>
          <a:xfrm>
            <a:off x="7103097" y="1345050"/>
            <a:ext cx="1906350" cy="176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of states for “killer clown”</a:t>
            </a:r>
            <a:endParaRPr/>
          </a:p>
        </p:txBody>
      </p:sp>
      <p:pic>
        <p:nvPicPr>
          <p:cNvPr id="234" name="Google Shape;23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59220" y="97099"/>
            <a:ext cx="2604149" cy="17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550" y="1829524"/>
            <a:ext cx="6732474" cy="247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likely path sequence</a:t>
            </a:r>
            <a:endParaRPr/>
          </a:p>
        </p:txBody>
      </p:sp>
      <p:sp>
        <p:nvSpPr>
          <p:cNvPr id="241" name="Google Shape;241;p42"/>
          <p:cNvSpPr txBox="1"/>
          <p:nvPr>
            <p:ph idx="1" type="body"/>
          </p:nvPr>
        </p:nvSpPr>
        <p:spPr>
          <a:xfrm>
            <a:off x="311700" y="1152475"/>
            <a:ext cx="8520600" cy="36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For an input of length 2 and a HMM with 2 states there are 2</a:t>
            </a:r>
            <a:r>
              <a:rPr baseline="30000" lang="en"/>
              <a:t>2</a:t>
            </a:r>
            <a:r>
              <a:rPr lang="en"/>
              <a:t> possible state sequences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If we have q states and input of length T, there are q</a:t>
            </a:r>
            <a:r>
              <a:rPr baseline="30000" lang="en"/>
              <a:t>T</a:t>
            </a:r>
            <a:r>
              <a:rPr lang="en"/>
              <a:t> possible sequences. For </a:t>
            </a:r>
            <a:r>
              <a:rPr i="1" lang="en">
                <a:solidFill>
                  <a:srgbClr val="0000FF"/>
                </a:solidFill>
              </a:rPr>
              <a:t>killer crazy clown</a:t>
            </a:r>
            <a:r>
              <a:rPr lang="en"/>
              <a:t> problem with only 2 states (A,N) we have 2</a:t>
            </a:r>
            <a:r>
              <a:rPr baseline="30000" lang="en"/>
              <a:t>4</a:t>
            </a:r>
            <a:r>
              <a:rPr lang="en"/>
              <a:t> sequences to score (and so on..)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</a:t>
            </a:r>
            <a:r>
              <a:rPr lang="en"/>
              <a:t>rute force approach will be to check all the q</a:t>
            </a:r>
            <a:r>
              <a:rPr baseline="30000" lang="en"/>
              <a:t>T</a:t>
            </a:r>
            <a:r>
              <a:rPr lang="en"/>
              <a:t> possible sequences. So this</a:t>
            </a:r>
            <a:r>
              <a:rPr lang="en"/>
              <a:t> approach will take exponential time to find the best state sequence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Instead the </a:t>
            </a:r>
            <a:r>
              <a:rPr b="1" lang="en"/>
              <a:t>Viterbi algorithm</a:t>
            </a:r>
            <a:r>
              <a:rPr lang="en"/>
              <a:t> that uses dynamic programming is used to solve for the best state sequence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types of taggers</a:t>
            </a:r>
            <a:endParaRPr/>
          </a:p>
        </p:txBody>
      </p:sp>
      <p:sp>
        <p:nvSpPr>
          <p:cNvPr id="247" name="Google Shape;247;p43"/>
          <p:cNvSpPr txBox="1"/>
          <p:nvPr>
            <p:ph idx="1" type="body"/>
          </p:nvPr>
        </p:nvSpPr>
        <p:spPr>
          <a:xfrm>
            <a:off x="311700" y="1152475"/>
            <a:ext cx="8665500" cy="36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Perceptron tagger</a:t>
            </a:r>
            <a:r>
              <a:rPr lang="en"/>
              <a:t> based on a different principle (error-driven learning) is also very effective for POS tagging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Rather than look at a word and its most recent history, the perceptron tagger will try to generate the most likely tag sequence for the entire sequence (sentence)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This has some </a:t>
            </a:r>
            <a:r>
              <a:rPr b="1" lang="en"/>
              <a:t>advantage over the process</a:t>
            </a:r>
            <a:r>
              <a:rPr lang="en"/>
              <a:t> of tagging one word at a time, and also gives access to phenomena that might be distantly related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Newer sequence tagging </a:t>
            </a:r>
            <a:r>
              <a:rPr b="1" lang="en"/>
              <a:t>neural models (RNNs)</a:t>
            </a:r>
            <a:r>
              <a:rPr lang="en"/>
              <a:t> have been shown to be very effective at sequence tagging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Chunking: Sequence labelling</a:t>
            </a:r>
            <a:endParaRPr/>
          </a:p>
        </p:txBody>
      </p:sp>
      <p:sp>
        <p:nvSpPr>
          <p:cNvPr id="253" name="Google Shape;253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Find and classify spans of text using IOB encoding (Inside Outside Begin)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Spans can correspond to regions of interest, such as constituents (chunks) or other types of spans e.g. named entities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We PRP B-NP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saw VBD B-VP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DT B-NP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yellow JJ I-NP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dog NN I-NP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. PUNC O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aseline="-25000" lang="en"/>
              <a:t>NP</a:t>
            </a:r>
            <a:r>
              <a:rPr lang="en"/>
              <a:t>[We </a:t>
            </a:r>
            <a:r>
              <a:rPr baseline="-25000" lang="en"/>
              <a:t>VP</a:t>
            </a:r>
            <a:r>
              <a:rPr lang="en"/>
              <a:t>[saw </a:t>
            </a:r>
            <a:r>
              <a:rPr baseline="-25000" lang="en"/>
              <a:t>NP</a:t>
            </a:r>
            <a:r>
              <a:rPr lang="en"/>
              <a:t>[the yellow dog]]].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Named Entity Tagging using IOB encoding</a:t>
            </a:r>
            <a:endParaRPr/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United B-ORG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cancelled 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flight 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from 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San B-LOC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Francisco I-LOC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[United] cancelled the flight from [San Francisco].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Chunking</a:t>
            </a:r>
            <a:endParaRPr/>
          </a:p>
        </p:txBody>
      </p:sp>
      <p:sp>
        <p:nvSpPr>
          <p:cNvPr id="265" name="Google Shape;265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Chunking usually selects a subset of the tokens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Chunking algorithms vary from regex chunkers, n-gram chunkers (use tag patterns), classifiers (using both tag and word information)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NE recognition where Organization, Person, Date, Location etc are tagged also make use of classifiers or neural sequence taggers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 Tagging (In-Class Activity-3)</a:t>
            </a:r>
            <a:endParaRPr/>
          </a:p>
        </p:txBody>
      </p:sp>
      <p:sp>
        <p:nvSpPr>
          <p:cNvPr id="271" name="Google Shape;271;p47"/>
          <p:cNvSpPr txBox="1"/>
          <p:nvPr>
            <p:ph idx="1" type="body"/>
          </p:nvPr>
        </p:nvSpPr>
        <p:spPr>
          <a:xfrm>
            <a:off x="311700" y="1939950"/>
            <a:ext cx="8832300" cy="170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submit in </a:t>
            </a:r>
            <a:r>
              <a:rPr lang="en"/>
              <a:t>Google</a:t>
            </a:r>
            <a:r>
              <a:rPr lang="en"/>
              <a:t> Classroom!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Deadline: TBD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Link: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https://drive.google.com/drive/folders/1B1iGYnJ_LGkUGk15DcpTKzldo03muqId?usp=sharing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Linguistic Structure</a:t>
            </a:r>
            <a:endParaRPr/>
          </a:p>
        </p:txBody>
      </p:sp>
      <p:sp>
        <p:nvSpPr>
          <p:cNvPr id="277" name="Google Shape;27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Constituent or Phrase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basic idea here is that </a:t>
            </a:r>
            <a:r>
              <a:rPr lang="en"/>
              <a:t>groups</a:t>
            </a:r>
            <a:r>
              <a:rPr lang="en"/>
              <a:t> of words within utterances can be shown to act as single units – Constituent or Phrase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For example, it makes sense to the say that the following are all </a:t>
            </a:r>
            <a:r>
              <a:rPr b="1" lang="en">
                <a:solidFill>
                  <a:srgbClr val="9900FF"/>
                </a:solidFill>
              </a:rPr>
              <a:t>noun phrases</a:t>
            </a:r>
            <a:r>
              <a:rPr lang="en"/>
              <a:t> in English </a:t>
            </a:r>
            <a:endParaRPr/>
          </a:p>
        </p:txBody>
      </p:sp>
      <p:pic>
        <p:nvPicPr>
          <p:cNvPr id="278" name="Google Shape;2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718489"/>
            <a:ext cx="9144000" cy="12882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Constituency Structure</a:t>
            </a:r>
            <a:endParaRPr/>
          </a:p>
        </p:txBody>
      </p:sp>
      <p:sp>
        <p:nvSpPr>
          <p:cNvPr id="284" name="Google Shape;284;p49"/>
          <p:cNvSpPr txBox="1"/>
          <p:nvPr>
            <p:ph idx="1" type="body"/>
          </p:nvPr>
        </p:nvSpPr>
        <p:spPr>
          <a:xfrm>
            <a:off x="311700" y="1152475"/>
            <a:ext cx="5536200" cy="38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Phrase structure organizes words into nested constituents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How do we know what is a constituent?</a:t>
            </a:r>
            <a:br>
              <a:rPr lang="en"/>
            </a:br>
            <a:endParaRPr/>
          </a:p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 constituent behaves as a unit that can appear in different places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John talked [to the children] [about drugs]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John talked [about drugs] [to the children].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*John talked drugs to the children about.</a:t>
            </a:r>
            <a:br>
              <a:rPr lang="en"/>
            </a:br>
            <a:endParaRPr/>
          </a:p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Phrase structure tree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VP  → … VB* …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NP  → … NN* …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ADJP →  … JJ* …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ADVP  → … RB* … </a:t>
            </a:r>
            <a:endParaRPr/>
          </a:p>
          <a:p>
            <a:pPr indent="-297498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PP  → … IN* … </a:t>
            </a:r>
            <a:br>
              <a:rPr lang="en"/>
            </a:br>
            <a:endParaRPr/>
          </a:p>
          <a:p>
            <a:pPr indent="-317183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Bracket notation of a tree (Lisp S‐structure): </a:t>
            </a:r>
            <a:br>
              <a:rPr lang="en"/>
            </a:br>
            <a:r>
              <a:rPr lang="en"/>
              <a:t>(S (NP (N Fed)) (VP (V raises) (NP (N interest) (N rates))) </a:t>
            </a:r>
            <a:endParaRPr/>
          </a:p>
        </p:txBody>
      </p:sp>
      <p:pic>
        <p:nvPicPr>
          <p:cNvPr id="285" name="Google Shape;28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7896" y="1664075"/>
            <a:ext cx="2899075" cy="2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Structure</a:t>
            </a:r>
            <a:endParaRPr/>
          </a:p>
        </p:txBody>
      </p:sp>
      <p:sp>
        <p:nvSpPr>
          <p:cNvPr id="291" name="Google Shape;291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CFG‐style phrase‐structure grammars the main focus is on </a:t>
            </a:r>
            <a:r>
              <a:rPr i="1" lang="en"/>
              <a:t>constituents</a:t>
            </a:r>
            <a:r>
              <a:rPr lang="en"/>
              <a:t>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But it turns out you can get a lot done with binary relations among the lexical items (words) in an utterance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In a dependency grammar framework, a parse is a tree where: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The nodes stand for the words in an utterance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Links between the words represent dependency relations between pairs of words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Relations may be typed (labeled), or not </a:t>
            </a:r>
            <a:endParaRPr/>
          </a:p>
        </p:txBody>
      </p:sp>
      <p:pic>
        <p:nvPicPr>
          <p:cNvPr id="292" name="Google Shape;29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61270" y="3650400"/>
            <a:ext cx="1772425" cy="14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4750" y="3943600"/>
            <a:ext cx="4142875" cy="11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notation</a:t>
            </a:r>
            <a:endParaRPr/>
          </a:p>
        </p:txBody>
      </p:sp>
      <p:pic>
        <p:nvPicPr>
          <p:cNvPr id="299" name="Google Shape;2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5375" y="1170125"/>
            <a:ext cx="49982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Labels</a:t>
            </a:r>
            <a:endParaRPr/>
          </a:p>
        </p:txBody>
      </p:sp>
      <p:sp>
        <p:nvSpPr>
          <p:cNvPr id="305" name="Google Shape;305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Argument dependencies: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Subject (subj), object (obj), indirect object (iobj)…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Modifier dependencies: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Determiner (det), noun modifier (nmod), verbal modifier (vmod), etc. </a:t>
            </a:r>
            <a:endParaRPr/>
          </a:p>
        </p:txBody>
      </p:sp>
      <p:pic>
        <p:nvPicPr>
          <p:cNvPr id="306" name="Google Shape;306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200" y="2903675"/>
            <a:ext cx="4403226" cy="181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12" name="Google Shape;312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Dependency structures explicitly represent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head‐dependent relations (directed arcs)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 categories (arc labels)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Universal Dependency Treebank:</a:t>
            </a: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https://universaldependencies.org/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Phrase structures explicitly represent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Phrases (nonterminal nodes)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Structural categories (nonterminal labels)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 categories (grammatical functions)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Leaf nodes (word)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Constituency Treebanks:</a:t>
            </a:r>
            <a:r>
              <a:rPr lang="en"/>
              <a:t> Penn Treebank Corpus (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https://www.nltk.org/howto/corpus.html</a:t>
            </a:r>
            <a:r>
              <a:rPr lang="en"/>
              <a:t>)</a:t>
            </a:r>
            <a:endParaRPr/>
          </a:p>
        </p:txBody>
      </p:sp>
      <p:sp>
        <p:nvSpPr>
          <p:cNvPr id="313" name="Google Shape;313;p53"/>
          <p:cNvSpPr txBox="1"/>
          <p:nvPr/>
        </p:nvSpPr>
        <p:spPr>
          <a:xfrm>
            <a:off x="1028706" y="4260016"/>
            <a:ext cx="41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morning I shot an elephant in my pajamas.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19" name="Google Shape;319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Dependency</a:t>
            </a:r>
            <a:r>
              <a:rPr lang="en"/>
              <a:t> structures </a:t>
            </a:r>
            <a:r>
              <a:rPr lang="en"/>
              <a:t>explicitly</a:t>
            </a:r>
            <a:r>
              <a:rPr lang="en"/>
              <a:t> represent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head‐dependent relations (directed arcs)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 categories (arc labels)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Universal Dependency Treebank: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https://universaldependencies.org/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Phrase structures explicitly represent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Phrases (nonterminal nodes)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Structural categories (nonterminal labels)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Functional categories (grammatical functions)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Leaf nodes (word)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/>
              <a:t>Constituency Treebanks:</a:t>
            </a:r>
            <a:r>
              <a:rPr lang="en"/>
              <a:t> Penn Treebank Corpus (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https://www.nltk.org/howto/corpus.html</a:t>
            </a:r>
            <a:r>
              <a:rPr lang="en"/>
              <a:t>)</a:t>
            </a:r>
            <a:endParaRPr/>
          </a:p>
        </p:txBody>
      </p:sp>
      <p:sp>
        <p:nvSpPr>
          <p:cNvPr id="320" name="Google Shape;320;p54"/>
          <p:cNvSpPr txBox="1"/>
          <p:nvPr/>
        </p:nvSpPr>
        <p:spPr>
          <a:xfrm>
            <a:off x="4807050" y="4260050"/>
            <a:ext cx="36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9900FF"/>
                </a:solidFill>
              </a:rPr>
              <a:t>How he got into my pajamas, I’ll never know </a:t>
            </a:r>
            <a:endParaRPr>
              <a:solidFill>
                <a:srgbClr val="9900FF"/>
              </a:solidFill>
            </a:endParaRPr>
          </a:p>
        </p:txBody>
      </p:sp>
      <p:sp>
        <p:nvSpPr>
          <p:cNvPr id="321" name="Google Shape;321;p54"/>
          <p:cNvSpPr txBox="1"/>
          <p:nvPr/>
        </p:nvSpPr>
        <p:spPr>
          <a:xfrm>
            <a:off x="1028706" y="4260016"/>
            <a:ext cx="417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morning I shot an elephant in my pajamas.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>
            <a:off x="311700" y="29593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Attachment Ambiguity</a:t>
            </a:r>
            <a:endParaRPr/>
          </a:p>
        </p:txBody>
      </p:sp>
      <p:pic>
        <p:nvPicPr>
          <p:cNvPr id="327" name="Google Shape;327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929" y="983791"/>
            <a:ext cx="3289464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8" name="Google Shape;328;p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5975" y="1814250"/>
            <a:ext cx="4644425" cy="16920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9" name="Google Shape;329;p5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9925" y="20050"/>
            <a:ext cx="3233300" cy="1765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49925" y="3549810"/>
            <a:ext cx="2979827" cy="1626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5"/>
          <p:cNvSpPr txBox="1"/>
          <p:nvPr/>
        </p:nvSpPr>
        <p:spPr>
          <a:xfrm>
            <a:off x="7929750" y="4451925"/>
            <a:ext cx="1156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</a:rPr>
              <a:t>Credits: Gemini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337" name="Google Shape;337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https://www.nltk.org/book/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https://spacy.io/usage/linguistic-features#named-entities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https://stanfordnlp.github.io/stanza/neural_pipeline.html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