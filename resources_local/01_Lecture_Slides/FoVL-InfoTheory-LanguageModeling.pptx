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Lst>
  <p:sldSz cy="5143500" cx="9144000"/>
  <p:notesSz cx="6858000" cy="9144000"/>
  <p:embeddedFontLst>
    <p:embeddedFont>
      <p:font typeface="Content"/>
      <p:regular r:id="rId97"/>
      <p:bold r:id="rId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font" Target="fonts/Content-regular.fntdata"/><Relationship Id="rId96" Type="http://schemas.openxmlformats.org/officeDocument/2006/relationships/slide" Target="slides/slide91.xml"/><Relationship Id="rId11" Type="http://schemas.openxmlformats.org/officeDocument/2006/relationships/slide" Target="slides/slide6.xml"/><Relationship Id="rId10" Type="http://schemas.openxmlformats.org/officeDocument/2006/relationships/slide" Target="slides/slide5.xml"/><Relationship Id="rId98" Type="http://schemas.openxmlformats.org/officeDocument/2006/relationships/font" Target="fonts/Content-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40a2634fc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40a2634fc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40a2634fc7b_0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40a2634fc7b_0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40a2634fc7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40a2634fc7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40a2634fc7b_0_1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40a2634fc7b_0_1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40a2634fc7b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40a2634fc7b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40a2634fc7b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40a2634fc7b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40a2634fc7b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40a2634fc7b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40a2634fc7b_0_1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40a2634fc7b_0_1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40a2634fc7b_0_1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40a2634fc7b_0_1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40a2634fc7b_0_1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40a2634fc7b_0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40a2634fc7b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40a2634fc7b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40a2634fc7b_0_1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40a2634fc7b_0_1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40a2634fc7b_0_10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40a2634fc7b_0_1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40a2634fc7b_0_1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40a2634fc7b_0_1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40a2634fc7b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40a2634fc7b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40a2634fc7b_0_733: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40a2634fc7b_0_733: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40a2634fc7b_0_121: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40a2634fc7b_0_12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40a2634fc7b_0_134: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40a2634fc7b_0_134: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40a2634fc7b_0_147: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40a2634fc7b_0_147: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40a2634fc7b_0_155: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40a2634fc7b_0_155: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40a2634fc7b_0_163: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40a2634fc7b_0_163: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40a2634fc7b_0_172: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40a2634fc7b_0_172: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40a2634fc7b_0_180: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40a2634fc7b_0_180: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40a2634fc7b_0_191: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40a2634fc7b_0_19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40a2634fc7b_0_199: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40a2634fc7b_0_199: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40a2634fc7b_0_209: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40a2634fc7b_0_209: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40a2634fc7b_0_217: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40a2634fc7b_0_217: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40a2634fc7b_0_225: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40a2634fc7b_0_225: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40a2634fc7b_0_235: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40a2634fc7b_0_235: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40a2634fc7b_0_243: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40a2634fc7b_0_243: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40a2634fc7b_0_251: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40a2634fc7b_0_25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40a2634fc7b_0_259: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40a2634fc7b_0_259: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40a2634fc7b_0_267: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40a2634fc7b_0_267: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40a2634fc7b_0_279: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40a2634fc7b_0_279: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40a2634fc7b_0_289: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40a2634fc7b_0_289: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34470cdd43641da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h34470cdd43641da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40a2634fc7b_0_298: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40a2634fc7b_0_298: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40a2634fc7b_0_310: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40a2634fc7b_0_310: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40a2634fc7b_0_321: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40a2634fc7b_0_32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40a2634fc7b_0_332: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g40a2634fc7b_0_332: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40a2634fc7b_0_342: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g40a2634fc7b_0_342: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13b9762d8ade944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h13b9762d8ade944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h13b9762d8ade944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h13b9762d8ade944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40a2634fc7b_0_352: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g40a2634fc7b_0_352: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40a2634fc7b_0_361: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40a2634fc7b_0_36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40a2634fc7b_0_376: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40a2634fc7b_0_376: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40a2634fc7b_0_385: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g40a2634fc7b_0_385: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h13b9762d8ade944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h13b9762d8ade944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h13b9762d8ade944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h13b9762d8ade944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40a2634fc7b_0_395: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g40a2634fc7b_0_395: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40a2634fc7b_0_419: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40a2634fc7b_0_419: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40a2634fc7b_0_411: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g40a2634fc7b_0_41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40a2634fc7b_0_427: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g40a2634fc7b_0_427: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40a2634fc7b_0_444: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40a2634fc7b_0_444: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40a2634fc7b_0_454: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40a2634fc7b_0_454: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40a2634fc7b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40a2634fc7b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40a2634fc7b_0_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40a2634fc7b_0_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40a2634fc7b_0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40a2634fc7b_0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40a2634fc7b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40a2634fc7b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40a2634fc7b_0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40a2634fc7b_0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40a2634fc7b_0_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40a2634fc7b_0_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h13b9762d8ade944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h13b9762d8ade944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h10aa539f17cc2d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h10aa539f17cc2d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75a8bdda1e81bdc_0_6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h75a8bdda1e81bdc_0_6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h75a8bdda1e81bdc_0_6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h75a8bdda1e81bdc_0_6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h75a8bdda1e81bdc_0_67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h75a8bdda1e81bdc_0_6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h75a8bdda1e81bdc_0_68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h75a8bdda1e81bdc_0_6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h75a8bdda1e81bdc_0_6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h75a8bdda1e81bdc_0_6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h75a8bdda1e81bdc_0_70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h75a8bdda1e81bdc_0_7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h75a8bdda1e81bdc_0_7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h75a8bdda1e81bdc_0_7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75a8bdda1e81bdc_0_7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h75a8bdda1e81bdc_0_7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h75a8bdda1e81bdc_0_7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h75a8bdda1e81bdc_0_7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h75a8bdda1e81bdc_0_7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h75a8bdda1e81bdc_0_7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h75a8bdda1e81bdc_0_74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h75a8bdda1e81bdc_0_7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h75a8bdda1e81bdc_0_75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h75a8bdda1e81bdc_0_7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h75a8bdda1e81bdc_0_7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h75a8bdda1e81bdc_0_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h75a8bdda1e81bdc_0_77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h75a8bdda1e81bdc_0_7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h75a8bdda1e81bdc_0_8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h75a8bdda1e81bdc_0_8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h75a8bdda1e81bdc_0_80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h75a8bdda1e81bdc_0_8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h75a8bdda1e81bdc_0_8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h75a8bdda1e81bdc_0_8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h75a8bdda1e81bdc_0_8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h75a8bdda1e81bdc_0_8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h75a8bdda1e81bdc_0_83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h75a8bdda1e81bdc_0_8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h75a8bdda1e81bdc_0_84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h75a8bdda1e81bdc_0_8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h75a8bdda1e81bdc_0_8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h75a8bdda1e81bdc_0_8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h75a8bdda1e81bdc_0_86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h75a8bdda1e81bdc_0_8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h75a8bdda1e81bdc_0_87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h75a8bdda1e81bdc_0_8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40a2634fc7b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40a2634fc7b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40a2634fc7b_0_464: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g40a2634fc7b_0_464: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40a2634fc7b_0_472: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g40a2634fc7b_0_472: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40a2634fc7b_0_498: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g40a2634fc7b_0_498: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40a2634fc7b_0_508:notes"/>
          <p:cNvSpPr txBox="1"/>
          <p:nvPr>
            <p:ph idx="1" type="body"/>
          </p:nvPr>
        </p:nvSpPr>
        <p:spPr>
          <a:xfrm>
            <a:off x="685784" y="4343396"/>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g40a2634fc7b_0_508: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AND_BODY_1">
    <p:spTree>
      <p:nvGrpSpPr>
        <p:cNvPr id="50" name="Shape 50"/>
        <p:cNvGrpSpPr/>
        <p:nvPr/>
      </p:nvGrpSpPr>
      <p:grpSpPr>
        <a:xfrm>
          <a:off x="0" y="0"/>
          <a:ext cx="0" cy="0"/>
          <a:chOff x="0" y="0"/>
          <a:chExt cx="0" cy="0"/>
        </a:xfrm>
      </p:grpSpPr>
      <p:sp>
        <p:nvSpPr>
          <p:cNvPr id="51" name="Google Shape;51;p13"/>
          <p:cNvSpPr txBox="1"/>
          <p:nvPr>
            <p:ph type="title"/>
          </p:nvPr>
        </p:nvSpPr>
        <p:spPr>
          <a:xfrm>
            <a:off x="628560" y="273780"/>
            <a:ext cx="7886400" cy="9939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13"/>
          <p:cNvSpPr txBox="1"/>
          <p:nvPr>
            <p:ph idx="1" type="subTitle"/>
          </p:nvPr>
        </p:nvSpPr>
        <p:spPr>
          <a:xfrm>
            <a:off x="628560" y="1369170"/>
            <a:ext cx="7886400" cy="32631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800"/>
              <a:buNone/>
              <a:defRPr/>
            </a:lvl1pPr>
            <a:lvl2pPr lvl="1" algn="l">
              <a:spcBef>
                <a:spcPts val="1200"/>
              </a:spcBef>
              <a:spcAft>
                <a:spcPts val="0"/>
              </a:spcAft>
              <a:buSzPts val="1400"/>
              <a:buNone/>
              <a:defRPr/>
            </a:lvl2pPr>
            <a:lvl3pPr lvl="2" algn="l">
              <a:spcBef>
                <a:spcPts val="1200"/>
              </a:spcBef>
              <a:spcAft>
                <a:spcPts val="0"/>
              </a:spcAft>
              <a:buSzPts val="1400"/>
              <a:buNone/>
              <a:defRPr/>
            </a:lvl3pPr>
            <a:lvl4pPr lvl="3" algn="l">
              <a:spcBef>
                <a:spcPts val="1200"/>
              </a:spcBef>
              <a:spcAft>
                <a:spcPts val="0"/>
              </a:spcAft>
              <a:buSzPts val="1400"/>
              <a:buNone/>
              <a:defRPr/>
            </a:lvl4pPr>
            <a:lvl5pPr lvl="4" algn="l">
              <a:spcBef>
                <a:spcPts val="1200"/>
              </a:spcBef>
              <a:spcAft>
                <a:spcPts val="0"/>
              </a:spcAft>
              <a:buSzPts val="1400"/>
              <a:buNone/>
              <a:defRPr/>
            </a:lvl5pPr>
            <a:lvl6pPr lvl="5" algn="l">
              <a:spcBef>
                <a:spcPts val="1200"/>
              </a:spcBef>
              <a:spcAft>
                <a:spcPts val="0"/>
              </a:spcAft>
              <a:buSzPts val="1400"/>
              <a:buNone/>
              <a:defRPr/>
            </a:lvl6pPr>
            <a:lvl7pPr lvl="6" algn="l">
              <a:spcBef>
                <a:spcPts val="1200"/>
              </a:spcBef>
              <a:spcAft>
                <a:spcPts val="0"/>
              </a:spcAft>
              <a:buSzPts val="1400"/>
              <a:buNone/>
              <a:defRPr/>
            </a:lvl7pPr>
            <a:lvl8pPr lvl="7" algn="l">
              <a:spcBef>
                <a:spcPts val="1200"/>
              </a:spcBef>
              <a:spcAft>
                <a:spcPts val="0"/>
              </a:spcAft>
              <a:buSzPts val="1400"/>
              <a:buNone/>
              <a:defRPr/>
            </a:lvl8pPr>
            <a:lvl9pPr lvl="8" algn="l">
              <a:spcBef>
                <a:spcPts val="1200"/>
              </a:spcBef>
              <a:spcAft>
                <a:spcPts val="1200"/>
              </a:spcAft>
              <a:buSzPts val="1400"/>
              <a:buNone/>
              <a:defRPr/>
            </a:lvl9pPr>
          </a:lstStyle>
          <a:p/>
        </p:txBody>
      </p:sp>
      <p:sp>
        <p:nvSpPr>
          <p:cNvPr id="53" name="Google Shape;53;p13"/>
          <p:cNvSpPr txBox="1"/>
          <p:nvPr>
            <p:ph idx="11" type="ftr"/>
          </p:nvPr>
        </p:nvSpPr>
        <p:spPr>
          <a:xfrm>
            <a:off x="3028860" y="4767390"/>
            <a:ext cx="3085800" cy="2736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Clr>
                <a:srgbClr val="8B8B8B"/>
              </a:buClr>
              <a:buSzPts val="1400"/>
              <a:buChar char="●"/>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2" type="sldNum"/>
          </p:nvPr>
        </p:nvSpPr>
        <p:spPr>
          <a:xfrm>
            <a:off x="6457860" y="4767390"/>
            <a:ext cx="2057100" cy="273600"/>
          </a:xfrm>
          <a:prstGeom prst="rect">
            <a:avLst/>
          </a:prstGeom>
          <a:noFill/>
          <a:ln>
            <a:noFill/>
          </a:ln>
        </p:spPr>
        <p:txBody>
          <a:bodyPr anchorCtr="0" anchor="ctr" bIns="34275" lIns="68575" spcFirstLastPara="1" rIns="68575" wrap="square" tIns="34275">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
        <p:nvSpPr>
          <p:cNvPr id="55" name="Google Shape;55;p13"/>
          <p:cNvSpPr txBox="1"/>
          <p:nvPr>
            <p:ph idx="10" type="dt"/>
          </p:nvPr>
        </p:nvSpPr>
        <p:spPr>
          <a:xfrm>
            <a:off x="628560" y="4767390"/>
            <a:ext cx="2057100" cy="2736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Clr>
                <a:srgbClr val="8B8B8B"/>
              </a:buClr>
              <a:buSzPts val="1400"/>
              <a:buChar char="●"/>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9" name="Google Shape;59;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0" name="Google Shape;60;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1" name="Google Shape;61;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62" name="Shape 62"/>
        <p:cNvGrpSpPr/>
        <p:nvPr/>
      </p:nvGrpSpPr>
      <p:grpSpPr>
        <a:xfrm>
          <a:off x="0" y="0"/>
          <a:ext cx="0" cy="0"/>
          <a:chOff x="0" y="0"/>
          <a:chExt cx="0" cy="0"/>
        </a:xfrm>
      </p:grpSpPr>
      <p:sp>
        <p:nvSpPr>
          <p:cNvPr id="63" name="Google Shape;63;p15"/>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4" name="Google Shape;64;p15"/>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1200"/>
              </a:spcBef>
              <a:spcAft>
                <a:spcPts val="0"/>
              </a:spcAft>
              <a:buClr>
                <a:srgbClr val="888888"/>
              </a:buClr>
              <a:buSzPts val="1500"/>
              <a:buNone/>
              <a:defRPr sz="1500">
                <a:solidFill>
                  <a:srgbClr val="888888"/>
                </a:solidFill>
              </a:defRPr>
            </a:lvl2pPr>
            <a:lvl3pPr indent="-228600" lvl="2" marL="1371600" algn="l">
              <a:lnSpc>
                <a:spcPct val="90000"/>
              </a:lnSpc>
              <a:spcBef>
                <a:spcPts val="1200"/>
              </a:spcBef>
              <a:spcAft>
                <a:spcPts val="0"/>
              </a:spcAft>
              <a:buClr>
                <a:srgbClr val="888888"/>
              </a:buClr>
              <a:buSzPts val="1400"/>
              <a:buNone/>
              <a:defRPr sz="1400">
                <a:solidFill>
                  <a:srgbClr val="888888"/>
                </a:solidFill>
              </a:defRPr>
            </a:lvl3pPr>
            <a:lvl4pPr indent="-228600" lvl="3" marL="1828800" algn="l">
              <a:lnSpc>
                <a:spcPct val="90000"/>
              </a:lnSpc>
              <a:spcBef>
                <a:spcPts val="1200"/>
              </a:spcBef>
              <a:spcAft>
                <a:spcPts val="0"/>
              </a:spcAft>
              <a:buClr>
                <a:srgbClr val="888888"/>
              </a:buClr>
              <a:buSzPts val="1200"/>
              <a:buNone/>
              <a:defRPr sz="1200">
                <a:solidFill>
                  <a:srgbClr val="888888"/>
                </a:solidFill>
              </a:defRPr>
            </a:lvl4pPr>
            <a:lvl5pPr indent="-228600" lvl="4" marL="2286000" algn="l">
              <a:lnSpc>
                <a:spcPct val="90000"/>
              </a:lnSpc>
              <a:spcBef>
                <a:spcPts val="1200"/>
              </a:spcBef>
              <a:spcAft>
                <a:spcPts val="0"/>
              </a:spcAft>
              <a:buClr>
                <a:srgbClr val="888888"/>
              </a:buClr>
              <a:buSzPts val="1200"/>
              <a:buNone/>
              <a:defRPr sz="1200">
                <a:solidFill>
                  <a:srgbClr val="888888"/>
                </a:solidFill>
              </a:defRPr>
            </a:lvl5pPr>
            <a:lvl6pPr indent="-228600" lvl="5" marL="2743200" algn="l">
              <a:lnSpc>
                <a:spcPct val="90000"/>
              </a:lnSpc>
              <a:spcBef>
                <a:spcPts val="1200"/>
              </a:spcBef>
              <a:spcAft>
                <a:spcPts val="0"/>
              </a:spcAft>
              <a:buClr>
                <a:srgbClr val="888888"/>
              </a:buClr>
              <a:buSzPts val="1200"/>
              <a:buNone/>
              <a:defRPr sz="1200">
                <a:solidFill>
                  <a:srgbClr val="888888"/>
                </a:solidFill>
              </a:defRPr>
            </a:lvl6pPr>
            <a:lvl7pPr indent="-228600" lvl="6" marL="3200400" algn="l">
              <a:lnSpc>
                <a:spcPct val="90000"/>
              </a:lnSpc>
              <a:spcBef>
                <a:spcPts val="1200"/>
              </a:spcBef>
              <a:spcAft>
                <a:spcPts val="0"/>
              </a:spcAft>
              <a:buClr>
                <a:srgbClr val="888888"/>
              </a:buClr>
              <a:buSzPts val="1200"/>
              <a:buNone/>
              <a:defRPr sz="1200">
                <a:solidFill>
                  <a:srgbClr val="888888"/>
                </a:solidFill>
              </a:defRPr>
            </a:lvl7pPr>
            <a:lvl8pPr indent="-228600" lvl="7" marL="3657600" algn="l">
              <a:lnSpc>
                <a:spcPct val="90000"/>
              </a:lnSpc>
              <a:spcBef>
                <a:spcPts val="1200"/>
              </a:spcBef>
              <a:spcAft>
                <a:spcPts val="0"/>
              </a:spcAft>
              <a:buClr>
                <a:srgbClr val="888888"/>
              </a:buClr>
              <a:buSzPts val="1200"/>
              <a:buNone/>
              <a:defRPr sz="1200">
                <a:solidFill>
                  <a:srgbClr val="888888"/>
                </a:solidFill>
              </a:defRPr>
            </a:lvl8pPr>
            <a:lvl9pPr indent="-228600" lvl="8" marL="4114800" algn="l">
              <a:lnSpc>
                <a:spcPct val="90000"/>
              </a:lnSpc>
              <a:spcBef>
                <a:spcPts val="1200"/>
              </a:spcBef>
              <a:spcAft>
                <a:spcPts val="1200"/>
              </a:spcAft>
              <a:buClr>
                <a:srgbClr val="888888"/>
              </a:buClr>
              <a:buSzPts val="1200"/>
              <a:buNone/>
              <a:defRPr sz="1200">
                <a:solidFill>
                  <a:srgbClr val="888888"/>
                </a:solidFill>
              </a:defRPr>
            </a:lvl9pPr>
          </a:lstStyle>
          <a:p/>
        </p:txBody>
      </p:sp>
      <p:sp>
        <p:nvSpPr>
          <p:cNvPr id="65" name="Google Shape;65;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6" name="Google Shape;66;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7" name="Google Shape;67;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fCn8zs912OE" TargetMode="External"/><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7.jpg"/><Relationship Id="rId6"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7.jpg"/><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13.jpg"/><Relationship Id="rId5"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hyperlink" Target="https://mathcenter.oxford.emory.edu/site/math125/englishLetterFreqs/" TargetMode="Externa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24.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25.png"/><Relationship Id="rId7"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29.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31.png"/><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9.png"/><Relationship Id="rId4" Type="http://schemas.openxmlformats.org/officeDocument/2006/relationships/image" Target="../media/image38.png"/><Relationship Id="rId5" Type="http://schemas.openxmlformats.org/officeDocument/2006/relationships/image" Target="../media/image46.png"/><Relationship Id="rId6" Type="http://schemas.openxmlformats.org/officeDocument/2006/relationships/image" Target="../media/image41.png"/><Relationship Id="rId7" Type="http://schemas.openxmlformats.org/officeDocument/2006/relationships/image" Target="../media/image5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42.png"/><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53.png"/><Relationship Id="rId6"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49.png"/><Relationship Id="rId4" Type="http://schemas.openxmlformats.org/officeDocument/2006/relationships/image" Target="../media/image47.png"/><Relationship Id="rId5" Type="http://schemas.openxmlformats.org/officeDocument/2006/relationships/image" Target="../media/image5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image" Target="../media/image48.png"/><Relationship Id="rId4" Type="http://schemas.openxmlformats.org/officeDocument/2006/relationships/image" Target="../media/image54.png"/><Relationship Id="rId5" Type="http://schemas.openxmlformats.org/officeDocument/2006/relationships/image" Target="../media/image5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 Id="rId3" Type="http://schemas.openxmlformats.org/officeDocument/2006/relationships/image" Target="../media/image55.png"/><Relationship Id="rId4" Type="http://schemas.openxmlformats.org/officeDocument/2006/relationships/image" Target="../media/image58.png"/><Relationship Id="rId5" Type="http://schemas.openxmlformats.org/officeDocument/2006/relationships/image" Target="../media/image60.png"/><Relationship Id="rId6" Type="http://schemas.openxmlformats.org/officeDocument/2006/relationships/image" Target="../media/image59.png"/><Relationship Id="rId7" Type="http://schemas.openxmlformats.org/officeDocument/2006/relationships/image" Target="../media/image7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 Id="rId3" Type="http://schemas.openxmlformats.org/officeDocument/2006/relationships/image" Target="../media/image71.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 Id="rId3" Type="http://schemas.openxmlformats.org/officeDocument/2006/relationships/image" Target="../media/image62.jpg"/><Relationship Id="rId4" Type="http://schemas.openxmlformats.org/officeDocument/2006/relationships/image" Target="../media/image7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63.png"/><Relationship Id="rId4" Type="http://schemas.openxmlformats.org/officeDocument/2006/relationships/image" Target="../media/image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7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7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65.png"/><Relationship Id="rId4" Type="http://schemas.openxmlformats.org/officeDocument/2006/relationships/image" Target="../media/image68.png"/><Relationship Id="rId5" Type="http://schemas.openxmlformats.org/officeDocument/2006/relationships/image" Target="../media/image7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 Id="rId3" Type="http://schemas.openxmlformats.org/officeDocument/2006/relationships/image" Target="../media/image86.png"/><Relationship Id="rId4" Type="http://schemas.openxmlformats.org/officeDocument/2006/relationships/image" Target="../media/image7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 Id="rId3" Type="http://schemas.openxmlformats.org/officeDocument/2006/relationships/image" Target="../media/image67.png"/><Relationship Id="rId4" Type="http://schemas.openxmlformats.org/officeDocument/2006/relationships/image" Target="../media/image6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 Id="rId3" Type="http://schemas.openxmlformats.org/officeDocument/2006/relationships/image" Target="../media/image6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9.png"/><Relationship Id="rId6" Type="http://schemas.openxmlformats.org/officeDocument/2006/relationships/image" Target="../media/image7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 Id="rId3" Type="http://schemas.openxmlformats.org/officeDocument/2006/relationships/image" Target="../media/image8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 Id="rId3" Type="http://schemas.openxmlformats.org/officeDocument/2006/relationships/image" Target="../media/image9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 Id="rId3" Type="http://schemas.openxmlformats.org/officeDocument/2006/relationships/image" Target="../media/image8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 Id="rId3" Type="http://schemas.openxmlformats.org/officeDocument/2006/relationships/image" Target="../media/image8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 Id="rId3" Type="http://schemas.openxmlformats.org/officeDocument/2006/relationships/image" Target="../media/image90.png"/><Relationship Id="rId4" Type="http://schemas.openxmlformats.org/officeDocument/2006/relationships/image" Target="../media/image8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 Id="rId3" Type="http://schemas.openxmlformats.org/officeDocument/2006/relationships/image" Target="../media/image8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 Id="rId3" Type="http://schemas.openxmlformats.org/officeDocument/2006/relationships/image" Target="../media/image83.png"/><Relationship Id="rId4" Type="http://schemas.openxmlformats.org/officeDocument/2006/relationships/image" Target="../media/image92.png"/><Relationship Id="rId5" Type="http://schemas.openxmlformats.org/officeDocument/2006/relationships/image" Target="../media/image8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 Id="rId3" Type="http://schemas.openxmlformats.org/officeDocument/2006/relationships/hyperlink" Target="http://www.speech.sri.com/projects/srilm/manpages/"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0.xml"/><Relationship Id="rId3" Type="http://schemas.openxmlformats.org/officeDocument/2006/relationships/image" Target="../media/image8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1.xml"/><Relationship Id="rId3" Type="http://schemas.openxmlformats.org/officeDocument/2006/relationships/image" Target="../media/image87.png"/><Relationship Id="rId4" Type="http://schemas.openxmlformats.org/officeDocument/2006/relationships/image" Target="../media/image91.png"/><Relationship Id="rId5" Type="http://schemas.openxmlformats.org/officeDocument/2006/relationships/image" Target="../media/image94.png"/><Relationship Id="rId6" Type="http://schemas.openxmlformats.org/officeDocument/2006/relationships/image" Target="../media/image9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ctrTitle"/>
          </p:nvPr>
        </p:nvSpPr>
        <p:spPr>
          <a:xfrm>
            <a:off x="304650" y="962225"/>
            <a:ext cx="8520600" cy="1141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4400"/>
              <a:t>Foundations of Vision and Language</a:t>
            </a:r>
            <a:endParaRPr sz="4400"/>
          </a:p>
        </p:txBody>
      </p:sp>
      <p:sp>
        <p:nvSpPr>
          <p:cNvPr id="73" name="Google Shape;73;p16"/>
          <p:cNvSpPr txBox="1"/>
          <p:nvPr>
            <p:ph idx="1" type="subTitle"/>
          </p:nvPr>
        </p:nvSpPr>
        <p:spPr>
          <a:xfrm>
            <a:off x="311700" y="23587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990000"/>
                </a:solidFill>
              </a:rPr>
              <a:t>Information Theory and Language Modeling</a:t>
            </a:r>
            <a:endParaRPr>
              <a:solidFill>
                <a:srgbClr val="0000FF"/>
              </a:solidFill>
            </a:endParaRPr>
          </a:p>
        </p:txBody>
      </p:sp>
      <p:sp>
        <p:nvSpPr>
          <p:cNvPr id="74" name="Google Shape;74;p16"/>
          <p:cNvSpPr txBox="1"/>
          <p:nvPr/>
        </p:nvSpPr>
        <p:spPr>
          <a:xfrm>
            <a:off x="2988900" y="3406325"/>
            <a:ext cx="3166200" cy="63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9900FF"/>
                </a:solidFill>
              </a:rPr>
              <a:t>Sidharth Ranjan</a:t>
            </a:r>
            <a:endParaRPr sz="2400">
              <a:solidFill>
                <a:srgbClr val="99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Zipf’s law</a:t>
            </a:r>
            <a:endParaRPr/>
          </a:p>
          <a:p>
            <a:pPr indent="-342900" lvl="0" marL="457200" rtl="0" algn="l">
              <a:spcBef>
                <a:spcPts val="0"/>
              </a:spcBef>
              <a:spcAft>
                <a:spcPts val="0"/>
              </a:spcAft>
              <a:buSzPts val="1800"/>
              <a:buChar char="-"/>
            </a:pPr>
            <a:r>
              <a:rPr lang="en"/>
              <a:t>Shannon’s approach to language</a:t>
            </a:r>
            <a:endParaRPr/>
          </a:p>
          <a:p>
            <a:pPr indent="-342900" lvl="0" marL="457200" rtl="0" algn="l">
              <a:spcBef>
                <a:spcPts val="0"/>
              </a:spcBef>
              <a:spcAft>
                <a:spcPts val="0"/>
              </a:spcAft>
              <a:buSzPts val="1800"/>
              <a:buChar char="-"/>
            </a:pPr>
            <a:r>
              <a:rPr lang="en"/>
              <a:t>Entropy</a:t>
            </a:r>
            <a:endParaRPr/>
          </a:p>
          <a:p>
            <a:pPr indent="-342900" lvl="0" marL="457200" rtl="0" algn="l">
              <a:spcBef>
                <a:spcPts val="0"/>
              </a:spcBef>
              <a:spcAft>
                <a:spcPts val="0"/>
              </a:spcAft>
              <a:buSzPts val="1800"/>
              <a:buChar char="-"/>
            </a:pPr>
            <a:r>
              <a:rPr lang="en"/>
              <a:t>Information-theoretic measures</a:t>
            </a:r>
            <a:endParaRPr/>
          </a:p>
          <a:p>
            <a:pPr indent="-342900" lvl="0" marL="457200" rtl="0" algn="l">
              <a:spcBef>
                <a:spcPts val="0"/>
              </a:spcBef>
              <a:spcAft>
                <a:spcPts val="0"/>
              </a:spcAft>
              <a:buSzPts val="1800"/>
              <a:buChar char="-"/>
            </a:pPr>
            <a:r>
              <a:rPr lang="en"/>
              <a:t>Language Modeling</a:t>
            </a:r>
            <a:endParaRPr/>
          </a:p>
          <a:p>
            <a:pPr indent="-342900" lvl="0" marL="457200" rtl="0" algn="l">
              <a:spcBef>
                <a:spcPts val="0"/>
              </a:spcBef>
              <a:spcAft>
                <a:spcPts val="0"/>
              </a:spcAft>
              <a:buSzPts val="1800"/>
              <a:buChar char="-"/>
            </a:pPr>
            <a:r>
              <a:rPr lang="en"/>
              <a:t>N-gram/Markov Models</a:t>
            </a:r>
            <a:endParaRPr/>
          </a:p>
          <a:p>
            <a:pPr indent="-342900" lvl="0" marL="457200" rtl="0" algn="l">
              <a:spcBef>
                <a:spcPts val="0"/>
              </a:spcBef>
              <a:spcAft>
                <a:spcPts val="0"/>
              </a:spcAft>
              <a:buSzPts val="1800"/>
              <a:buChar char="-"/>
            </a:pPr>
            <a:r>
              <a:rPr lang="en"/>
              <a:t>Noisy-channel Model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ctr">
              <a:spcBef>
                <a:spcPts val="1200"/>
              </a:spcBef>
              <a:spcAft>
                <a:spcPts val="1200"/>
              </a:spcAft>
              <a:buNone/>
            </a:pPr>
            <a:r>
              <a:rPr i="1" lang="en" sz="2100">
                <a:solidFill>
                  <a:srgbClr val="0000FF"/>
                </a:solidFill>
              </a:rPr>
              <a:t>How can we computationally represent the structure of language?</a:t>
            </a:r>
            <a:endParaRPr i="1" sz="2100">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Language representation</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
            </a:r>
            <a:r>
              <a:rPr lang="en"/>
              <a:t>escribe grammatical rules </a:t>
            </a:r>
            <a:endParaRPr/>
          </a:p>
          <a:p>
            <a:pPr indent="-317500" lvl="1" marL="914400" rtl="0" algn="l">
              <a:spcBef>
                <a:spcPts val="0"/>
              </a:spcBef>
              <a:spcAft>
                <a:spcPts val="0"/>
              </a:spcAft>
              <a:buSzPts val="1400"/>
              <a:buChar char="-"/>
            </a:pPr>
            <a:r>
              <a:rPr lang="en"/>
              <a:t>English sentences have subjects, verbs, objects, and so on. </a:t>
            </a:r>
            <a:br>
              <a:rPr lang="en"/>
            </a:br>
            <a:endParaRPr/>
          </a:p>
          <a:p>
            <a:pPr indent="-342900" lvl="0" marL="457200" rtl="0" algn="l">
              <a:spcBef>
                <a:spcPts val="0"/>
              </a:spcBef>
              <a:spcAft>
                <a:spcPts val="0"/>
              </a:spcAft>
              <a:buSzPts val="1800"/>
              <a:buChar char="-"/>
            </a:pPr>
            <a:r>
              <a:rPr lang="en"/>
              <a:t>Statistical structure of language </a:t>
            </a:r>
            <a:endParaRPr/>
          </a:p>
          <a:p>
            <a:pPr indent="-317500" lvl="1" marL="914400" rtl="0" algn="l">
              <a:spcBef>
                <a:spcPts val="0"/>
              </a:spcBef>
              <a:spcAft>
                <a:spcPts val="0"/>
              </a:spcAft>
              <a:buSzPts val="1400"/>
              <a:buChar char="-"/>
            </a:pPr>
            <a:r>
              <a:rPr lang="en"/>
              <a:t>How frequently do words occur?</a:t>
            </a:r>
            <a:endParaRPr/>
          </a:p>
          <a:p>
            <a:pPr indent="-317500" lvl="1" marL="914400" rtl="0" algn="l">
              <a:spcBef>
                <a:spcPts val="0"/>
              </a:spcBef>
              <a:spcAft>
                <a:spcPts val="0"/>
              </a:spcAft>
              <a:buSzPts val="1400"/>
              <a:buChar char="-"/>
            </a:pPr>
            <a:r>
              <a:rPr lang="en"/>
              <a:t>How predictable is one word from another? </a:t>
            </a:r>
            <a:endParaRPr/>
          </a:p>
          <a:p>
            <a:pPr indent="-317500" lvl="1" marL="914400" rtl="0" algn="l">
              <a:spcBef>
                <a:spcPts val="0"/>
              </a:spcBef>
              <a:spcAft>
                <a:spcPts val="0"/>
              </a:spcAft>
              <a:buSzPts val="1400"/>
              <a:buChar char="-"/>
            </a:pPr>
            <a:r>
              <a:rPr lang="en"/>
              <a:t>How much information does a word carry? </a:t>
            </a:r>
            <a:br>
              <a:rPr lang="en"/>
            </a:br>
            <a:endParaRPr/>
          </a:p>
          <a:p>
            <a:pPr indent="-342900" lvl="0" marL="457200" rtl="0" algn="l">
              <a:spcBef>
                <a:spcPts val="0"/>
              </a:spcBef>
              <a:spcAft>
                <a:spcPts val="0"/>
              </a:spcAft>
              <a:buSzPts val="1800"/>
              <a:buChar char="-"/>
            </a:pPr>
            <a:r>
              <a:rPr lang="en">
                <a:solidFill>
                  <a:srgbClr val="0000FF"/>
                </a:solidFill>
              </a:rPr>
              <a:t>Do most words in a corpus occur with an average frequency?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Many phenomena in the world follow a “normal distribution”</a:t>
            </a:r>
            <a:endParaRPr/>
          </a:p>
          <a:p>
            <a:pPr indent="-317500" lvl="1" marL="914400" rtl="0" algn="l">
              <a:spcBef>
                <a:spcPts val="0"/>
              </a:spcBef>
              <a:spcAft>
                <a:spcPts val="0"/>
              </a:spcAft>
              <a:buSzPts val="1400"/>
              <a:buChar char="-"/>
            </a:pPr>
            <a:r>
              <a:rPr lang="en"/>
              <a:t>Very few observations with extremely low values</a:t>
            </a:r>
            <a:endParaRPr/>
          </a:p>
          <a:p>
            <a:pPr indent="-317500" lvl="1" marL="914400" rtl="0" algn="l">
              <a:spcBef>
                <a:spcPts val="0"/>
              </a:spcBef>
              <a:spcAft>
                <a:spcPts val="0"/>
              </a:spcAft>
              <a:buSzPts val="1400"/>
              <a:buChar char="-"/>
            </a:pPr>
            <a:r>
              <a:rPr lang="en"/>
              <a:t>Many observations with average values</a:t>
            </a:r>
            <a:endParaRPr/>
          </a:p>
          <a:p>
            <a:pPr indent="-317500" lvl="1" marL="914400" rtl="0" algn="l">
              <a:spcBef>
                <a:spcPts val="0"/>
              </a:spcBef>
              <a:spcAft>
                <a:spcPts val="0"/>
              </a:spcAft>
              <a:buSzPts val="1400"/>
              <a:buChar char="-"/>
            </a:pPr>
            <a:r>
              <a:rPr lang="en"/>
              <a:t>Very few observations with extremely high values</a:t>
            </a:r>
            <a:br>
              <a:rPr lang="en"/>
            </a:br>
            <a:endParaRPr/>
          </a:p>
          <a:p>
            <a:pPr indent="-342900" lvl="0" marL="457200" rtl="0" algn="l">
              <a:spcBef>
                <a:spcPts val="0"/>
              </a:spcBef>
              <a:spcAft>
                <a:spcPts val="0"/>
              </a:spcAft>
              <a:buSzPts val="1800"/>
              <a:buChar char="-"/>
            </a:pPr>
            <a:r>
              <a:rPr lang="en"/>
              <a:t>Examples:</a:t>
            </a:r>
            <a:endParaRPr/>
          </a:p>
          <a:p>
            <a:pPr indent="-317500" lvl="1" marL="914400" rtl="0" algn="l">
              <a:spcBef>
                <a:spcPts val="0"/>
              </a:spcBef>
              <a:spcAft>
                <a:spcPts val="0"/>
              </a:spcAft>
              <a:buSzPts val="1400"/>
              <a:buChar char="-"/>
            </a:pPr>
            <a:r>
              <a:rPr lang="en"/>
              <a:t>Rolling three dice at a time</a:t>
            </a:r>
            <a:endParaRPr/>
          </a:p>
          <a:p>
            <a:pPr indent="-317500" lvl="1" marL="914400" rtl="0" algn="l">
              <a:spcBef>
                <a:spcPts val="0"/>
              </a:spcBef>
              <a:spcAft>
                <a:spcPts val="0"/>
              </a:spcAft>
              <a:buSzPts val="1400"/>
              <a:buChar char="-"/>
            </a:pPr>
            <a:r>
              <a:rPr lang="en"/>
              <a:t>Life expectancy of people in Finland</a:t>
            </a:r>
            <a:endParaRPr/>
          </a:p>
          <a:p>
            <a:pPr indent="-317500" lvl="1" marL="914400" rtl="0" algn="l">
              <a:spcBef>
                <a:spcPts val="0"/>
              </a:spcBef>
              <a:spcAft>
                <a:spcPts val="0"/>
              </a:spcAft>
              <a:buSzPts val="1400"/>
              <a:buChar char="-"/>
            </a:pPr>
            <a:r>
              <a:rPr lang="en"/>
              <a:t>Height of children in the same school year</a:t>
            </a:r>
            <a:br>
              <a:rPr lang="en"/>
            </a:br>
            <a:endParaRPr/>
          </a:p>
          <a:p>
            <a:pPr indent="-342900" lvl="0" marL="457200" rtl="0" algn="l">
              <a:spcBef>
                <a:spcPts val="0"/>
              </a:spcBef>
              <a:spcAft>
                <a:spcPts val="0"/>
              </a:spcAft>
              <a:buSzPts val="1800"/>
              <a:buChar char="-"/>
            </a:pPr>
            <a:r>
              <a:rPr lang="en"/>
              <a:t>Word frequencies are different!</a:t>
            </a:r>
            <a:endParaRPr/>
          </a:p>
        </p:txBody>
      </p:sp>
      <p:pic>
        <p:nvPicPr>
          <p:cNvPr id="97" name="Google Shape;97;p20"/>
          <p:cNvPicPr preferRelativeResize="0"/>
          <p:nvPr/>
        </p:nvPicPr>
        <p:blipFill>
          <a:blip r:embed="rId3">
            <a:alphaModFix/>
          </a:blip>
          <a:stretch>
            <a:fillRect/>
          </a:stretch>
        </p:blipFill>
        <p:spPr>
          <a:xfrm>
            <a:off x="4778375" y="2292450"/>
            <a:ext cx="4053925" cy="2702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Zipf’s Law (1932)</a:t>
            </a:r>
            <a:endParaRPr/>
          </a:p>
        </p:txBody>
      </p:sp>
      <p:sp>
        <p:nvSpPr>
          <p:cNvPr id="103" name="Google Shape;103;p21"/>
          <p:cNvSpPr txBox="1"/>
          <p:nvPr>
            <p:ph idx="1" type="body"/>
          </p:nvPr>
        </p:nvSpPr>
        <p:spPr>
          <a:xfrm>
            <a:off x="311700" y="1354675"/>
            <a:ext cx="499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Zipf’s law</a:t>
            </a:r>
            <a:r>
              <a:rPr lang="en"/>
              <a:t> denotes a surprising regularity in the way word frequencies are structured</a:t>
            </a:r>
            <a:endParaRPr/>
          </a:p>
          <a:p>
            <a:pPr indent="0" lvl="0" marL="0" rtl="0" algn="l">
              <a:spcBef>
                <a:spcPts val="1200"/>
              </a:spcBef>
              <a:spcAft>
                <a:spcPts val="1200"/>
              </a:spcAft>
              <a:buNone/>
            </a:pPr>
            <a:r>
              <a:t/>
            </a:r>
            <a:endParaRPr/>
          </a:p>
        </p:txBody>
      </p:sp>
      <p:pic>
        <p:nvPicPr>
          <p:cNvPr id="104" name="Google Shape;104;p21"/>
          <p:cNvPicPr preferRelativeResize="0"/>
          <p:nvPr/>
        </p:nvPicPr>
        <p:blipFill>
          <a:blip r:embed="rId3">
            <a:alphaModFix/>
          </a:blip>
          <a:stretch>
            <a:fillRect/>
          </a:stretch>
        </p:blipFill>
        <p:spPr>
          <a:xfrm>
            <a:off x="6339728" y="161925"/>
            <a:ext cx="2381250" cy="2381250"/>
          </a:xfrm>
          <a:prstGeom prst="rect">
            <a:avLst/>
          </a:prstGeom>
          <a:noFill/>
          <a:ln>
            <a:noFill/>
          </a:ln>
        </p:spPr>
      </p:pic>
      <p:sp>
        <p:nvSpPr>
          <p:cNvPr id="105" name="Google Shape;105;p21"/>
          <p:cNvSpPr txBox="1"/>
          <p:nvPr/>
        </p:nvSpPr>
        <p:spPr>
          <a:xfrm>
            <a:off x="6114104" y="2587675"/>
            <a:ext cx="300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00FF"/>
                </a:solidFill>
              </a:rPr>
              <a:t>George Kingsley Zipf </a:t>
            </a:r>
            <a:r>
              <a:rPr lang="en">
                <a:solidFill>
                  <a:srgbClr val="9900FF"/>
                </a:solidFill>
              </a:rPr>
              <a:t>(1902-1950)</a:t>
            </a:r>
            <a:endParaRPr>
              <a:solidFill>
                <a:srgbClr val="9900FF"/>
              </a:solidFill>
            </a:endParaRPr>
          </a:p>
        </p:txBody>
      </p:sp>
      <p:sp>
        <p:nvSpPr>
          <p:cNvPr id="106" name="Google Shape;106;p21"/>
          <p:cNvSpPr txBox="1"/>
          <p:nvPr/>
        </p:nvSpPr>
        <p:spPr>
          <a:xfrm>
            <a:off x="6005175" y="2987875"/>
            <a:ext cx="3138600" cy="220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rPr>
              <a:t>1912:</a:t>
            </a:r>
            <a:r>
              <a:rPr lang="en" sz="1200">
                <a:solidFill>
                  <a:schemeClr val="dk1"/>
                </a:solidFill>
              </a:rPr>
              <a:t> French stenographer Jean-Baptiste Estoup notes word frequency regularity.</a:t>
            </a:r>
            <a:endParaRPr sz="1200">
              <a:solidFill>
                <a:schemeClr val="dk1"/>
              </a:solidFill>
            </a:endParaRPr>
          </a:p>
          <a:p>
            <a:pPr indent="0" lvl="0" marL="0" rtl="0" algn="l">
              <a:lnSpc>
                <a:spcPct val="115000"/>
              </a:lnSpc>
              <a:spcBef>
                <a:spcPts val="900"/>
              </a:spcBef>
              <a:spcAft>
                <a:spcPts val="0"/>
              </a:spcAft>
              <a:buNone/>
            </a:pPr>
            <a:r>
              <a:rPr b="1" lang="en" sz="1200">
                <a:solidFill>
                  <a:schemeClr val="dk1"/>
                </a:solidFill>
              </a:rPr>
              <a:t>1932:</a:t>
            </a:r>
            <a:r>
              <a:rPr lang="en" sz="1200">
                <a:solidFill>
                  <a:schemeClr val="dk1"/>
                </a:solidFill>
              </a:rPr>
              <a:t> Zipf introduces the concept in early studies.</a:t>
            </a:r>
            <a:endParaRPr sz="1200">
              <a:solidFill>
                <a:schemeClr val="dk1"/>
              </a:solidFill>
            </a:endParaRPr>
          </a:p>
          <a:p>
            <a:pPr indent="0" lvl="0" marL="0" rtl="0" algn="l">
              <a:lnSpc>
                <a:spcPct val="115000"/>
              </a:lnSpc>
              <a:spcBef>
                <a:spcPts val="900"/>
              </a:spcBef>
              <a:spcAft>
                <a:spcPts val="0"/>
              </a:spcAft>
              <a:buNone/>
            </a:pPr>
            <a:r>
              <a:rPr b="1" lang="en" sz="1200">
                <a:solidFill>
                  <a:schemeClr val="dk1"/>
                </a:solidFill>
              </a:rPr>
              <a:t>1935:</a:t>
            </a:r>
            <a:r>
              <a:rPr lang="en" sz="1200">
                <a:solidFill>
                  <a:schemeClr val="dk1"/>
                </a:solidFill>
              </a:rPr>
              <a:t> Zipf details the law in </a:t>
            </a:r>
            <a:r>
              <a:rPr i="1" lang="en" sz="1200">
                <a:solidFill>
                  <a:schemeClr val="dk1"/>
                </a:solidFill>
              </a:rPr>
              <a:t>The Psycho-Biology of Language</a:t>
            </a:r>
            <a:r>
              <a:rPr lang="en" sz="1200">
                <a:solidFill>
                  <a:schemeClr val="dk1"/>
                </a:solidFill>
              </a:rPr>
              <a:t>.</a:t>
            </a:r>
            <a:endParaRPr sz="1200">
              <a:solidFill>
                <a:schemeClr val="dk1"/>
              </a:solidFill>
            </a:endParaRPr>
          </a:p>
          <a:p>
            <a:pPr indent="0" lvl="0" marL="0" rtl="0" algn="l">
              <a:lnSpc>
                <a:spcPct val="115000"/>
              </a:lnSpc>
              <a:spcBef>
                <a:spcPts val="900"/>
              </a:spcBef>
              <a:spcAft>
                <a:spcPts val="900"/>
              </a:spcAft>
              <a:buNone/>
            </a:pPr>
            <a:r>
              <a:rPr b="1" lang="en" sz="1200">
                <a:solidFill>
                  <a:schemeClr val="dk1"/>
                </a:solidFill>
              </a:rPr>
              <a:t>1949:</a:t>
            </a:r>
            <a:r>
              <a:rPr lang="en" sz="1200">
                <a:solidFill>
                  <a:schemeClr val="dk1"/>
                </a:solidFill>
              </a:rPr>
              <a:t> Zipf applies the law to city sizes and behavior.</a:t>
            </a:r>
            <a:endParaRPr sz="1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22"/>
          <p:cNvPicPr preferRelativeResize="0"/>
          <p:nvPr/>
        </p:nvPicPr>
        <p:blipFill>
          <a:blip r:embed="rId3">
            <a:alphaModFix/>
          </a:blip>
          <a:stretch>
            <a:fillRect/>
          </a:stretch>
        </p:blipFill>
        <p:spPr>
          <a:xfrm>
            <a:off x="1317263" y="797050"/>
            <a:ext cx="6509467" cy="3820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Zipf’s law</a:t>
            </a:r>
            <a:endParaRPr/>
          </a:p>
        </p:txBody>
      </p:sp>
      <p:sp>
        <p:nvSpPr>
          <p:cNvPr id="117" name="Google Shape;11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solidFill>
                  <a:schemeClr val="dk1"/>
                </a:solidFill>
              </a:rPr>
              <a:t>Some words</a:t>
            </a:r>
            <a:r>
              <a:rPr lang="en"/>
              <a:t> are used very frequently</a:t>
            </a:r>
            <a:endParaRPr/>
          </a:p>
          <a:p>
            <a:pPr indent="-317500" lvl="1" marL="914400" rtl="0" algn="l">
              <a:spcBef>
                <a:spcPts val="0"/>
              </a:spcBef>
              <a:spcAft>
                <a:spcPts val="0"/>
              </a:spcAft>
              <a:buSzPts val="1400"/>
              <a:buChar char="-"/>
            </a:pPr>
            <a:r>
              <a:rPr lang="en"/>
              <a:t>Grammatical words: the, of, and, to, a, in, …</a:t>
            </a:r>
            <a:br>
              <a:rPr lang="en"/>
            </a:br>
            <a:endParaRPr/>
          </a:p>
          <a:p>
            <a:pPr indent="-342900" lvl="0" marL="457200" rtl="0" algn="l">
              <a:spcBef>
                <a:spcPts val="0"/>
              </a:spcBef>
              <a:spcAft>
                <a:spcPts val="0"/>
              </a:spcAft>
              <a:buSzPts val="1800"/>
              <a:buChar char="-"/>
            </a:pPr>
            <a:r>
              <a:rPr lang="en">
                <a:solidFill>
                  <a:schemeClr val="dk1"/>
                </a:solidFill>
              </a:rPr>
              <a:t>Many words</a:t>
            </a:r>
            <a:r>
              <a:rPr lang="en"/>
              <a:t> are used very rarely</a:t>
            </a:r>
            <a:br>
              <a:rPr lang="en"/>
            </a:br>
            <a:endParaRPr/>
          </a:p>
          <a:p>
            <a:pPr indent="-342900" lvl="0" marL="457200" rtl="0" algn="l">
              <a:spcBef>
                <a:spcPts val="0"/>
              </a:spcBef>
              <a:spcAft>
                <a:spcPts val="0"/>
              </a:spcAft>
              <a:buSzPts val="1800"/>
              <a:buChar char="-"/>
            </a:pPr>
            <a:r>
              <a:rPr lang="en"/>
              <a:t>So </a:t>
            </a:r>
            <a:r>
              <a:rPr lang="en">
                <a:solidFill>
                  <a:schemeClr val="dk1"/>
                </a:solidFill>
              </a:rPr>
              <a:t>language </a:t>
            </a:r>
            <a:r>
              <a:rPr lang="en"/>
              <a:t>has a very </a:t>
            </a:r>
            <a:r>
              <a:rPr lang="en">
                <a:solidFill>
                  <a:schemeClr val="dk1"/>
                </a:solidFill>
              </a:rPr>
              <a:t>uneven frequency distribution</a:t>
            </a:r>
            <a:r>
              <a:rPr lang="en"/>
              <a:t> </a:t>
            </a:r>
            <a:br>
              <a:rPr lang="en"/>
            </a:br>
            <a:endParaRPr/>
          </a:p>
          <a:p>
            <a:pPr indent="-342900" lvl="0" marL="457200" rtl="0" algn="l">
              <a:spcBef>
                <a:spcPts val="0"/>
              </a:spcBef>
              <a:spcAft>
                <a:spcPts val="0"/>
              </a:spcAft>
              <a:buSzPts val="1800"/>
              <a:buChar char="-"/>
            </a:pPr>
            <a:r>
              <a:rPr lang="en"/>
              <a:t>Frequent words are short, rare words tend to be longer</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4"/>
          <p:cNvPicPr preferRelativeResize="0"/>
          <p:nvPr/>
        </p:nvPicPr>
        <p:blipFill>
          <a:blip r:embed="rId3">
            <a:alphaModFix/>
          </a:blip>
          <a:stretch>
            <a:fillRect/>
          </a:stretch>
        </p:blipFill>
        <p:spPr>
          <a:xfrm>
            <a:off x="1588050" y="152400"/>
            <a:ext cx="6206502"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solidFill>
                  <a:srgbClr val="3333B3"/>
                </a:solidFill>
              </a:rPr>
              <a:t>Zipf’s Law by </a:t>
            </a:r>
            <a:r>
              <a:rPr lang="en" sz="2500">
                <a:solidFill>
                  <a:srgbClr val="3333B3"/>
                </a:solidFill>
                <a:highlight>
                  <a:srgbClr val="FFFFFF"/>
                </a:highlight>
              </a:rPr>
              <a:t>George Kingsley Zipf</a:t>
            </a:r>
            <a:endParaRPr sz="2500">
              <a:solidFill>
                <a:srgbClr val="3333B3"/>
              </a:solidFill>
            </a:endParaRPr>
          </a:p>
        </p:txBody>
      </p:sp>
      <p:pic>
        <p:nvPicPr>
          <p:cNvPr id="128" name="Google Shape;128;p25"/>
          <p:cNvPicPr preferRelativeResize="0"/>
          <p:nvPr/>
        </p:nvPicPr>
        <p:blipFill>
          <a:blip r:embed="rId3">
            <a:alphaModFix/>
          </a:blip>
          <a:stretch>
            <a:fillRect/>
          </a:stretch>
        </p:blipFill>
        <p:spPr>
          <a:xfrm>
            <a:off x="6581775" y="161925"/>
            <a:ext cx="2381250" cy="2381250"/>
          </a:xfrm>
          <a:prstGeom prst="rect">
            <a:avLst/>
          </a:prstGeom>
          <a:noFill/>
          <a:ln>
            <a:noFill/>
          </a:ln>
        </p:spPr>
      </p:pic>
      <p:sp>
        <p:nvSpPr>
          <p:cNvPr id="129" name="Google Shape;129;p25"/>
          <p:cNvSpPr txBox="1"/>
          <p:nvPr/>
        </p:nvSpPr>
        <p:spPr>
          <a:xfrm>
            <a:off x="7224129" y="2587675"/>
            <a:ext cx="118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(1902-1950)</a:t>
            </a:r>
            <a:endParaRPr/>
          </a:p>
        </p:txBody>
      </p:sp>
      <p:pic>
        <p:nvPicPr>
          <p:cNvPr id="130" name="Google Shape;130;p25"/>
          <p:cNvPicPr preferRelativeResize="0"/>
          <p:nvPr/>
        </p:nvPicPr>
        <p:blipFill rotWithShape="1">
          <a:blip r:embed="rId4">
            <a:alphaModFix/>
          </a:blip>
          <a:srcRect b="45890" l="0" r="0" t="0"/>
          <a:stretch/>
        </p:blipFill>
        <p:spPr>
          <a:xfrm>
            <a:off x="301175" y="1691971"/>
            <a:ext cx="5794825" cy="1346025"/>
          </a:xfrm>
          <a:prstGeom prst="rect">
            <a:avLst/>
          </a:prstGeom>
          <a:noFill/>
          <a:ln>
            <a:noFill/>
          </a:ln>
        </p:spPr>
      </p:pic>
      <p:sp>
        <p:nvSpPr>
          <p:cNvPr id="131" name="Google Shape;131;p25"/>
          <p:cNvSpPr txBox="1"/>
          <p:nvPr/>
        </p:nvSpPr>
        <p:spPr>
          <a:xfrm>
            <a:off x="311700" y="3392725"/>
            <a:ext cx="8202300" cy="1231500"/>
          </a:xfrm>
          <a:prstGeom prst="rect">
            <a:avLst/>
          </a:prstGeom>
          <a:noFill/>
          <a:ln cap="flat" cmpd="sng" w="9525">
            <a:solidFill>
              <a:srgbClr val="000000"/>
            </a:solidFill>
            <a:prstDash val="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rgbClr val="9900FF"/>
                </a:solidFill>
                <a:highlight>
                  <a:srgbClr val="FFFFFF"/>
                </a:highlight>
              </a:rPr>
              <a:t>Did you know?</a:t>
            </a:r>
            <a:endParaRPr sz="1700">
              <a:solidFill>
                <a:srgbClr val="9900FF"/>
              </a:solidFill>
              <a:highlight>
                <a:srgbClr val="FFFFFF"/>
              </a:highlight>
            </a:endParaRPr>
          </a:p>
          <a:p>
            <a:pPr indent="0" lvl="0" marL="0" rtl="0" algn="l">
              <a:spcBef>
                <a:spcPts val="0"/>
              </a:spcBef>
              <a:spcAft>
                <a:spcPts val="0"/>
              </a:spcAft>
              <a:buNone/>
            </a:pPr>
            <a:r>
              <a:t/>
            </a:r>
            <a:endParaRPr sz="1700">
              <a:solidFill>
                <a:srgbClr val="9900FF"/>
              </a:solidFill>
              <a:highlight>
                <a:srgbClr val="FFFFFF"/>
              </a:highlight>
            </a:endParaRPr>
          </a:p>
          <a:p>
            <a:pPr indent="0" lvl="0" marL="0" rtl="0" algn="l">
              <a:spcBef>
                <a:spcPts val="0"/>
              </a:spcBef>
              <a:spcAft>
                <a:spcPts val="0"/>
              </a:spcAft>
              <a:buNone/>
            </a:pPr>
            <a:r>
              <a:rPr lang="en" sz="1700">
                <a:solidFill>
                  <a:srgbClr val="9900FF"/>
                </a:solidFill>
                <a:highlight>
                  <a:srgbClr val="FFFFFF"/>
                </a:highlight>
              </a:rPr>
              <a:t>In every language, the most frequent word occurs </a:t>
            </a:r>
            <a:r>
              <a:rPr b="1" lang="en" sz="1700">
                <a:solidFill>
                  <a:srgbClr val="9900FF"/>
                </a:solidFill>
                <a:highlight>
                  <a:srgbClr val="FFFFFF"/>
                </a:highlight>
              </a:rPr>
              <a:t>twice </a:t>
            </a:r>
            <a:r>
              <a:rPr lang="en" sz="1700">
                <a:solidFill>
                  <a:srgbClr val="9900FF"/>
                </a:solidFill>
                <a:highlight>
                  <a:srgbClr val="FFFFFF"/>
                </a:highlight>
              </a:rPr>
              <a:t>as often as the </a:t>
            </a:r>
            <a:r>
              <a:rPr b="1" lang="en" sz="1700">
                <a:solidFill>
                  <a:srgbClr val="9900FF"/>
                </a:solidFill>
                <a:highlight>
                  <a:srgbClr val="FFFFFF"/>
                </a:highlight>
              </a:rPr>
              <a:t>second </a:t>
            </a:r>
            <a:r>
              <a:rPr lang="en" sz="1700">
                <a:solidFill>
                  <a:srgbClr val="9900FF"/>
                </a:solidFill>
                <a:highlight>
                  <a:srgbClr val="FFFFFF"/>
                </a:highlight>
              </a:rPr>
              <a:t>most frequent word.</a:t>
            </a:r>
            <a:endParaRPr sz="1700">
              <a:solidFill>
                <a:srgbClr val="9900FF"/>
              </a:solidFill>
            </a:endParaRPr>
          </a:p>
        </p:txBody>
      </p:sp>
      <p:sp>
        <p:nvSpPr>
          <p:cNvPr id="132" name="Google Shape;13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a:t>
            </a:r>
            <a:endParaRPr/>
          </a:p>
        </p:txBody>
      </p:sp>
      <p:sp>
        <p:nvSpPr>
          <p:cNvPr id="138" name="Google Shape;13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700">
              <a:solidFill>
                <a:srgbClr val="0000FF"/>
              </a:solidFill>
              <a:highlight>
                <a:schemeClr val="lt1"/>
              </a:highlight>
            </a:endParaRPr>
          </a:p>
          <a:p>
            <a:pPr indent="0" lvl="0" marL="0" rtl="0" algn="l">
              <a:lnSpc>
                <a:spcPct val="100000"/>
              </a:lnSpc>
              <a:spcBef>
                <a:spcPts val="0"/>
              </a:spcBef>
              <a:spcAft>
                <a:spcPts val="0"/>
              </a:spcAft>
              <a:buNone/>
            </a:pPr>
            <a:r>
              <a:t/>
            </a:r>
            <a:endParaRPr sz="1700">
              <a:solidFill>
                <a:srgbClr val="0000FF"/>
              </a:solidFill>
              <a:highlight>
                <a:schemeClr val="lt1"/>
              </a:highlight>
            </a:endParaRPr>
          </a:p>
          <a:p>
            <a:pPr indent="0" lvl="0" marL="0" rtl="0" algn="l">
              <a:lnSpc>
                <a:spcPct val="100000"/>
              </a:lnSpc>
              <a:spcBef>
                <a:spcPts val="0"/>
              </a:spcBef>
              <a:spcAft>
                <a:spcPts val="0"/>
              </a:spcAft>
              <a:buNone/>
            </a:pPr>
            <a:r>
              <a:t/>
            </a:r>
            <a:endParaRPr sz="1700">
              <a:solidFill>
                <a:srgbClr val="0000FF"/>
              </a:solidFill>
              <a:highlight>
                <a:schemeClr val="lt1"/>
              </a:highlight>
            </a:endParaRPr>
          </a:p>
          <a:p>
            <a:pPr indent="0" lvl="0" marL="0" rtl="0" algn="l">
              <a:lnSpc>
                <a:spcPct val="100000"/>
              </a:lnSpc>
              <a:spcBef>
                <a:spcPts val="0"/>
              </a:spcBef>
              <a:spcAft>
                <a:spcPts val="0"/>
              </a:spcAft>
              <a:buNone/>
            </a:pPr>
            <a:r>
              <a:t/>
            </a:r>
            <a:endParaRPr sz="1700">
              <a:solidFill>
                <a:srgbClr val="0000FF"/>
              </a:solidFill>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n" sz="2200">
                <a:solidFill>
                  <a:srgbClr val="0000FF"/>
                </a:solidFill>
                <a:highlight>
                  <a:schemeClr val="lt1"/>
                </a:highlight>
              </a:rPr>
              <a:t>Should the 50th most common word occur with three times the frequency of the 150th most common word?</a:t>
            </a:r>
            <a:endParaRPr sz="2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Zipf’s law across languages</a:t>
            </a:r>
            <a:endParaRPr/>
          </a:p>
        </p:txBody>
      </p:sp>
      <p:pic>
        <p:nvPicPr>
          <p:cNvPr id="144" name="Google Shape;144;p27"/>
          <p:cNvPicPr preferRelativeResize="0"/>
          <p:nvPr/>
        </p:nvPicPr>
        <p:blipFill>
          <a:blip r:embed="rId3">
            <a:alphaModFix/>
          </a:blip>
          <a:stretch>
            <a:fillRect/>
          </a:stretch>
        </p:blipFill>
        <p:spPr>
          <a:xfrm>
            <a:off x="572032" y="1158400"/>
            <a:ext cx="5570425" cy="3820975"/>
          </a:xfrm>
          <a:prstGeom prst="rect">
            <a:avLst/>
          </a:prstGeom>
          <a:noFill/>
          <a:ln>
            <a:noFill/>
          </a:ln>
        </p:spPr>
      </p:pic>
      <p:sp>
        <p:nvSpPr>
          <p:cNvPr id="145" name="Google Shape;145;p27"/>
          <p:cNvSpPr txBox="1"/>
          <p:nvPr/>
        </p:nvSpPr>
        <p:spPr>
          <a:xfrm>
            <a:off x="5712300" y="2359950"/>
            <a:ext cx="300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900FF"/>
                </a:solidFill>
              </a:rPr>
              <a:t>Why should language have this particular statistical structure? </a:t>
            </a:r>
            <a:endParaRPr sz="1800">
              <a:solidFill>
                <a:srgbClr val="99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are words frequencies Zipfian?</a:t>
            </a:r>
            <a:endParaRPr/>
          </a:p>
        </p:txBody>
      </p:sp>
      <p:sp>
        <p:nvSpPr>
          <p:cNvPr id="151" name="Google Shape;151;p28"/>
          <p:cNvSpPr txBox="1"/>
          <p:nvPr>
            <p:ph idx="1" type="body"/>
          </p:nvPr>
        </p:nvSpPr>
        <p:spPr>
          <a:xfrm>
            <a:off x="196050" y="1152475"/>
            <a:ext cx="8871300" cy="37560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SzPct val="100000"/>
              <a:buChar char="-"/>
            </a:pPr>
            <a:r>
              <a:rPr lang="en"/>
              <a:t>The principle of least effort:</a:t>
            </a:r>
            <a:endParaRPr/>
          </a:p>
          <a:p>
            <a:pPr indent="-310832" lvl="1" marL="914400" rtl="0" algn="l">
              <a:spcBef>
                <a:spcPts val="0"/>
              </a:spcBef>
              <a:spcAft>
                <a:spcPts val="0"/>
              </a:spcAft>
              <a:buSzPct val="100000"/>
              <a:buChar char="-"/>
            </a:pPr>
            <a:r>
              <a:rPr lang="en"/>
              <a:t>If we have to use a word very often, it saves time and energy if that word is very short</a:t>
            </a:r>
            <a:br>
              <a:rPr lang="en"/>
            </a:br>
            <a:endParaRPr/>
          </a:p>
          <a:p>
            <a:pPr indent="-334328" lvl="0" marL="457200" rtl="0" algn="l">
              <a:spcBef>
                <a:spcPts val="0"/>
              </a:spcBef>
              <a:spcAft>
                <a:spcPts val="0"/>
              </a:spcAft>
              <a:buSzPct val="100000"/>
              <a:buChar char="-"/>
            </a:pPr>
            <a:r>
              <a:rPr lang="en"/>
              <a:t>Communication efficiency and robustness:</a:t>
            </a:r>
            <a:endParaRPr/>
          </a:p>
          <a:p>
            <a:pPr indent="-310832" lvl="1" marL="914400" rtl="0" algn="l">
              <a:spcBef>
                <a:spcPts val="0"/>
              </a:spcBef>
              <a:spcAft>
                <a:spcPts val="0"/>
              </a:spcAft>
              <a:buSzPct val="100000"/>
              <a:buChar char="-"/>
            </a:pPr>
            <a:r>
              <a:rPr lang="en">
                <a:solidFill>
                  <a:srgbClr val="0000FF"/>
                </a:solidFill>
              </a:rPr>
              <a:t>Shorter words</a:t>
            </a:r>
            <a:r>
              <a:rPr lang="en"/>
              <a:t> carry a </a:t>
            </a:r>
            <a:r>
              <a:rPr lang="en">
                <a:solidFill>
                  <a:srgbClr val="000000"/>
                </a:solidFill>
              </a:rPr>
              <a:t>higher risk of being misheard</a:t>
            </a:r>
            <a:r>
              <a:rPr lang="en"/>
              <a:t>, so they do not carry a lot of information, but they convey this information efficiently</a:t>
            </a:r>
            <a:endParaRPr/>
          </a:p>
          <a:p>
            <a:pPr indent="-310832" lvl="1" marL="914400" rtl="0" algn="l">
              <a:spcBef>
                <a:spcPts val="0"/>
              </a:spcBef>
              <a:spcAft>
                <a:spcPts val="0"/>
              </a:spcAft>
              <a:buSzPct val="100000"/>
              <a:buChar char="-"/>
            </a:pPr>
            <a:r>
              <a:rPr lang="en">
                <a:solidFill>
                  <a:srgbClr val="0000FF"/>
                </a:solidFill>
              </a:rPr>
              <a:t>Longer words</a:t>
            </a:r>
            <a:r>
              <a:rPr lang="en"/>
              <a:t> carry more information and are more reliably identified, but at a </a:t>
            </a:r>
            <a:r>
              <a:rPr lang="en">
                <a:solidFill>
                  <a:schemeClr val="dk1"/>
                </a:solidFill>
              </a:rPr>
              <a:t>higher processing cost</a:t>
            </a:r>
            <a:endParaRPr>
              <a:solidFill>
                <a:schemeClr val="dk1"/>
              </a:solidFill>
            </a:endParaRPr>
          </a:p>
          <a:p>
            <a:pPr indent="-310832" lvl="1" marL="914400" rtl="0" algn="l">
              <a:spcBef>
                <a:spcPts val="0"/>
              </a:spcBef>
              <a:spcAft>
                <a:spcPts val="0"/>
              </a:spcAft>
              <a:buSzPct val="100000"/>
              <a:buChar char="-"/>
            </a:pPr>
            <a:r>
              <a:rPr lang="en"/>
              <a:t>Language appears to </a:t>
            </a:r>
            <a:r>
              <a:rPr lang="en">
                <a:solidFill>
                  <a:srgbClr val="202122"/>
                </a:solidFill>
              </a:rPr>
              <a:t>balance</a:t>
            </a:r>
            <a:r>
              <a:rPr lang="en"/>
              <a:t> efficiency and robustness (trade-off)</a:t>
            </a:r>
            <a:endParaRPr b="1">
              <a:solidFill>
                <a:srgbClr val="202122"/>
              </a:solidFill>
            </a:endParaRPr>
          </a:p>
          <a:p>
            <a:pPr indent="-310832" lvl="2" marL="1371600" rtl="0" algn="l">
              <a:spcBef>
                <a:spcPts val="0"/>
              </a:spcBef>
              <a:spcAft>
                <a:spcPts val="0"/>
              </a:spcAft>
              <a:buSzPct val="100000"/>
              <a:buChar char="-"/>
            </a:pPr>
            <a:r>
              <a:rPr lang="en">
                <a:solidFill>
                  <a:srgbClr val="202122"/>
                </a:solidFill>
              </a:rPr>
              <a:t>Efficiency:</a:t>
            </a:r>
            <a:r>
              <a:rPr lang="en"/>
              <a:t>  Minimizes the physical and cognitive effort required by the speaker to produce language</a:t>
            </a:r>
            <a:endParaRPr/>
          </a:p>
          <a:p>
            <a:pPr indent="-310832" lvl="2" marL="1371600" rtl="0" algn="l">
              <a:spcBef>
                <a:spcPts val="0"/>
              </a:spcBef>
              <a:spcAft>
                <a:spcPts val="0"/>
              </a:spcAft>
              <a:buSzPct val="100000"/>
              <a:buChar char="-"/>
            </a:pPr>
            <a:r>
              <a:rPr lang="en">
                <a:solidFill>
                  <a:srgbClr val="202122"/>
                </a:solidFill>
              </a:rPr>
              <a:t>Robustness:</a:t>
            </a:r>
            <a:r>
              <a:rPr lang="en"/>
              <a:t> Ensures that listener can successfully reconstruct the intended meaning in presence of noise and distractions</a:t>
            </a:r>
            <a:br>
              <a:rPr lang="en"/>
            </a:br>
            <a:endParaRPr/>
          </a:p>
          <a:p>
            <a:pPr indent="-334328" lvl="0" marL="457200" rtl="0" algn="l">
              <a:spcBef>
                <a:spcPts val="0"/>
              </a:spcBef>
              <a:spcAft>
                <a:spcPts val="0"/>
              </a:spcAft>
              <a:buSzPct val="100000"/>
              <a:buChar char="-"/>
            </a:pPr>
            <a:r>
              <a:rPr lang="en"/>
              <a:t>Benefits:</a:t>
            </a:r>
            <a:endParaRPr/>
          </a:p>
          <a:p>
            <a:pPr indent="-310832" lvl="1" marL="914400" rtl="0" algn="l">
              <a:spcBef>
                <a:spcPts val="0"/>
              </a:spcBef>
              <a:spcAft>
                <a:spcPts val="0"/>
              </a:spcAft>
              <a:buSzPct val="100000"/>
              <a:buChar char="-"/>
            </a:pPr>
            <a:r>
              <a:rPr lang="en"/>
              <a:t>Zipf’s law helps us understand the statistical properties and the structure of language</a:t>
            </a:r>
            <a:endParaRPr/>
          </a:p>
          <a:p>
            <a:pPr indent="-310832" lvl="1" marL="914400" rtl="0" algn="l">
              <a:spcBef>
                <a:spcPts val="0"/>
              </a:spcBef>
              <a:spcAft>
                <a:spcPts val="0"/>
              </a:spcAft>
              <a:buSzPct val="100000"/>
              <a:buChar char="-"/>
            </a:pPr>
            <a:r>
              <a:rPr lang="en"/>
              <a:t>Guide us to design a better NLP systems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Zipf Mystery</a:t>
            </a:r>
            <a:endParaRPr/>
          </a:p>
        </p:txBody>
      </p:sp>
      <p:pic>
        <p:nvPicPr>
          <p:cNvPr descr="Support Vsauce, your brain, Alzheimer's research, and other YouTube educators by joining THE CURIOSITY BOX: a seasonal delivery of viral science toys made by Vsauce! A portion of all proceeds goes to Alzheimer's research and our Inquisitive Fellowship, a program that gives money and resources directly to rising STEM channels here on YouTube! https://www.curiositybox.com&#10;&#10;http://www.twitter.com/tweetsauce&#10;http://www.instagram.com/electricpants&#10;&#10;WordCount.org http://www.wordcount.org/&#10;How many days have you been alive? http://www.beatcanvas.com/daysalive.asp&#10;random letter generator: http://www.dave-reed.com/Nifty/randSeq.html&#10;Dictionary of Obscure Sorrows: https://www.youtube.com/user/obscuresorrows&#10;&#10;Word frequency resources:&#10;[lemmatized] https://en.wikipedia.org/wiki/Most_common_words_in_English&#10;http://www.uow.edu.au/~dlee/corpora.htm&#10;http://www.wordfrequency.info&#10;http://www.anc.org/data/anc-second-release/frequency-data/&#10;http://www.titania.bham.ac.uk/docs/&#10;http://www.kilgarriff.co.uk/bnc-readme.html#raw&#10;https://en.wiktionary.org/wiki/Wiktionary:Frequency_lists&#10;http://ucrel.lancs.ac.uk/bncfreq/&#10;[PDF] http://www.wordfrequency.info/files/entries.pdf&#10;[combined Wikipedia and Gutenberg] http://www.monlp.com/2012/04/16/calculating-word-and-n-gram-statistics-from-a-wikipedia-corpora/&#10;http://corpus.byu.edu/coca/files/100k_samples.txt&#10;http://corpus.byu.edu/&#10;http://corpus.leeds.ac.uk/list.html&#10;https://books.google.co.uk/books?id=ja1_AAAAQBAJ&amp;dq=word+frequency+coca&amp;lr=&#10;http://www.ling.helsinki.fi/kit/2009s/clt231/NLTK/book/ch01-LanguageProcessingAndPython.html&#10;&#10;Great Zipf's law papers: &#10;http://colala.bcs.rochester.edu/papers/piantadosi2014zipfs.pdf&#10;http://www.ling.upenn.edu/~ycharles/sign708.pdf&#10;http://arxiv.org/pdf/cond-mat/0412004.pdf&#10;http://www-personal.umich.edu/~mejn/courses/2006/cmplxsys899/powerlaws.pdf&#10;&#10;Zipf’s law articles and discussions:&#10;http://www.theatlantic.com/magazine/archive/2002/04/seeing-around-corners/302471/&#10;http://io9.com/the-mysterious-law-that-governs-the-size-of-your-city-1479244159?utm_expid=66866090-48.Ej9760cOTJCPS_Bq4mjoww.0&#10;https://plus.maths.org/content/os/latestnews/may-aug08/food/index&#10;http://judson.blogs.nytimes.com/2009/05/19/math-and-the-city/?em&#10;https://plus.maths.org/content/mystery-zipf?src=aop&#10;http://www.datasciencecentral.com/profiles/blogs/why-zipf-s-law-explains-so-many-big-data-and-physics-phenomenons&#10;https://en.wikipedia.org/wiki/Zipf%27s_law&#10;&#10;other Zipf’s law PDFs&#10;http://ftp.iza.org/dp3928.pdf&#10;http://arxiv.org/pdf/1402.2965.pdf&#10;http://arxiv.org/pdf/1104.3199.pdf&#10;http://www.lel.ed.ac.uk/~jim/zipfjrh.pdf&#10;http://www.ncbi.nlm.nih.gov/pmc/articles/PMC2834740/#pone.0009411-Mandelbrot1&#10;http://polymer.bu.edu/hes/articles/pgs02a.pdf&#10;in untranslated language: http://arxiv.org/pdf/0808.2904.pdf&#10;http://pages.stern.nyu.edu/~xgabaix/papers/zipf.pdf&#10;http://www.hpl.hp.com/research/idl/papers/ranking/ranking.html&#10;http://statweb.stanford.edu/~owen/courses/306a/ZipfAndGutenberg.pdf&#10;http://arxiv.org/pdf/1310.0448v3.pdf&#10;http://www.kornai.com/Papers/glotto5.pdf&#10;&#10;Zipf’s law slides:&#10;http://www.slideshare.net/guest9fc47a/nlp-new-words&#10;&#10;Pareto Principle and related ‘laws’:&#10;http://www.squawkpoint.com/2013/03/pareto-principle/&#10;http://billyshall.com/blog/post/paretos-principle&#10;https://en.wikipedia.org/wiki/Pareto_principle&#10;&#10;Random typing and Zipf:&#10;http://www.longtail.com/the_long_tail/2006/09/is_zipfs_law_ju.html&#10;health 80/20: http://archive.ahrq.gov/research/findings/factsheets/costs/expriach/expriach1.html&#10;&#10;Principle of least effort:&#10;https://en.wikipedia.org/wiki/Principle_of_least_effort&#10;https://en.wikipedia.org/wiki/Satisficing&#10;http://www.pnas.org/content/100/3/788.full.pdf [PDF]&#10;http://csiss.org/classics/content/99&#10;&#10;self organized criticality:&#10;http://journal.frontiersin.org/article/10.3389/fnsys.2014.00166/full&#10;&#10;Hapax Legomenon: &#10;http://campus.albion.edu/english/2011/02/15/hapax-legomenon/&#10;http://www.dailywritingtips.com/is-that-a-hapax-legomenon/&#10;https://en.wikipedia.org/wiki/Hapax_legomenon&#10;[PDF] http://www.aclweb.org/anthology/J10-4003&#10;http://www.wired.com/2012/01/hapax-legomena-and-zipfs-law/&#10;http://oed.hertford.ox.ac.uk/main/content/view/402/450/index.html#_ftn1&#10;http://oed.hertford.ox.ac.uk/main/content/view/36/166/index.html&#10;&#10;Learning curve: https://en.wikipedia.org/wiki/Learning_curve&#10;&#10;Forgetting curve:&#10;http://www.trainingindustry.com/wiki/entries/forgetting-curve.aspx&#10;https://en.wikipedia.org/wiki/Forgetting_curve&#10;&#10;Experience curve effects: https://en.wikipedia.org/wiki/Experience_curve_effects&#10;&#10;Forgetting&#10;and zipf's law: http://act-r.psy.cmu.edu/wordpress/wp-content/uploads/2012/12/37JRA_LS_PS_1991.pdf&#10;http://public.psych.iastate.edu/shacarp/Wixted_Carpenter_2007.pdf&#10;http://marshalljonesjr.com/youll-remember-less-than-001-of-your-life/&#10;https://en.wikipedia.org/wiki/Forgetting&#10;https://www.reddit.com/r/Showerthoughts/comments/3gu9qk/it_only_takes_three_generations_for_you_to_be/&#10;&#10;music from:&#10;http://www.youtube.com/jakechudnow&#10;http://www.audionetwork.com" id="157" name="Google Shape;157;p29" title="The Zipf Mystery">
            <a:hlinkClick r:id="rId3"/>
          </p:cNvPr>
          <p:cNvPicPr preferRelativeResize="0"/>
          <p:nvPr/>
        </p:nvPicPr>
        <p:blipFill>
          <a:blip r:embed="rId4">
            <a:alphaModFix/>
          </a:blip>
          <a:stretch>
            <a:fillRect/>
          </a:stretch>
        </p:blipFill>
        <p:spPr>
          <a:xfrm>
            <a:off x="1599350" y="1192725"/>
            <a:ext cx="6530750" cy="3673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Insights</a:t>
            </a:r>
            <a:endParaRPr/>
          </a:p>
        </p:txBody>
      </p:sp>
      <p:sp>
        <p:nvSpPr>
          <p:cNvPr id="163" name="Google Shape;16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If language has such strong statistical regularities, can we actually quantify those regularities?</a:t>
            </a:r>
            <a:br>
              <a:rPr lang="en"/>
            </a:br>
            <a:endParaRPr/>
          </a:p>
          <a:p>
            <a:pPr indent="-342900" lvl="0" marL="457200" rtl="0" algn="l">
              <a:spcBef>
                <a:spcPts val="0"/>
              </a:spcBef>
              <a:spcAft>
                <a:spcPts val="0"/>
              </a:spcAft>
              <a:buSzPts val="1800"/>
              <a:buChar char="-"/>
            </a:pPr>
            <a:r>
              <a:rPr lang="en"/>
              <a:t>Can we measure:</a:t>
            </a:r>
            <a:endParaRPr/>
          </a:p>
          <a:p>
            <a:pPr indent="-317500" lvl="1" marL="914400" rtl="0" algn="l">
              <a:spcBef>
                <a:spcPts val="0"/>
              </a:spcBef>
              <a:spcAft>
                <a:spcPts val="0"/>
              </a:spcAft>
              <a:buSzPts val="1400"/>
              <a:buChar char="-"/>
            </a:pPr>
            <a:r>
              <a:rPr lang="en"/>
              <a:t>Predictability</a:t>
            </a:r>
            <a:endParaRPr/>
          </a:p>
          <a:p>
            <a:pPr indent="-317500" lvl="1" marL="914400" rtl="0" algn="l">
              <a:spcBef>
                <a:spcPts val="0"/>
              </a:spcBef>
              <a:spcAft>
                <a:spcPts val="0"/>
              </a:spcAft>
              <a:buSzPts val="1400"/>
              <a:buChar char="-"/>
            </a:pPr>
            <a:r>
              <a:rPr lang="en"/>
              <a:t>Uncertainty</a:t>
            </a:r>
            <a:endParaRPr/>
          </a:p>
          <a:p>
            <a:pPr indent="-317500" lvl="1" marL="914400" rtl="0" algn="l">
              <a:spcBef>
                <a:spcPts val="0"/>
              </a:spcBef>
              <a:spcAft>
                <a:spcPts val="0"/>
              </a:spcAft>
              <a:buSzPts val="1400"/>
              <a:buChar char="-"/>
            </a:pPr>
            <a:r>
              <a:rPr lang="en"/>
              <a:t>Information</a:t>
            </a:r>
            <a:endParaRPr/>
          </a:p>
          <a:p>
            <a:pPr indent="-317500" lvl="1" marL="914400" rtl="0" algn="l">
              <a:spcBef>
                <a:spcPts val="0"/>
              </a:spcBef>
              <a:spcAft>
                <a:spcPts val="0"/>
              </a:spcAft>
              <a:buSzPts val="1400"/>
              <a:buChar char="-"/>
            </a:pPr>
            <a:r>
              <a:rPr lang="en"/>
              <a:t>Redundancy</a:t>
            </a:r>
            <a:br>
              <a:rPr lang="en"/>
            </a:br>
            <a:endParaRPr/>
          </a:p>
          <a:p>
            <a:pPr indent="-342900" lvl="0" marL="457200" rtl="0" algn="l">
              <a:spcBef>
                <a:spcPts val="0"/>
              </a:spcBef>
              <a:spcAft>
                <a:spcPts val="0"/>
              </a:spcAft>
              <a:buSzPts val="1800"/>
              <a:buChar char="-"/>
            </a:pPr>
            <a:r>
              <a:rPr lang="en"/>
              <a:t>Claude Shannon &amp; World war II</a:t>
            </a:r>
            <a:endParaRPr/>
          </a:p>
          <a:p>
            <a:pPr indent="-317500" lvl="1" marL="914400" rtl="0" algn="l">
              <a:spcBef>
                <a:spcPts val="0"/>
              </a:spcBef>
              <a:spcAft>
                <a:spcPts val="0"/>
              </a:spcAft>
              <a:buSzPts val="1400"/>
              <a:buChar char="-"/>
            </a:pPr>
            <a:r>
              <a:rPr lang="en"/>
              <a:t>Communication &amp; Code breaking</a:t>
            </a:r>
            <a:endParaRPr/>
          </a:p>
          <a:p>
            <a:pPr indent="-317500" lvl="1" marL="914400" rtl="0" algn="l">
              <a:spcBef>
                <a:spcPts val="0"/>
              </a:spcBef>
              <a:spcAft>
                <a:spcPts val="0"/>
              </a:spcAft>
              <a:buSzPts val="1400"/>
              <a:buChar char="-"/>
            </a:pPr>
            <a:r>
              <a:rPr lang="en"/>
              <a:t>How can information be represented computationally?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idx="4294967295" type="body"/>
          </p:nvPr>
        </p:nvSpPr>
        <p:spPr>
          <a:xfrm>
            <a:off x="628560" y="739843"/>
            <a:ext cx="78864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Word War II (1939-1945)</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120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Bell Labs (1943)</a:t>
            </a:r>
            <a:endParaRPr b="0" i="0" sz="2100" u="none" cap="none" strike="noStrike">
              <a:solidFill>
                <a:srgbClr val="000000"/>
              </a:solidFill>
              <a:latin typeface="Calibri"/>
              <a:ea typeface="Calibri"/>
              <a:cs typeface="Calibri"/>
              <a:sym typeface="Calibri"/>
            </a:endParaRPr>
          </a:p>
        </p:txBody>
      </p:sp>
      <p:pic>
        <p:nvPicPr>
          <p:cNvPr id="169" name="Google Shape;169;p31"/>
          <p:cNvPicPr preferRelativeResize="0"/>
          <p:nvPr/>
        </p:nvPicPr>
        <p:blipFill rotWithShape="1">
          <a:blip r:embed="rId3">
            <a:alphaModFix/>
          </a:blip>
          <a:srcRect b="0" l="0" r="0" t="0"/>
          <a:stretch/>
        </p:blipFill>
        <p:spPr>
          <a:xfrm>
            <a:off x="6295320" y="171450"/>
            <a:ext cx="2657340" cy="2957310"/>
          </a:xfrm>
          <a:prstGeom prst="rect">
            <a:avLst/>
          </a:prstGeom>
          <a:noFill/>
          <a:ln>
            <a:noFill/>
          </a:ln>
        </p:spPr>
      </p:pic>
      <p:pic>
        <p:nvPicPr>
          <p:cNvPr id="170" name="Google Shape;170;p31"/>
          <p:cNvPicPr preferRelativeResize="0"/>
          <p:nvPr/>
        </p:nvPicPr>
        <p:blipFill rotWithShape="1">
          <a:blip r:embed="rId4">
            <a:alphaModFix/>
          </a:blip>
          <a:srcRect b="0" l="0" r="0" t="0"/>
          <a:stretch/>
        </p:blipFill>
        <p:spPr>
          <a:xfrm>
            <a:off x="4099950" y="1094580"/>
            <a:ext cx="2175390" cy="2646541"/>
          </a:xfrm>
          <a:prstGeom prst="rect">
            <a:avLst/>
          </a:prstGeom>
          <a:noFill/>
          <a:ln>
            <a:noFill/>
          </a:ln>
        </p:spPr>
      </p:pic>
      <p:sp>
        <p:nvSpPr>
          <p:cNvPr id="171" name="Google Shape;171;p31"/>
          <p:cNvSpPr/>
          <p:nvPr/>
        </p:nvSpPr>
        <p:spPr>
          <a:xfrm>
            <a:off x="7194420" y="3086640"/>
            <a:ext cx="1127400" cy="2730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Word War II</a:t>
            </a:r>
            <a:endParaRPr b="0" i="0" sz="1400" u="none" cap="none" strike="noStrike">
              <a:latin typeface="Arial"/>
              <a:ea typeface="Arial"/>
              <a:cs typeface="Arial"/>
              <a:sym typeface="Arial"/>
            </a:endParaRPr>
          </a:p>
        </p:txBody>
      </p:sp>
      <p:sp>
        <p:nvSpPr>
          <p:cNvPr id="172" name="Google Shape;172;p31"/>
          <p:cNvSpPr/>
          <p:nvPr/>
        </p:nvSpPr>
        <p:spPr>
          <a:xfrm>
            <a:off x="4602690" y="3700350"/>
            <a:ext cx="14373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Bell Laboratory</a:t>
            </a:r>
            <a:endParaRPr b="0" i="0" sz="1400" u="none" cap="none" strike="noStrike">
              <a:latin typeface="Arial"/>
              <a:ea typeface="Arial"/>
              <a:cs typeface="Arial"/>
              <a:sym typeface="Arial"/>
            </a:endParaRPr>
          </a:p>
        </p:txBody>
      </p:sp>
      <p:pic>
        <p:nvPicPr>
          <p:cNvPr id="173" name="Google Shape;173;p31"/>
          <p:cNvPicPr preferRelativeResize="0"/>
          <p:nvPr/>
        </p:nvPicPr>
        <p:blipFill rotWithShape="1">
          <a:blip r:embed="rId5">
            <a:alphaModFix/>
          </a:blip>
          <a:srcRect b="0" l="0" r="0" t="0"/>
          <a:stretch/>
        </p:blipFill>
        <p:spPr>
          <a:xfrm>
            <a:off x="1590840" y="2908710"/>
            <a:ext cx="1220940" cy="1662120"/>
          </a:xfrm>
          <a:prstGeom prst="rect">
            <a:avLst/>
          </a:prstGeom>
          <a:noFill/>
          <a:ln>
            <a:noFill/>
          </a:ln>
        </p:spPr>
      </p:pic>
      <p:pic>
        <p:nvPicPr>
          <p:cNvPr id="174" name="Google Shape;174;p31"/>
          <p:cNvPicPr preferRelativeResize="0"/>
          <p:nvPr/>
        </p:nvPicPr>
        <p:blipFill rotWithShape="1">
          <a:blip r:embed="rId6">
            <a:alphaModFix/>
          </a:blip>
          <a:srcRect b="0" l="0" r="0" t="0"/>
          <a:stretch/>
        </p:blipFill>
        <p:spPr>
          <a:xfrm>
            <a:off x="2878200" y="2908710"/>
            <a:ext cx="1220940" cy="1662119"/>
          </a:xfrm>
          <a:prstGeom prst="rect">
            <a:avLst/>
          </a:prstGeom>
          <a:noFill/>
          <a:ln>
            <a:noFill/>
          </a:ln>
        </p:spPr>
      </p:pic>
      <p:sp>
        <p:nvSpPr>
          <p:cNvPr id="175" name="Google Shape;175;p31"/>
          <p:cNvSpPr/>
          <p:nvPr/>
        </p:nvSpPr>
        <p:spPr>
          <a:xfrm>
            <a:off x="3005910" y="4531680"/>
            <a:ext cx="10164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Alan Turing</a:t>
            </a:r>
            <a:endParaRPr b="0" i="0" sz="1400" u="none" cap="none" strike="noStrike">
              <a:latin typeface="Arial"/>
              <a:ea typeface="Arial"/>
              <a:cs typeface="Arial"/>
              <a:sym typeface="Arial"/>
            </a:endParaRPr>
          </a:p>
        </p:txBody>
      </p:sp>
      <p:sp>
        <p:nvSpPr>
          <p:cNvPr id="176" name="Google Shape;176;p31"/>
          <p:cNvSpPr/>
          <p:nvPr/>
        </p:nvSpPr>
        <p:spPr>
          <a:xfrm>
            <a:off x="1693440" y="4524930"/>
            <a:ext cx="10164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CE Shannon</a:t>
            </a:r>
            <a:endParaRPr b="0" i="0" sz="1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                              Timeline</a:t>
            </a:r>
            <a:endParaRPr b="0" sz="3300" strike="noStrike">
              <a:solidFill>
                <a:srgbClr val="000000"/>
              </a:solidFill>
              <a:latin typeface="Calibri"/>
              <a:ea typeface="Calibri"/>
              <a:cs typeface="Calibri"/>
              <a:sym typeface="Calibri"/>
            </a:endParaRPr>
          </a:p>
        </p:txBody>
      </p:sp>
      <p:sp>
        <p:nvSpPr>
          <p:cNvPr id="182" name="Google Shape;182;p32"/>
          <p:cNvSpPr txBox="1"/>
          <p:nvPr>
            <p:ph idx="10" type="dt"/>
          </p:nvPr>
        </p:nvSpPr>
        <p:spPr>
          <a:xfrm>
            <a:off x="628560" y="4767390"/>
            <a:ext cx="2057100" cy="273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B8B8B"/>
              </a:buClr>
              <a:buSzPts val="900"/>
              <a:buFont typeface="Calibri"/>
              <a:buNone/>
            </a:pPr>
            <a:r>
              <a:rPr b="0" i="0" lang="en" sz="900" u="none" cap="none" strike="noStrike">
                <a:solidFill>
                  <a:srgbClr val="8B8B8B"/>
                </a:solidFill>
                <a:latin typeface="Calibri"/>
                <a:ea typeface="Calibri"/>
                <a:cs typeface="Calibri"/>
                <a:sym typeface="Calibri"/>
              </a:rPr>
              <a:t>30-09-2020</a:t>
            </a:r>
            <a:endParaRPr b="0" i="0" sz="900" u="none" cap="none" strike="noStrike">
              <a:solidFill>
                <a:srgbClr val="8B8B8B"/>
              </a:solidFill>
              <a:latin typeface="Times New Roman"/>
              <a:ea typeface="Times New Roman"/>
              <a:cs typeface="Times New Roman"/>
              <a:sym typeface="Times New Roman"/>
            </a:endParaRPr>
          </a:p>
        </p:txBody>
      </p:sp>
      <p:pic>
        <p:nvPicPr>
          <p:cNvPr id="183" name="Google Shape;183;p32"/>
          <p:cNvPicPr preferRelativeResize="0"/>
          <p:nvPr/>
        </p:nvPicPr>
        <p:blipFill rotWithShape="1">
          <a:blip r:embed="rId3">
            <a:alphaModFix/>
          </a:blip>
          <a:srcRect b="0" l="0" r="0" t="0"/>
          <a:stretch/>
        </p:blipFill>
        <p:spPr>
          <a:xfrm>
            <a:off x="5868990" y="930960"/>
            <a:ext cx="1617570" cy="2202390"/>
          </a:xfrm>
          <a:prstGeom prst="rect">
            <a:avLst/>
          </a:prstGeom>
          <a:noFill/>
          <a:ln>
            <a:noFill/>
          </a:ln>
        </p:spPr>
      </p:pic>
      <p:pic>
        <p:nvPicPr>
          <p:cNvPr id="184" name="Google Shape;184;p32"/>
          <p:cNvPicPr preferRelativeResize="0"/>
          <p:nvPr/>
        </p:nvPicPr>
        <p:blipFill rotWithShape="1">
          <a:blip r:embed="rId4">
            <a:alphaModFix/>
          </a:blip>
          <a:srcRect b="0" l="0" r="0" t="0"/>
          <a:stretch/>
        </p:blipFill>
        <p:spPr>
          <a:xfrm>
            <a:off x="1209060" y="960390"/>
            <a:ext cx="1560870" cy="2125169"/>
          </a:xfrm>
          <a:prstGeom prst="rect">
            <a:avLst/>
          </a:prstGeom>
          <a:noFill/>
          <a:ln>
            <a:noFill/>
          </a:ln>
        </p:spPr>
      </p:pic>
      <p:sp>
        <p:nvSpPr>
          <p:cNvPr id="185" name="Google Shape;185;p32"/>
          <p:cNvSpPr/>
          <p:nvPr/>
        </p:nvSpPr>
        <p:spPr>
          <a:xfrm>
            <a:off x="974970" y="3039120"/>
            <a:ext cx="2196600" cy="4329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Alan Turing</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Clr>
                <a:srgbClr val="202122"/>
              </a:buClr>
              <a:buSzPts val="1100"/>
              <a:buFont typeface="Calibri"/>
              <a:buNone/>
            </a:pPr>
            <a:r>
              <a:rPr b="0" i="0" lang="en" sz="1100" u="none" cap="none" strike="noStrike">
                <a:solidFill>
                  <a:srgbClr val="202122"/>
                </a:solidFill>
                <a:latin typeface="Calibri"/>
                <a:ea typeface="Calibri"/>
                <a:cs typeface="Calibri"/>
                <a:sym typeface="Calibri"/>
              </a:rPr>
              <a:t>(23 June 1912 – 7 June 1954)</a:t>
            </a:r>
            <a:endParaRPr b="0" i="0" sz="1100" u="none" cap="none" strike="noStrike">
              <a:latin typeface="Arial"/>
              <a:ea typeface="Arial"/>
              <a:cs typeface="Arial"/>
              <a:sym typeface="Arial"/>
            </a:endParaRPr>
          </a:p>
        </p:txBody>
      </p:sp>
      <p:sp>
        <p:nvSpPr>
          <p:cNvPr id="186" name="Google Shape;186;p32"/>
          <p:cNvSpPr/>
          <p:nvPr/>
        </p:nvSpPr>
        <p:spPr>
          <a:xfrm>
            <a:off x="5732640" y="3133620"/>
            <a:ext cx="2253000" cy="432900"/>
          </a:xfrm>
          <a:prstGeom prst="rect">
            <a:avLst/>
          </a:prstGeom>
          <a:noFill/>
          <a:ln>
            <a:noFill/>
          </a:ln>
        </p:spPr>
        <p:txBody>
          <a:bodyPr anchorCtr="0" anchor="t"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CE Shannon</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Clr>
                <a:srgbClr val="202122"/>
              </a:buClr>
              <a:buSzPts val="1100"/>
              <a:buFont typeface="Calibri"/>
              <a:buNone/>
            </a:pPr>
            <a:r>
              <a:rPr b="0" i="0" lang="en" sz="1100" u="none" cap="none" strike="noStrike">
                <a:solidFill>
                  <a:srgbClr val="202122"/>
                </a:solidFill>
                <a:latin typeface="Calibri"/>
                <a:ea typeface="Calibri"/>
                <a:cs typeface="Calibri"/>
                <a:sym typeface="Calibri"/>
              </a:rPr>
              <a:t>(30 April 1916 – 24 Feb 2001)</a:t>
            </a:r>
            <a:endParaRPr b="0" i="0" sz="1100" u="none" cap="none" strike="noStrike">
              <a:latin typeface="Arial"/>
              <a:ea typeface="Arial"/>
              <a:cs typeface="Arial"/>
              <a:sym typeface="Arial"/>
            </a:endParaRPr>
          </a:p>
        </p:txBody>
      </p:sp>
      <p:sp>
        <p:nvSpPr>
          <p:cNvPr id="187" name="Google Shape;187;p32"/>
          <p:cNvSpPr/>
          <p:nvPr/>
        </p:nvSpPr>
        <p:spPr>
          <a:xfrm>
            <a:off x="434160" y="3626910"/>
            <a:ext cx="3489300" cy="1437900"/>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t" bIns="33750" lIns="67500" spcFirstLastPara="1" rIns="67500" wrap="square" tIns="33750">
            <a:noAutofit/>
          </a:bodyPr>
          <a:lstStyle/>
          <a:p>
            <a:pPr indent="-215900" lvl="0" marL="215900" marR="0" rtl="0" algn="l">
              <a:lnSpc>
                <a:spcPct val="100000"/>
              </a:lnSpc>
              <a:spcBef>
                <a:spcPts val="0"/>
              </a:spcBef>
              <a:spcAft>
                <a:spcPts val="0"/>
              </a:spcAft>
              <a:buClr>
                <a:srgbClr val="0070C0"/>
              </a:buClr>
              <a:buSzPts val="1400"/>
              <a:buFont typeface="Arial"/>
              <a:buChar char="•"/>
            </a:pPr>
            <a:r>
              <a:rPr b="0" i="0" lang="en" sz="1400" u="none" cap="none" strike="noStrike">
                <a:solidFill>
                  <a:srgbClr val="0070C0"/>
                </a:solidFill>
                <a:latin typeface="Calibri"/>
                <a:ea typeface="Calibri"/>
                <a:cs typeface="Calibri"/>
                <a:sym typeface="Calibri"/>
              </a:rPr>
              <a:t>1931-1934:</a:t>
            </a:r>
            <a:r>
              <a:rPr b="0" i="0" lang="en" sz="1400" u="none" cap="none" strike="noStrike">
                <a:solidFill>
                  <a:srgbClr val="000000"/>
                </a:solidFill>
                <a:latin typeface="Calibri"/>
                <a:ea typeface="Calibri"/>
                <a:cs typeface="Calibri"/>
                <a:sym typeface="Calibri"/>
              </a:rPr>
              <a:t> Undergrad </a:t>
            </a:r>
            <a:r>
              <a:rPr b="0" i="0" lang="en" sz="1100" u="none" cap="none" strike="noStrike">
                <a:solidFill>
                  <a:srgbClr val="000000"/>
                </a:solidFill>
                <a:latin typeface="Calibri"/>
                <a:ea typeface="Calibri"/>
                <a:cs typeface="Calibri"/>
                <a:sym typeface="Calibri"/>
              </a:rPr>
              <a:t>(King’s College, Cambridge)</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Calibri"/>
              <a:buNone/>
            </a:pPr>
            <a:r>
              <a:rPr b="0" i="0" lang="en" sz="1100" u="none" cap="none" strike="noStrike">
                <a:solidFill>
                  <a:srgbClr val="000000"/>
                </a:solidFill>
                <a:latin typeface="Calibri"/>
                <a:ea typeface="Calibri"/>
                <a:cs typeface="Calibri"/>
                <a:sym typeface="Calibri"/>
              </a:rPr>
              <a:t>      [*Independently proved </a:t>
            </a:r>
            <a:r>
              <a:rPr b="0" i="1" lang="en" sz="1100" u="none" cap="none" strike="noStrike">
                <a:solidFill>
                  <a:srgbClr val="0070C0"/>
                </a:solidFill>
                <a:latin typeface="Calibri"/>
                <a:ea typeface="Calibri"/>
                <a:cs typeface="Calibri"/>
                <a:sym typeface="Calibri"/>
              </a:rPr>
              <a:t>Central Limit Theorem</a:t>
            </a:r>
            <a:r>
              <a:rPr b="0" i="0" lang="en" sz="1100" u="none" cap="none" strike="noStrike">
                <a:solidFill>
                  <a:srgbClr val="000000"/>
                </a:solidFill>
                <a:latin typeface="Calibri"/>
                <a:ea typeface="Calibri"/>
                <a:cs typeface="Calibri"/>
                <a:sym typeface="Calibri"/>
              </a:rPr>
              <a:t>]</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SzPts val="1100"/>
              <a:buFont typeface="Arial"/>
              <a:buNone/>
            </a:pPr>
            <a:r>
              <a:t/>
            </a:r>
            <a:endParaRPr b="0" i="0" sz="1100" u="none" cap="none" strike="noStrike">
              <a:latin typeface="Arial"/>
              <a:ea typeface="Arial"/>
              <a:cs typeface="Arial"/>
              <a:sym typeface="Arial"/>
            </a:endParaRPr>
          </a:p>
          <a:p>
            <a:pPr indent="-215900" lvl="0" marL="215900" marR="0" rtl="0" algn="l">
              <a:lnSpc>
                <a:spcPct val="100000"/>
              </a:lnSpc>
              <a:spcBef>
                <a:spcPts val="0"/>
              </a:spcBef>
              <a:spcAft>
                <a:spcPts val="0"/>
              </a:spcAft>
              <a:buClr>
                <a:srgbClr val="0070C0"/>
              </a:buClr>
              <a:buSzPts val="1400"/>
              <a:buFont typeface="Arial"/>
              <a:buChar char="•"/>
            </a:pPr>
            <a:r>
              <a:rPr b="0" i="0" lang="en" sz="1400" u="none" cap="none" strike="noStrike">
                <a:solidFill>
                  <a:srgbClr val="0070C0"/>
                </a:solidFill>
                <a:latin typeface="Calibri"/>
                <a:ea typeface="Calibri"/>
                <a:cs typeface="Calibri"/>
                <a:sym typeface="Calibri"/>
              </a:rPr>
              <a:t>1936-1938:</a:t>
            </a:r>
            <a:r>
              <a:rPr b="0" i="0" lang="en" sz="1400" u="none" cap="none" strike="noStrike">
                <a:solidFill>
                  <a:srgbClr val="000000"/>
                </a:solidFill>
                <a:latin typeface="Calibri"/>
                <a:ea typeface="Calibri"/>
                <a:cs typeface="Calibri"/>
                <a:sym typeface="Calibri"/>
              </a:rPr>
              <a:t> PhD </a:t>
            </a:r>
            <a:r>
              <a:rPr b="0" i="0" lang="en" sz="1100" u="none" cap="none" strike="noStrike">
                <a:solidFill>
                  <a:srgbClr val="000000"/>
                </a:solidFill>
                <a:latin typeface="Calibri"/>
                <a:ea typeface="Calibri"/>
                <a:cs typeface="Calibri"/>
                <a:sym typeface="Calibri"/>
              </a:rPr>
              <a:t>(Princeton University)</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Calibri"/>
              <a:buNone/>
            </a:pPr>
            <a:r>
              <a:rPr b="0" i="0" lang="en" sz="1100" u="none" cap="none" strike="noStrike">
                <a:solidFill>
                  <a:srgbClr val="000000"/>
                </a:solidFill>
                <a:latin typeface="Calibri"/>
                <a:ea typeface="Calibri"/>
                <a:cs typeface="Calibri"/>
                <a:sym typeface="Calibri"/>
              </a:rPr>
              <a:t>      [Formulation of Turing Machine – </a:t>
            </a:r>
            <a:r>
              <a:rPr b="0" i="1" lang="en" sz="1100" u="none" cap="none" strike="noStrike">
                <a:solidFill>
                  <a:srgbClr val="0070C0"/>
                </a:solidFill>
                <a:latin typeface="Calibri"/>
                <a:ea typeface="Calibri"/>
                <a:cs typeface="Calibri"/>
                <a:sym typeface="Calibri"/>
              </a:rPr>
              <a:t>Church-Turing thesis</a:t>
            </a:r>
            <a:r>
              <a:rPr b="0" i="0" lang="en" sz="1100" u="none" cap="none" strike="noStrike">
                <a:solidFill>
                  <a:srgbClr val="000000"/>
                </a:solidFill>
                <a:latin typeface="Calibri"/>
                <a:ea typeface="Calibri"/>
                <a:cs typeface="Calibri"/>
                <a:sym typeface="Calibri"/>
              </a:rPr>
              <a:t>]</a:t>
            </a:r>
            <a:endParaRPr b="0" i="0" sz="1100" u="none" cap="none" strike="noStrike">
              <a:latin typeface="Arial"/>
              <a:ea typeface="Arial"/>
              <a:cs typeface="Arial"/>
              <a:sym typeface="Arial"/>
            </a:endParaRPr>
          </a:p>
        </p:txBody>
      </p:sp>
      <p:sp>
        <p:nvSpPr>
          <p:cNvPr id="188" name="Google Shape;188;p32"/>
          <p:cNvSpPr/>
          <p:nvPr/>
        </p:nvSpPr>
        <p:spPr>
          <a:xfrm>
            <a:off x="4965575" y="3629074"/>
            <a:ext cx="4029000" cy="1437900"/>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t" bIns="33750" lIns="67500" spcFirstLastPara="1" rIns="67500" wrap="square" tIns="33750">
            <a:noAutofit/>
          </a:bodyPr>
          <a:lstStyle/>
          <a:p>
            <a:pPr indent="-215900" lvl="0" marL="215900" marR="0" rtl="0" algn="l">
              <a:lnSpc>
                <a:spcPct val="150000"/>
              </a:lnSpc>
              <a:spcBef>
                <a:spcPts val="0"/>
              </a:spcBef>
              <a:spcAft>
                <a:spcPts val="0"/>
              </a:spcAft>
              <a:buClr>
                <a:srgbClr val="0070C0"/>
              </a:buClr>
              <a:buSzPts val="1400"/>
              <a:buFont typeface="Arial"/>
              <a:buChar char="•"/>
            </a:pPr>
            <a:r>
              <a:rPr b="0" i="0" lang="en" sz="1400" u="none" cap="none" strike="noStrike">
                <a:solidFill>
                  <a:srgbClr val="0070C0"/>
                </a:solidFill>
                <a:latin typeface="Calibri"/>
                <a:ea typeface="Calibri"/>
                <a:cs typeface="Calibri"/>
                <a:sym typeface="Calibri"/>
              </a:rPr>
              <a:t>1932-36:</a:t>
            </a:r>
            <a:r>
              <a:rPr b="0" i="0" lang="en" sz="1400" u="none" cap="none" strike="noStrike">
                <a:solidFill>
                  <a:srgbClr val="000000"/>
                </a:solidFill>
                <a:latin typeface="Calibri"/>
                <a:ea typeface="Calibri"/>
                <a:cs typeface="Calibri"/>
                <a:sym typeface="Calibri"/>
              </a:rPr>
              <a:t> Undergrad </a:t>
            </a:r>
            <a:r>
              <a:rPr b="0" i="0" lang="en" sz="1100" u="none" cap="none" strike="noStrike">
                <a:solidFill>
                  <a:srgbClr val="000000"/>
                </a:solidFill>
                <a:latin typeface="Calibri"/>
                <a:ea typeface="Calibri"/>
                <a:cs typeface="Calibri"/>
                <a:sym typeface="Calibri"/>
              </a:rPr>
              <a:t>(EE/Maths: University of Michigan)</a:t>
            </a:r>
            <a:endParaRPr b="0" i="0" sz="1100" u="none" cap="none" strike="noStrike">
              <a:latin typeface="Arial"/>
              <a:ea typeface="Arial"/>
              <a:cs typeface="Arial"/>
              <a:sym typeface="Arial"/>
            </a:endParaRPr>
          </a:p>
          <a:p>
            <a:pPr indent="-215900" lvl="0" marL="215900" marR="0" rtl="0" algn="l">
              <a:lnSpc>
                <a:spcPct val="150000"/>
              </a:lnSpc>
              <a:spcBef>
                <a:spcPts val="0"/>
              </a:spcBef>
              <a:spcAft>
                <a:spcPts val="0"/>
              </a:spcAft>
              <a:buClr>
                <a:srgbClr val="0070C0"/>
              </a:buClr>
              <a:buSzPts val="1400"/>
              <a:buFont typeface="Arial"/>
              <a:buChar char="•"/>
            </a:pPr>
            <a:r>
              <a:rPr b="0" i="0" lang="en" sz="1400" u="none" cap="none" strike="noStrike">
                <a:solidFill>
                  <a:srgbClr val="0070C0"/>
                </a:solidFill>
                <a:latin typeface="Calibri"/>
                <a:ea typeface="Calibri"/>
                <a:cs typeface="Calibri"/>
                <a:sym typeface="Calibri"/>
              </a:rPr>
              <a:t>1936-37: </a:t>
            </a:r>
            <a:r>
              <a:rPr b="0" i="0" lang="en" sz="1400" u="none" cap="none" strike="noStrike">
                <a:solidFill>
                  <a:srgbClr val="000000"/>
                </a:solidFill>
                <a:latin typeface="Calibri"/>
                <a:ea typeface="Calibri"/>
                <a:cs typeface="Calibri"/>
                <a:sym typeface="Calibri"/>
              </a:rPr>
              <a:t>Masters </a:t>
            </a:r>
            <a:r>
              <a:rPr b="0" i="0" lang="en" sz="1100" u="none" cap="none" strike="noStrike">
                <a:solidFill>
                  <a:srgbClr val="000000"/>
                </a:solidFill>
                <a:latin typeface="Calibri"/>
                <a:ea typeface="Calibri"/>
                <a:cs typeface="Calibri"/>
                <a:sym typeface="Calibri"/>
              </a:rPr>
              <a:t>(MIT) [Founded </a:t>
            </a:r>
            <a:r>
              <a:rPr b="0" i="1" lang="en" sz="1100" u="none" cap="none" strike="noStrike">
                <a:solidFill>
                  <a:srgbClr val="0070C0"/>
                </a:solidFill>
                <a:latin typeface="Calibri"/>
                <a:ea typeface="Calibri"/>
                <a:cs typeface="Calibri"/>
                <a:sym typeface="Calibri"/>
              </a:rPr>
              <a:t>Digital circuit design theory</a:t>
            </a:r>
            <a:r>
              <a:rPr b="0" i="0" lang="en" sz="1100" u="none" cap="none" strike="noStrike">
                <a:solidFill>
                  <a:srgbClr val="000000"/>
                </a:solidFill>
                <a:latin typeface="Calibri"/>
                <a:ea typeface="Calibri"/>
                <a:cs typeface="Calibri"/>
                <a:sym typeface="Calibri"/>
              </a:rPr>
              <a:t>]</a:t>
            </a:r>
            <a:endParaRPr b="0" i="0" sz="1100" u="none" cap="none" strike="noStrike">
              <a:latin typeface="Arial"/>
              <a:ea typeface="Arial"/>
              <a:cs typeface="Arial"/>
              <a:sym typeface="Arial"/>
            </a:endParaRPr>
          </a:p>
          <a:p>
            <a:pPr indent="-215900" lvl="0" marL="215900" marR="0" rtl="0" algn="l">
              <a:lnSpc>
                <a:spcPct val="150000"/>
              </a:lnSpc>
              <a:spcBef>
                <a:spcPts val="0"/>
              </a:spcBef>
              <a:spcAft>
                <a:spcPts val="0"/>
              </a:spcAft>
              <a:buClr>
                <a:srgbClr val="0070C0"/>
              </a:buClr>
              <a:buSzPts val="1400"/>
              <a:buFont typeface="Arial"/>
              <a:buChar char="•"/>
            </a:pPr>
            <a:r>
              <a:rPr b="0" i="0" lang="en" sz="1400" u="none" cap="none" strike="noStrike">
                <a:solidFill>
                  <a:srgbClr val="0070C0"/>
                </a:solidFill>
                <a:latin typeface="Calibri"/>
                <a:ea typeface="Calibri"/>
                <a:cs typeface="Calibri"/>
                <a:sym typeface="Calibri"/>
              </a:rPr>
              <a:t>1940:</a:t>
            </a:r>
            <a:r>
              <a:rPr b="0" i="0" lang="en" sz="1400" u="none" cap="none" strike="noStrike">
                <a:solidFill>
                  <a:srgbClr val="000000"/>
                </a:solidFill>
                <a:latin typeface="Calibri"/>
                <a:ea typeface="Calibri"/>
                <a:cs typeface="Calibri"/>
                <a:sym typeface="Calibri"/>
              </a:rPr>
              <a:t> PhD </a:t>
            </a:r>
            <a:r>
              <a:rPr b="0" i="0" lang="en" sz="1100" u="none" cap="none" strike="noStrike">
                <a:solidFill>
                  <a:srgbClr val="000000"/>
                </a:solidFill>
                <a:latin typeface="Calibri"/>
                <a:ea typeface="Calibri"/>
                <a:cs typeface="Calibri"/>
                <a:sym typeface="Calibri"/>
              </a:rPr>
              <a:t>(MIT) [</a:t>
            </a:r>
            <a:r>
              <a:rPr b="0" i="1" lang="en" sz="1100" u="none" cap="none" strike="noStrike">
                <a:solidFill>
                  <a:srgbClr val="0070C0"/>
                </a:solidFill>
                <a:latin typeface="Calibri"/>
                <a:ea typeface="Calibri"/>
                <a:cs typeface="Calibri"/>
                <a:sym typeface="Calibri"/>
              </a:rPr>
              <a:t>An Algebra for Theoretical Genetics</a:t>
            </a:r>
            <a:r>
              <a:rPr b="0" i="0" lang="en" sz="1100" u="none" cap="none" strike="noStrike">
                <a:solidFill>
                  <a:srgbClr val="000000"/>
                </a:solidFill>
                <a:latin typeface="Calibri"/>
                <a:ea typeface="Calibri"/>
                <a:cs typeface="Calibri"/>
                <a:sym typeface="Calibri"/>
              </a:rPr>
              <a:t>]</a:t>
            </a:r>
            <a:endParaRPr b="0" i="0" sz="1100" u="none" cap="none" strike="noStrike">
              <a:latin typeface="Arial"/>
              <a:ea typeface="Arial"/>
              <a:cs typeface="Arial"/>
              <a:sym typeface="Arial"/>
            </a:endParaRPr>
          </a:p>
        </p:txBody>
      </p:sp>
      <p:sp>
        <p:nvSpPr>
          <p:cNvPr id="189" name="Google Shape;189;p32"/>
          <p:cNvSpPr txBox="1"/>
          <p:nvPr/>
        </p:nvSpPr>
        <p:spPr>
          <a:xfrm>
            <a:off x="3086859" y="1737750"/>
            <a:ext cx="26202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solidFill>
                  <a:srgbClr val="9900FF"/>
                </a:solidFill>
              </a:rPr>
              <a:t>How can information and computation be represented formally?</a:t>
            </a:r>
            <a:endParaRPr i="1">
              <a:solidFill>
                <a:srgbClr val="99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Code makers and Code breakers</a:t>
            </a:r>
            <a:endParaRPr b="0" sz="3300" strike="noStrike">
              <a:solidFill>
                <a:srgbClr val="000000"/>
              </a:solidFill>
              <a:latin typeface="Calibri"/>
              <a:ea typeface="Calibri"/>
              <a:cs typeface="Calibri"/>
              <a:sym typeface="Calibri"/>
            </a:endParaRPr>
          </a:p>
        </p:txBody>
      </p:sp>
      <p:sp>
        <p:nvSpPr>
          <p:cNvPr id="195" name="Google Shape;195;p33"/>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Interests: </a:t>
            </a:r>
            <a:r>
              <a:rPr b="0" i="1" lang="en" sz="2100" u="none" cap="none" strike="noStrike">
                <a:solidFill>
                  <a:srgbClr val="000000"/>
                </a:solidFill>
                <a:latin typeface="Calibri"/>
                <a:ea typeface="Calibri"/>
                <a:cs typeface="Calibri"/>
                <a:sym typeface="Calibri"/>
              </a:rPr>
              <a:t>Chess</a:t>
            </a:r>
            <a:r>
              <a:rPr b="0" i="0" lang="en" sz="2100" u="none" cap="none" strike="noStrike">
                <a:solidFill>
                  <a:srgbClr val="000000"/>
                </a:solidFill>
                <a:latin typeface="Calibri"/>
                <a:ea typeface="Calibri"/>
                <a:cs typeface="Calibri"/>
                <a:sym typeface="Calibri"/>
              </a:rPr>
              <a:t>, </a:t>
            </a:r>
            <a:r>
              <a:rPr b="0" i="1" lang="en" sz="2100" u="none" cap="none" strike="noStrike">
                <a:solidFill>
                  <a:srgbClr val="000000"/>
                </a:solidFill>
                <a:latin typeface="Calibri"/>
                <a:ea typeface="Calibri"/>
                <a:cs typeface="Calibri"/>
                <a:sym typeface="Calibri"/>
              </a:rPr>
              <a:t>Crossword puzzles</a:t>
            </a:r>
            <a:r>
              <a:rPr b="0" i="0" lang="en" sz="2100" u="none" cap="none" strike="noStrike">
                <a:solidFill>
                  <a:srgbClr val="000000"/>
                </a:solidFill>
                <a:latin typeface="Calibri"/>
                <a:ea typeface="Calibri"/>
                <a:cs typeface="Calibri"/>
                <a:sym typeface="Calibri"/>
              </a:rPr>
              <a:t>, </a:t>
            </a:r>
            <a:r>
              <a:rPr b="1" i="0" lang="en" sz="2100" u="none" cap="none" strike="noStrike">
                <a:solidFill>
                  <a:srgbClr val="00B050"/>
                </a:solidFill>
                <a:latin typeface="Calibri"/>
                <a:ea typeface="Calibri"/>
                <a:cs typeface="Calibri"/>
                <a:sym typeface="Calibri"/>
              </a:rPr>
              <a:t>Typewriter</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800"/>
              <a:buFont typeface="Arial"/>
              <a:buNone/>
            </a:pPr>
            <a:r>
              <a:t/>
            </a:r>
            <a:endParaRPr b="0" i="0" sz="8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With the subject off the table: </a:t>
            </a:r>
            <a:endParaRPr b="0" i="0" sz="2100" u="none" cap="none" strike="noStrike">
              <a:solidFill>
                <a:srgbClr val="000000"/>
              </a:solidFill>
              <a:latin typeface="Calibri"/>
              <a:ea typeface="Calibri"/>
              <a:cs typeface="Calibri"/>
              <a:sym typeface="Calibri"/>
            </a:endParaRPr>
          </a:p>
          <a:p>
            <a:pPr indent="-171450" lvl="1" marL="520700" marR="0" rtl="0" algn="l">
              <a:lnSpc>
                <a:spcPct val="90000"/>
              </a:lnSpc>
              <a:spcBef>
                <a:spcPts val="400"/>
              </a:spcBef>
              <a:spcAft>
                <a:spcPts val="120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Turing showed one of his paper to Shannon!</a:t>
            </a:r>
            <a:endParaRPr b="0" i="0" sz="1500" u="none" cap="none" strike="noStrike">
              <a:solidFill>
                <a:srgbClr val="000000"/>
              </a:solidFill>
              <a:latin typeface="Calibri"/>
              <a:ea typeface="Calibri"/>
              <a:cs typeface="Calibri"/>
              <a:sym typeface="Calibri"/>
            </a:endParaRPr>
          </a:p>
        </p:txBody>
      </p:sp>
      <p:pic>
        <p:nvPicPr>
          <p:cNvPr id="196" name="Google Shape;196;p33"/>
          <p:cNvPicPr preferRelativeResize="0"/>
          <p:nvPr/>
        </p:nvPicPr>
        <p:blipFill rotWithShape="1">
          <a:blip r:embed="rId3">
            <a:alphaModFix/>
          </a:blip>
          <a:srcRect b="0" l="0" r="0" t="0"/>
          <a:stretch/>
        </p:blipFill>
        <p:spPr>
          <a:xfrm>
            <a:off x="6470550" y="1121580"/>
            <a:ext cx="1220940" cy="1662120"/>
          </a:xfrm>
          <a:prstGeom prst="rect">
            <a:avLst/>
          </a:prstGeom>
          <a:noFill/>
          <a:ln>
            <a:noFill/>
          </a:ln>
        </p:spPr>
      </p:pic>
      <p:pic>
        <p:nvPicPr>
          <p:cNvPr id="197" name="Google Shape;197;p33"/>
          <p:cNvPicPr preferRelativeResize="0"/>
          <p:nvPr/>
        </p:nvPicPr>
        <p:blipFill rotWithShape="1">
          <a:blip r:embed="rId4">
            <a:alphaModFix/>
          </a:blip>
          <a:srcRect b="0" l="0" r="0" t="0"/>
          <a:stretch/>
        </p:blipFill>
        <p:spPr>
          <a:xfrm>
            <a:off x="7758180" y="1121580"/>
            <a:ext cx="1220940" cy="1662119"/>
          </a:xfrm>
          <a:prstGeom prst="rect">
            <a:avLst/>
          </a:prstGeom>
          <a:noFill/>
          <a:ln>
            <a:noFill/>
          </a:ln>
        </p:spPr>
      </p:pic>
      <p:sp>
        <p:nvSpPr>
          <p:cNvPr id="198" name="Google Shape;198;p33"/>
          <p:cNvSpPr/>
          <p:nvPr/>
        </p:nvSpPr>
        <p:spPr>
          <a:xfrm>
            <a:off x="7885620" y="2744550"/>
            <a:ext cx="10140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Alan Turing</a:t>
            </a:r>
            <a:endParaRPr b="0" i="0" sz="1400" u="none" cap="none" strike="noStrike">
              <a:latin typeface="Arial"/>
              <a:ea typeface="Arial"/>
              <a:cs typeface="Arial"/>
              <a:sym typeface="Arial"/>
            </a:endParaRPr>
          </a:p>
        </p:txBody>
      </p:sp>
      <p:sp>
        <p:nvSpPr>
          <p:cNvPr id="199" name="Google Shape;199;p33"/>
          <p:cNvSpPr/>
          <p:nvPr/>
        </p:nvSpPr>
        <p:spPr>
          <a:xfrm>
            <a:off x="6674940" y="2738070"/>
            <a:ext cx="10797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CE Shannon</a:t>
            </a:r>
            <a:endParaRPr b="0" i="0" sz="1400" u="none" cap="none" strike="noStrike">
              <a:latin typeface="Arial"/>
              <a:ea typeface="Arial"/>
              <a:cs typeface="Arial"/>
              <a:sym typeface="Arial"/>
            </a:endParaRPr>
          </a:p>
        </p:txBody>
      </p:sp>
      <p:pic>
        <p:nvPicPr>
          <p:cNvPr id="200" name="Google Shape;200;p33"/>
          <p:cNvPicPr preferRelativeResize="0"/>
          <p:nvPr/>
        </p:nvPicPr>
        <p:blipFill rotWithShape="1">
          <a:blip r:embed="rId5">
            <a:alphaModFix/>
          </a:blip>
          <a:srcRect b="0" l="0" r="0" t="0"/>
          <a:stretch/>
        </p:blipFill>
        <p:spPr>
          <a:xfrm>
            <a:off x="1976400" y="2749140"/>
            <a:ext cx="4250341" cy="2321460"/>
          </a:xfrm>
          <a:prstGeom prst="rect">
            <a:avLst/>
          </a:prstGeom>
          <a:noFill/>
          <a:ln cap="sq" cmpd="sng" w="66675">
            <a:solidFill>
              <a:srgbClr val="FFFFFF"/>
            </a:solidFill>
            <a:prstDash val="solid"/>
            <a:miter lim="8000"/>
            <a:headEnd len="sm" w="sm" type="none"/>
            <a:tailEnd len="sm" w="sm" type="none"/>
          </a:ln>
          <a:effectLst>
            <a:outerShdw blurRad="41310" rotWithShape="0" algn="tl" dir="5400000" dist="13500">
              <a:srgbClr val="000000">
                <a:alpha val="4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Conversation…</a:t>
            </a:r>
            <a:endParaRPr b="0" sz="3300" strike="noStrike">
              <a:solidFill>
                <a:srgbClr val="000000"/>
              </a:solidFill>
              <a:latin typeface="Calibri"/>
              <a:ea typeface="Calibri"/>
              <a:cs typeface="Calibri"/>
              <a:sym typeface="Calibri"/>
            </a:endParaRPr>
          </a:p>
        </p:txBody>
      </p:sp>
      <p:sp>
        <p:nvSpPr>
          <p:cNvPr id="206" name="Google Shape;206;p34"/>
          <p:cNvSpPr txBox="1"/>
          <p:nvPr>
            <p:ph idx="4294967295" type="body"/>
          </p:nvPr>
        </p:nvSpPr>
        <p:spPr>
          <a:xfrm>
            <a:off x="628560" y="1342710"/>
            <a:ext cx="8108400" cy="3500400"/>
          </a:xfrm>
          <a:prstGeom prst="rect">
            <a:avLst/>
          </a:prstGeom>
          <a:noFill/>
          <a:ln>
            <a:noFill/>
          </a:ln>
        </p:spPr>
        <p:txBody>
          <a:bodyPr anchorCtr="0" anchor="t" bIns="34275" lIns="68575" spcFirstLastPara="1" rIns="68575" wrap="square" tIns="34275">
            <a:normAutofit fontScale="85000" lnSpcReduction="10000"/>
          </a:bodyPr>
          <a:lstStyle/>
          <a:p>
            <a:pPr indent="-189548" lvl="0" marL="177800" marR="0" rtl="0" algn="l">
              <a:lnSpc>
                <a:spcPct val="90000"/>
              </a:lnSpc>
              <a:spcBef>
                <a:spcPts val="0"/>
              </a:spcBef>
              <a:spcAft>
                <a:spcPts val="0"/>
              </a:spcAft>
              <a:buClr>
                <a:srgbClr val="000000"/>
              </a:buClr>
              <a:buSzPct val="100000"/>
              <a:buFont typeface="Arial"/>
              <a:buChar char="•"/>
            </a:pPr>
            <a:r>
              <a:rPr b="0" i="0" lang="en" sz="2100" u="none" cap="none" strike="noStrike">
                <a:solidFill>
                  <a:srgbClr val="000000"/>
                </a:solidFill>
                <a:latin typeface="Calibri"/>
                <a:ea typeface="Calibri"/>
                <a:cs typeface="Calibri"/>
                <a:sym typeface="Calibri"/>
              </a:rPr>
              <a:t>Powers and limitations of an idealized computing machine…</a:t>
            </a:r>
            <a:endParaRPr b="0" i="0" sz="2100" u="none" cap="none" strike="noStrike">
              <a:solidFill>
                <a:srgbClr val="000000"/>
              </a:solidFill>
              <a:latin typeface="Calibri"/>
              <a:ea typeface="Calibri"/>
              <a:cs typeface="Calibri"/>
              <a:sym typeface="Calibri"/>
            </a:endParaRPr>
          </a:p>
          <a:p>
            <a:pPr indent="-189548" lvl="0" marL="177800" marR="0" rtl="0" algn="l">
              <a:lnSpc>
                <a:spcPct val="90000"/>
              </a:lnSpc>
              <a:spcBef>
                <a:spcPts val="800"/>
              </a:spcBef>
              <a:spcAft>
                <a:spcPts val="0"/>
              </a:spcAft>
              <a:buClr>
                <a:srgbClr val="000000"/>
              </a:buClr>
              <a:buSzPct val="100000"/>
              <a:buFont typeface="Arial"/>
              <a:buChar char="•"/>
            </a:pPr>
            <a:r>
              <a:rPr b="0" i="0" lang="en" sz="2100" u="none" cap="none" strike="noStrike">
                <a:solidFill>
                  <a:srgbClr val="000000"/>
                </a:solidFill>
                <a:latin typeface="Calibri"/>
                <a:ea typeface="Calibri"/>
                <a:cs typeface="Calibri"/>
                <a:sym typeface="Calibri"/>
              </a:rPr>
              <a:t>Possibility of the machines </a:t>
            </a:r>
            <a:r>
              <a:rPr b="0" i="1" lang="en" sz="2100" u="none" cap="none" strike="noStrike">
                <a:solidFill>
                  <a:srgbClr val="FF0000"/>
                </a:solidFill>
                <a:latin typeface="Calibri"/>
                <a:ea typeface="Calibri"/>
                <a:cs typeface="Calibri"/>
                <a:sym typeface="Calibri"/>
              </a:rPr>
              <a:t>learning</a:t>
            </a:r>
            <a:r>
              <a:rPr b="0" i="0" lang="en" sz="2100" u="none" cap="none" strike="noStrike">
                <a:solidFill>
                  <a:srgbClr val="000000"/>
                </a:solidFill>
                <a:latin typeface="Calibri"/>
                <a:ea typeface="Calibri"/>
                <a:cs typeface="Calibri"/>
                <a:sym typeface="Calibri"/>
              </a:rPr>
              <a:t> </a:t>
            </a:r>
            <a:r>
              <a:rPr b="0" i="1" lang="en" sz="2100" u="none" cap="none" strike="noStrike">
                <a:solidFill>
                  <a:srgbClr val="FF0000"/>
                </a:solidFill>
                <a:latin typeface="Calibri"/>
                <a:ea typeface="Calibri"/>
                <a:cs typeface="Calibri"/>
                <a:sym typeface="Calibri"/>
              </a:rPr>
              <a:t>to think</a:t>
            </a:r>
            <a:r>
              <a:rPr b="0" i="0" lang="en" sz="2100" u="none" cap="none" strike="noStrike">
                <a:solidFill>
                  <a:srgbClr val="000000"/>
                </a:solidFill>
                <a:latin typeface="Calibri"/>
                <a:ea typeface="Calibri"/>
                <a:cs typeface="Calibri"/>
                <a:sym typeface="Calibri"/>
              </a:rPr>
              <a: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ct val="100000"/>
              <a:buFont typeface="Arial"/>
              <a:buNone/>
            </a:pPr>
            <a:r>
              <a:t/>
            </a:r>
            <a:endParaRPr b="0" i="0" sz="2100" u="none" cap="none" strike="noStrike">
              <a:solidFill>
                <a:srgbClr val="000000"/>
              </a:solidFill>
              <a:latin typeface="Calibri"/>
              <a:ea typeface="Calibri"/>
              <a:cs typeface="Calibri"/>
              <a:sym typeface="Calibri"/>
            </a:endParaRPr>
          </a:p>
          <a:p>
            <a:pPr indent="-189548" lvl="0" marL="177800" marR="0" rtl="0" algn="l">
              <a:lnSpc>
                <a:spcPct val="90000"/>
              </a:lnSpc>
              <a:spcBef>
                <a:spcPts val="800"/>
              </a:spcBef>
              <a:spcAft>
                <a:spcPts val="0"/>
              </a:spcAft>
              <a:buClr>
                <a:srgbClr val="000000"/>
              </a:buClr>
              <a:buSzPct val="100000"/>
              <a:buFont typeface="Arial"/>
              <a:buChar char="•"/>
            </a:pPr>
            <a:r>
              <a:rPr b="1" i="0" lang="en" sz="2100" u="none" cap="none" strike="noStrike">
                <a:solidFill>
                  <a:srgbClr val="000000"/>
                </a:solidFill>
                <a:latin typeface="Calibri"/>
                <a:ea typeface="Calibri"/>
                <a:cs typeface="Calibri"/>
                <a:sym typeface="Calibri"/>
              </a:rPr>
              <a:t>Shannon: </a:t>
            </a:r>
            <a:r>
              <a:rPr b="0" i="1" lang="en" sz="2100" u="none" cap="none" strike="noStrike">
                <a:solidFill>
                  <a:srgbClr val="000000"/>
                </a:solidFill>
                <a:latin typeface="Calibri"/>
                <a:ea typeface="Calibri"/>
                <a:cs typeface="Calibri"/>
                <a:sym typeface="Calibri"/>
              </a:rPr>
              <a:t>Why not feed “cultural things,” such as music, to an electronic brain?</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ct val="100000"/>
              <a:buFont typeface="Arial"/>
              <a:buNone/>
            </a:pPr>
            <a:r>
              <a:t/>
            </a:r>
            <a:endParaRPr b="0" i="0" sz="2100" u="none" cap="none" strike="noStrike">
              <a:solidFill>
                <a:srgbClr val="000000"/>
              </a:solidFill>
              <a:latin typeface="Calibri"/>
              <a:ea typeface="Calibri"/>
              <a:cs typeface="Calibri"/>
              <a:sym typeface="Calibri"/>
            </a:endParaRPr>
          </a:p>
          <a:p>
            <a:pPr indent="-189548" lvl="0" marL="177800" marR="0" rtl="0" algn="l">
              <a:lnSpc>
                <a:spcPct val="90000"/>
              </a:lnSpc>
              <a:spcBef>
                <a:spcPts val="800"/>
              </a:spcBef>
              <a:spcAft>
                <a:spcPts val="0"/>
              </a:spcAft>
              <a:buClr>
                <a:srgbClr val="000000"/>
              </a:buClr>
              <a:buSzPct val="100000"/>
              <a:buFont typeface="Arial"/>
              <a:buChar char="•"/>
            </a:pPr>
            <a:r>
              <a:rPr b="1" i="0" lang="en" sz="2100" u="none" cap="none" strike="noStrike">
                <a:solidFill>
                  <a:srgbClr val="000000"/>
                </a:solidFill>
                <a:latin typeface="Calibri"/>
                <a:ea typeface="Calibri"/>
                <a:cs typeface="Calibri"/>
                <a:sym typeface="Calibri"/>
              </a:rPr>
              <a:t>Turing:</a:t>
            </a:r>
            <a:r>
              <a:rPr b="0" i="0" lang="en" sz="2100" u="none" cap="none" strike="noStrike">
                <a:solidFill>
                  <a:srgbClr val="000000"/>
                </a:solidFill>
                <a:latin typeface="Calibri"/>
                <a:ea typeface="Calibri"/>
                <a:cs typeface="Calibri"/>
                <a:sym typeface="Calibri"/>
              </a:rPr>
              <a:t> “</a:t>
            </a:r>
            <a:r>
              <a:rPr b="0" i="1" lang="en" sz="2100" u="none" cap="none" strike="noStrike">
                <a:solidFill>
                  <a:srgbClr val="000000"/>
                </a:solidFill>
                <a:latin typeface="Calibri"/>
                <a:ea typeface="Calibri"/>
                <a:cs typeface="Calibri"/>
                <a:sym typeface="Calibri"/>
              </a:rPr>
              <a:t>No, I’m not interested in developing a powerful brain. All I’m after is just a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ct val="100000"/>
              <a:buFont typeface="Calibri"/>
              <a:buNone/>
            </a:pPr>
            <a:r>
              <a:rPr b="0" i="1" lang="en" sz="2100" u="none" cap="none" strike="noStrike">
                <a:solidFill>
                  <a:srgbClr val="000000"/>
                </a:solidFill>
                <a:latin typeface="Calibri"/>
                <a:ea typeface="Calibri"/>
                <a:cs typeface="Calibri"/>
                <a:sym typeface="Calibri"/>
              </a:rPr>
              <a:t>                   mundane brain…</a:t>
            </a:r>
            <a:r>
              <a:rPr b="0" i="0" lang="en" sz="2100" u="none" cap="none" strike="noStrike">
                <a:solidFill>
                  <a:srgbClr val="000000"/>
                </a:solidFill>
                <a:latin typeface="Calibri"/>
                <a:ea typeface="Calibri"/>
                <a:cs typeface="Calibri"/>
                <a:sym typeface="Calibri"/>
              </a:rPr>
              <a: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ct val="100000"/>
              <a:buFont typeface="Arial"/>
              <a:buNone/>
            </a:pPr>
            <a:r>
              <a:t/>
            </a:r>
            <a:endParaRPr b="0" i="0" sz="2100" u="none" cap="none" strike="noStrike">
              <a:solidFill>
                <a:srgbClr val="000000"/>
              </a:solidFill>
              <a:latin typeface="Calibri"/>
              <a:ea typeface="Calibri"/>
              <a:cs typeface="Calibri"/>
              <a:sym typeface="Calibri"/>
            </a:endParaRPr>
          </a:p>
          <a:p>
            <a:pPr indent="-189548" lvl="0" marL="177800" marR="0" rtl="0" algn="l">
              <a:lnSpc>
                <a:spcPct val="90000"/>
              </a:lnSpc>
              <a:spcBef>
                <a:spcPts val="800"/>
              </a:spcBef>
              <a:spcAft>
                <a:spcPts val="0"/>
              </a:spcAft>
              <a:buClr>
                <a:srgbClr val="FF0000"/>
              </a:buClr>
              <a:buSzPct val="100000"/>
              <a:buFont typeface="Arial"/>
              <a:buChar char="•"/>
            </a:pPr>
            <a:r>
              <a:rPr b="1" i="0" lang="en" sz="2100" u="none" cap="none" strike="noStrike">
                <a:solidFill>
                  <a:srgbClr val="FF0000"/>
                </a:solidFill>
                <a:latin typeface="Calibri"/>
                <a:ea typeface="Calibri"/>
                <a:cs typeface="Calibri"/>
                <a:sym typeface="Calibri"/>
              </a:rPr>
              <a:t>Alert:</a:t>
            </a:r>
            <a:r>
              <a:rPr b="0" i="0" lang="en" sz="2100" u="none" cap="none" strike="noStrike">
                <a:solidFill>
                  <a:srgbClr val="000000"/>
                </a:solidFill>
                <a:latin typeface="Calibri"/>
                <a:ea typeface="Calibri"/>
                <a:cs typeface="Calibri"/>
                <a:sym typeface="Calibri"/>
              </a:rPr>
              <a:t> It’s 1943… </a:t>
            </a:r>
            <a:r>
              <a:rPr b="0" i="1" lang="en" sz="2100" u="none" cap="none" strike="noStrike">
                <a:solidFill>
                  <a:srgbClr val="002060"/>
                </a:solidFill>
                <a:latin typeface="Calibri"/>
                <a:ea typeface="Calibri"/>
                <a:cs typeface="Calibri"/>
                <a:sym typeface="Calibri"/>
              </a:rPr>
              <a:t>both the transistor and the electronic computer had yet to be born!</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ct val="100000"/>
              <a:buFont typeface="Arial"/>
              <a:buNone/>
            </a:pPr>
            <a:r>
              <a:t/>
            </a:r>
            <a:endParaRPr b="0" i="0" sz="2100" u="none" cap="none" strike="noStrike">
              <a:solidFill>
                <a:srgbClr val="000000"/>
              </a:solidFill>
              <a:latin typeface="Calibri"/>
              <a:ea typeface="Calibri"/>
              <a:cs typeface="Calibri"/>
              <a:sym typeface="Calibri"/>
            </a:endParaRPr>
          </a:p>
          <a:p>
            <a:pPr indent="-189548" lvl="0" marL="177800" marR="0" rtl="0" algn="l">
              <a:lnSpc>
                <a:spcPct val="90000"/>
              </a:lnSpc>
              <a:spcBef>
                <a:spcPts val="800"/>
              </a:spcBef>
              <a:spcAft>
                <a:spcPts val="1200"/>
              </a:spcAft>
              <a:buClr>
                <a:srgbClr val="000000"/>
              </a:buClr>
              <a:buSzPct val="100000"/>
              <a:buFont typeface="Arial"/>
              <a:buChar char="•"/>
            </a:pPr>
            <a:r>
              <a:rPr b="0" i="0" lang="en" sz="2100" u="none" cap="none" strike="noStrike">
                <a:solidFill>
                  <a:srgbClr val="000000"/>
                </a:solidFill>
                <a:latin typeface="Calibri"/>
                <a:ea typeface="Calibri"/>
                <a:cs typeface="Calibri"/>
                <a:sym typeface="Calibri"/>
              </a:rPr>
              <a:t>The common vision of Shannon and Turing :- </a:t>
            </a:r>
            <a:r>
              <a:rPr b="1" i="0" lang="en" sz="2100" u="none" cap="none" strike="noStrike">
                <a:solidFill>
                  <a:srgbClr val="000000"/>
                </a:solidFill>
                <a:latin typeface="Calibri"/>
                <a:ea typeface="Calibri"/>
                <a:cs typeface="Calibri"/>
                <a:sym typeface="Calibri"/>
              </a:rPr>
              <a:t>LOGIC</a:t>
            </a:r>
            <a:endParaRPr b="0" i="0" sz="2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Summary</a:t>
            </a:r>
            <a:endParaRPr b="0" sz="3300" strike="noStrike">
              <a:solidFill>
                <a:srgbClr val="000000"/>
              </a:solidFill>
              <a:latin typeface="Calibri"/>
              <a:ea typeface="Calibri"/>
              <a:cs typeface="Calibri"/>
              <a:sym typeface="Calibri"/>
            </a:endParaRPr>
          </a:p>
        </p:txBody>
      </p:sp>
      <p:sp>
        <p:nvSpPr>
          <p:cNvPr id="212" name="Google Shape;212;p35"/>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rmAutofit/>
          </a:bodyPr>
          <a:lstStyle/>
          <a:p>
            <a:pPr indent="-171450" lvl="0" marL="177800" marR="0" rtl="0" algn="l">
              <a:lnSpc>
                <a:spcPct val="90000"/>
              </a:lnSpc>
              <a:spcBef>
                <a:spcPts val="0"/>
              </a:spcBef>
              <a:spcAft>
                <a:spcPts val="0"/>
              </a:spcAft>
              <a:buClr>
                <a:srgbClr val="000000"/>
              </a:buClr>
              <a:buSzPts val="2100"/>
              <a:buFont typeface="Arial"/>
              <a:buChar char="•"/>
            </a:pPr>
            <a:r>
              <a:rPr b="1" i="0" lang="en" sz="2100" u="none" cap="none" strike="noStrike">
                <a:solidFill>
                  <a:srgbClr val="000000"/>
                </a:solidFill>
                <a:latin typeface="Calibri"/>
                <a:ea typeface="Calibri"/>
                <a:cs typeface="Calibri"/>
                <a:sym typeface="Calibri"/>
              </a:rPr>
              <a:t>Turing</a:t>
            </a:r>
            <a:r>
              <a:rPr b="0" i="0" lang="en" sz="2100" u="none" cap="none" strike="noStrike">
                <a:solidFill>
                  <a:srgbClr val="000000"/>
                </a:solidFill>
                <a:latin typeface="Calibri"/>
                <a:ea typeface="Calibri"/>
                <a:cs typeface="Calibri"/>
                <a:sym typeface="Calibri"/>
              </a:rPr>
              <a:t> encoded </a:t>
            </a:r>
            <a:r>
              <a:rPr b="0" i="0" lang="en" sz="2100" u="none" cap="none" strike="noStrike">
                <a:solidFill>
                  <a:srgbClr val="FF0000"/>
                </a:solidFill>
                <a:latin typeface="Calibri"/>
                <a:ea typeface="Calibri"/>
                <a:cs typeface="Calibri"/>
                <a:sym typeface="Calibri"/>
              </a:rPr>
              <a:t>instructions as numbers</a:t>
            </a:r>
            <a:r>
              <a:rPr b="0" i="0" lang="en" sz="2100" u="none" cap="none" strike="noStrike">
                <a:solidFill>
                  <a:srgbClr val="000000"/>
                </a:solidFill>
                <a:latin typeface="Calibri"/>
                <a:ea typeface="Calibri"/>
                <a:cs typeface="Calibri"/>
                <a:sym typeface="Calibri"/>
              </a:rPr>
              <a:t>. He encoded decimal numbers as zeroes and ones...</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1" i="0" lang="en" sz="2100" u="none" cap="none" strike="noStrike">
                <a:solidFill>
                  <a:srgbClr val="000000"/>
                </a:solidFill>
                <a:latin typeface="Calibri"/>
                <a:ea typeface="Calibri"/>
                <a:cs typeface="Calibri"/>
                <a:sym typeface="Calibri"/>
              </a:rPr>
              <a:t>Shannon</a:t>
            </a:r>
            <a:r>
              <a:rPr b="0" i="0" lang="en" sz="2100" u="none" cap="none" strike="noStrike">
                <a:solidFill>
                  <a:srgbClr val="000000"/>
                </a:solidFill>
                <a:latin typeface="Calibri"/>
                <a:ea typeface="Calibri"/>
                <a:cs typeface="Calibri"/>
                <a:sym typeface="Calibri"/>
              </a:rPr>
              <a:t> made codes for </a:t>
            </a:r>
            <a:r>
              <a:rPr b="0" i="0" lang="en" sz="2100" u="none" cap="none" strike="noStrike">
                <a:solidFill>
                  <a:srgbClr val="FF0000"/>
                </a:solidFill>
                <a:latin typeface="Calibri"/>
                <a:ea typeface="Calibri"/>
                <a:cs typeface="Calibri"/>
                <a:sym typeface="Calibri"/>
              </a:rPr>
              <a:t>switches and relays</a:t>
            </a:r>
            <a:r>
              <a:rPr b="0" i="0" lang="en" sz="2100" u="none" cap="none" strike="noStrike">
                <a:solidFill>
                  <a:srgbClr val="000000"/>
                </a:solidFill>
                <a:latin typeface="Calibri"/>
                <a:ea typeface="Calibri"/>
                <a:cs typeface="Calibri"/>
                <a:sym typeface="Calibri"/>
              </a:rPr>
              <a: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70C0"/>
              </a:buClr>
              <a:buSzPts val="2100"/>
              <a:buFont typeface="Arial"/>
              <a:buChar char="•"/>
            </a:pPr>
            <a:r>
              <a:rPr b="0" i="0" lang="en" sz="2100" u="none" cap="none" strike="noStrike">
                <a:solidFill>
                  <a:srgbClr val="0070C0"/>
                </a:solidFill>
                <a:latin typeface="Calibri"/>
                <a:ea typeface="Calibri"/>
                <a:cs typeface="Calibri"/>
                <a:sym typeface="Calibri"/>
              </a:rPr>
              <a:t>Game of symbols and mapping</a:t>
            </a:r>
            <a:endParaRPr b="0" i="0" sz="2100" u="none" cap="none" strike="noStrike">
              <a:solidFill>
                <a:srgbClr val="000000"/>
              </a:solidFill>
              <a:latin typeface="Calibri"/>
              <a:ea typeface="Calibri"/>
              <a:cs typeface="Calibri"/>
              <a:sym typeface="Calibri"/>
            </a:endParaRPr>
          </a:p>
          <a:p>
            <a:pPr indent="-177800" lvl="1" marL="520700" marR="0" rtl="0" algn="l">
              <a:lnSpc>
                <a:spcPct val="90000"/>
              </a:lnSpc>
              <a:spcBef>
                <a:spcPts val="400"/>
              </a:spcBef>
              <a:spcAft>
                <a:spcPts val="0"/>
              </a:spcAft>
              <a:buClr>
                <a:srgbClr val="000000"/>
              </a:buClr>
              <a:buSzPts val="1800"/>
              <a:buFont typeface="Arial"/>
              <a:buChar char="•"/>
            </a:pPr>
            <a:r>
              <a:rPr b="0" i="0" lang="en" sz="1800" u="none" cap="none" strike="noStrike">
                <a:solidFill>
                  <a:srgbClr val="000000"/>
                </a:solidFill>
                <a:latin typeface="Calibri"/>
                <a:ea typeface="Calibri"/>
                <a:cs typeface="Calibri"/>
                <a:sym typeface="Calibri"/>
              </a:rPr>
              <a:t>Mapping one set of objects onto another</a:t>
            </a:r>
            <a:endParaRPr b="0" i="0" sz="1800" u="none" cap="none" strike="noStrike">
              <a:solidFill>
                <a:srgbClr val="000000"/>
              </a:solidFill>
              <a:latin typeface="Calibri"/>
              <a:ea typeface="Calibri"/>
              <a:cs typeface="Calibri"/>
              <a:sym typeface="Calibri"/>
            </a:endParaRPr>
          </a:p>
          <a:p>
            <a:pPr indent="-177800" lvl="1" marL="520700" marR="0" rtl="0" algn="l">
              <a:lnSpc>
                <a:spcPct val="90000"/>
              </a:lnSpc>
              <a:spcBef>
                <a:spcPts val="400"/>
              </a:spcBef>
              <a:spcAft>
                <a:spcPts val="1200"/>
              </a:spcAft>
              <a:buClr>
                <a:srgbClr val="000000"/>
              </a:buClr>
              <a:buSzPts val="1800"/>
              <a:buFont typeface="Arial"/>
              <a:buChar char="•"/>
            </a:pPr>
            <a:r>
              <a:rPr b="0" i="0" lang="en" sz="1800" u="none" cap="none" strike="noStrike">
                <a:solidFill>
                  <a:srgbClr val="000000"/>
                </a:solidFill>
                <a:latin typeface="Calibri"/>
                <a:ea typeface="Calibri"/>
                <a:cs typeface="Calibri"/>
                <a:sym typeface="Calibri"/>
              </a:rPr>
              <a:t>For example: logical operators and electric circuits; algebraic functions and machine instructions</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idx="4294967295" type="title"/>
          </p:nvPr>
        </p:nvSpPr>
        <p:spPr>
          <a:xfrm>
            <a:off x="628560" y="8262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ENIGMA Machine</a:t>
            </a:r>
            <a:endParaRPr b="0" sz="3300" strike="noStrike">
              <a:solidFill>
                <a:srgbClr val="000000"/>
              </a:solidFill>
              <a:latin typeface="Calibri"/>
              <a:ea typeface="Calibri"/>
              <a:cs typeface="Calibri"/>
              <a:sym typeface="Calibri"/>
            </a:endParaRPr>
          </a:p>
        </p:txBody>
      </p:sp>
      <p:pic>
        <p:nvPicPr>
          <p:cNvPr id="218" name="Google Shape;218;p36"/>
          <p:cNvPicPr preferRelativeResize="0"/>
          <p:nvPr/>
        </p:nvPicPr>
        <p:blipFill rotWithShape="1">
          <a:blip r:embed="rId3">
            <a:alphaModFix/>
          </a:blip>
          <a:srcRect b="0" l="0" r="0" t="0"/>
          <a:stretch/>
        </p:blipFill>
        <p:spPr>
          <a:xfrm>
            <a:off x="5927310" y="1546560"/>
            <a:ext cx="3029129" cy="2271780"/>
          </a:xfrm>
          <a:prstGeom prst="rect">
            <a:avLst/>
          </a:prstGeom>
          <a:noFill/>
          <a:ln>
            <a:noFill/>
          </a:ln>
        </p:spPr>
      </p:pic>
      <p:sp>
        <p:nvSpPr>
          <p:cNvPr id="219" name="Google Shape;219;p36"/>
          <p:cNvSpPr/>
          <p:nvPr/>
        </p:nvSpPr>
        <p:spPr>
          <a:xfrm>
            <a:off x="628550" y="955501"/>
            <a:ext cx="5147700" cy="3890400"/>
          </a:xfrm>
          <a:prstGeom prst="rect">
            <a:avLst/>
          </a:prstGeom>
          <a:noFill/>
          <a:ln>
            <a:noFill/>
          </a:ln>
        </p:spPr>
        <p:txBody>
          <a:bodyPr anchorCtr="0" anchor="t" bIns="33750" lIns="67500" spcFirstLastPara="1" rIns="67500" wrap="square" tIns="33750">
            <a:noAutofit/>
          </a:bodyPr>
          <a:lstStyle/>
          <a:p>
            <a:pPr indent="-209550" lvl="0" marL="215900" marR="0" rtl="0" algn="l">
              <a:lnSpc>
                <a:spcPct val="100000"/>
              </a:lnSpc>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By the war’s end, </a:t>
            </a:r>
            <a:r>
              <a:rPr b="1" i="0" lang="en" sz="1500" u="none" cap="none" strike="noStrike">
                <a:solidFill>
                  <a:srgbClr val="000000"/>
                </a:solidFill>
                <a:latin typeface="Calibri"/>
                <a:ea typeface="Calibri"/>
                <a:cs typeface="Calibri"/>
                <a:sym typeface="Calibri"/>
              </a:rPr>
              <a:t>ENIGMA</a:t>
            </a:r>
            <a:r>
              <a:rPr b="0" i="0" lang="en" sz="1500" u="none" cap="none" strike="noStrike">
                <a:solidFill>
                  <a:srgbClr val="000000"/>
                </a:solidFill>
                <a:latin typeface="Calibri"/>
                <a:ea typeface="Calibri"/>
                <a:cs typeface="Calibri"/>
                <a:sym typeface="Calibri"/>
              </a:rPr>
              <a:t> deciphering thousands of military intercepts every day: </a:t>
            </a:r>
            <a:r>
              <a:rPr b="0" i="1" lang="en" sz="1500" u="none" cap="none" strike="noStrike">
                <a:solidFill>
                  <a:srgbClr val="000000"/>
                </a:solidFill>
                <a:latin typeface="Calibri"/>
                <a:ea typeface="Calibri"/>
                <a:cs typeface="Calibri"/>
                <a:sym typeface="Calibri"/>
              </a:rPr>
              <a:t>processing information, that is, on a scale never before seen…</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FF0000"/>
              </a:buClr>
              <a:buSzPts val="1500"/>
              <a:buFont typeface="Arial"/>
              <a:buChar char="•"/>
            </a:pPr>
            <a:r>
              <a:rPr b="0" i="0" lang="en" sz="1500" u="none" cap="none" strike="noStrike">
                <a:solidFill>
                  <a:srgbClr val="FF0000"/>
                </a:solidFill>
                <a:latin typeface="Calibri"/>
                <a:ea typeface="Calibri"/>
                <a:cs typeface="Calibri"/>
                <a:sym typeface="Calibri"/>
              </a:rPr>
              <a:t>They indirectly talked about </a:t>
            </a:r>
            <a:r>
              <a:rPr b="1" i="0" lang="en" sz="1500" u="none" cap="none" strike="noStrike">
                <a:solidFill>
                  <a:srgbClr val="FF0000"/>
                </a:solidFill>
                <a:latin typeface="Calibri"/>
                <a:ea typeface="Calibri"/>
                <a:cs typeface="Calibri"/>
                <a:sym typeface="Calibri"/>
              </a:rPr>
              <a:t>Turing’s</a:t>
            </a:r>
            <a:r>
              <a:rPr b="0" i="0" lang="en" sz="1500" u="none" cap="none" strike="noStrike">
                <a:solidFill>
                  <a:srgbClr val="FF0000"/>
                </a:solidFill>
                <a:latin typeface="Calibri"/>
                <a:ea typeface="Calibri"/>
                <a:cs typeface="Calibri"/>
                <a:sym typeface="Calibri"/>
              </a:rPr>
              <a:t> notion about how to measure all this </a:t>
            </a:r>
            <a:r>
              <a:rPr b="0" i="1" lang="en" sz="1500" u="none" cap="none" strike="noStrike">
                <a:solidFill>
                  <a:srgbClr val="FF0000"/>
                </a:solidFill>
                <a:latin typeface="Calibri"/>
                <a:ea typeface="Calibri"/>
                <a:cs typeface="Calibri"/>
                <a:sym typeface="Calibri"/>
              </a:rPr>
              <a:t>stuff</a:t>
            </a:r>
            <a:r>
              <a:rPr b="0" i="0" lang="en" sz="1500" u="none" cap="none" strike="noStrike">
                <a:solidFill>
                  <a:srgbClr val="FF0000"/>
                </a:solidFill>
                <a:latin typeface="Calibri"/>
                <a:ea typeface="Calibri"/>
                <a:cs typeface="Calibri"/>
                <a:sym typeface="Calibri"/>
              </a:rPr>
              <a:t>…</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The </a:t>
            </a:r>
            <a:r>
              <a:rPr b="1" i="0" lang="en" sz="1500" u="none" cap="none" strike="noStrike">
                <a:solidFill>
                  <a:srgbClr val="000000"/>
                </a:solidFill>
                <a:latin typeface="Calibri"/>
                <a:ea typeface="Calibri"/>
                <a:cs typeface="Calibri"/>
                <a:sym typeface="Calibri"/>
              </a:rPr>
              <a:t>probability</a:t>
            </a:r>
            <a:r>
              <a:rPr b="0" i="0" lang="en" sz="1500" u="none" cap="none" strike="noStrike">
                <a:solidFill>
                  <a:srgbClr val="000000"/>
                </a:solidFill>
                <a:latin typeface="Calibri"/>
                <a:ea typeface="Calibri"/>
                <a:cs typeface="Calibri"/>
                <a:sym typeface="Calibri"/>
              </a:rPr>
              <a:t> of some fact—a particular Enigma code setting, for example, or the location of a submarine. If I receive some evidence that rules out most of those locations, the </a:t>
            </a:r>
            <a:r>
              <a:rPr b="0" i="1" lang="en" sz="1500" u="none" cap="none" strike="noStrike">
                <a:solidFill>
                  <a:srgbClr val="0000FF"/>
                </a:solidFill>
                <a:latin typeface="Calibri"/>
                <a:ea typeface="Calibri"/>
                <a:cs typeface="Calibri"/>
                <a:sym typeface="Calibri"/>
              </a:rPr>
              <a:t>uncertainty </a:t>
            </a:r>
            <a:r>
              <a:rPr b="1" i="0" lang="en" sz="1500" u="none" cap="none" strike="noStrike">
                <a:solidFill>
                  <a:srgbClr val="000000"/>
                </a:solidFill>
                <a:latin typeface="Calibri"/>
                <a:ea typeface="Calibri"/>
                <a:cs typeface="Calibri"/>
                <a:sym typeface="Calibri"/>
              </a:rPr>
              <a:t>decreases</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Calibri"/>
                <a:ea typeface="Calibri"/>
                <a:cs typeface="Calibri"/>
                <a:sym typeface="Calibri"/>
              </a:rPr>
              <a:t>Turing</a:t>
            </a:r>
            <a:r>
              <a:rPr b="0" i="0" lang="en" sz="1500" u="none" cap="none" strike="noStrike">
                <a:solidFill>
                  <a:srgbClr val="000000"/>
                </a:solidFill>
                <a:latin typeface="Calibri"/>
                <a:ea typeface="Calibri"/>
                <a:cs typeface="Calibri"/>
                <a:sym typeface="Calibri"/>
              </a:rPr>
              <a:t> cared about the data that </a:t>
            </a:r>
            <a:r>
              <a:rPr b="1" i="1" lang="en" sz="1500" u="none" cap="none" strike="noStrike">
                <a:solidFill>
                  <a:srgbClr val="000000"/>
                </a:solidFill>
                <a:latin typeface="Calibri"/>
                <a:ea typeface="Calibri"/>
                <a:cs typeface="Calibri"/>
                <a:sym typeface="Calibri"/>
              </a:rPr>
              <a:t>changed</a:t>
            </a:r>
            <a:r>
              <a:rPr b="0" i="0" lang="en" sz="1500" u="none" cap="none" strike="noStrike">
                <a:solidFill>
                  <a:srgbClr val="000000"/>
                </a:solidFill>
                <a:latin typeface="Calibri"/>
                <a:ea typeface="Calibri"/>
                <a:cs typeface="Calibri"/>
                <a:sym typeface="Calibri"/>
              </a:rPr>
              <a:t> the probability: a probability factor, something like the weight of evidence</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Calibri"/>
                <a:ea typeface="Calibri"/>
                <a:cs typeface="Calibri"/>
                <a:sym typeface="Calibri"/>
              </a:rPr>
              <a:t>Shannon</a:t>
            </a:r>
            <a:r>
              <a:rPr b="0" i="0" lang="en" sz="1500" u="none" cap="none" strike="noStrike">
                <a:solidFill>
                  <a:srgbClr val="000000"/>
                </a:solidFill>
                <a:latin typeface="Calibri"/>
                <a:ea typeface="Calibri"/>
                <a:cs typeface="Calibri"/>
                <a:sym typeface="Calibri"/>
              </a:rPr>
              <a:t> has similar thoughts which inspired him to establish a theoretical foundation—</a:t>
            </a:r>
            <a:r>
              <a:rPr b="0" i="1" lang="en" sz="1500" u="none" cap="none" strike="noStrike">
                <a:solidFill>
                  <a:srgbClr val="000000"/>
                </a:solidFill>
                <a:latin typeface="Calibri"/>
                <a:ea typeface="Calibri"/>
                <a:cs typeface="Calibri"/>
                <a:sym typeface="Calibri"/>
              </a:rPr>
              <a:t>A Mathematical Theory of Cryptography</a:t>
            </a:r>
            <a:r>
              <a:rPr b="0" i="0" lang="en" sz="1500" u="none" cap="none" strike="noStrike">
                <a:solidFill>
                  <a:srgbClr val="000000"/>
                </a:solidFill>
                <a:latin typeface="Calibri"/>
                <a:ea typeface="Calibri"/>
                <a:cs typeface="Calibri"/>
                <a:sym typeface="Calibri"/>
              </a:rPr>
              <a:t> (1945) </a:t>
            </a:r>
            <a:endParaRPr b="0" i="0" sz="15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Claude Shannon’s thoughts</a:t>
            </a:r>
            <a:endParaRPr b="0" sz="3300" strike="noStrike">
              <a:solidFill>
                <a:srgbClr val="000000"/>
              </a:solidFill>
              <a:latin typeface="Calibri"/>
              <a:ea typeface="Calibri"/>
              <a:cs typeface="Calibri"/>
              <a:sym typeface="Calibri"/>
            </a:endParaRPr>
          </a:p>
        </p:txBody>
      </p:sp>
      <p:sp>
        <p:nvSpPr>
          <p:cNvPr id="225" name="Google Shape;225;p37"/>
          <p:cNvSpPr txBox="1"/>
          <p:nvPr>
            <p:ph idx="4294967295" type="body"/>
          </p:nvPr>
        </p:nvSpPr>
        <p:spPr>
          <a:xfrm>
            <a:off x="648540" y="1369170"/>
            <a:ext cx="8141400" cy="3263100"/>
          </a:xfrm>
          <a:prstGeom prst="rect">
            <a:avLst/>
          </a:prstGeom>
          <a:noFill/>
          <a:ln>
            <a:noFill/>
          </a:ln>
        </p:spPr>
        <p:txBody>
          <a:bodyPr anchorCtr="0" anchor="t" bIns="34275" lIns="68575" spcFirstLastPara="1" rIns="68575" wrap="square" tIns="34275">
            <a:normAutofit/>
          </a:bodyPr>
          <a:lstStyle/>
          <a:p>
            <a:pPr indent="-171450" lvl="0" marL="177800" marR="0" rtl="0" algn="l">
              <a:lnSpc>
                <a:spcPct val="90000"/>
              </a:lnSpc>
              <a:spcBef>
                <a:spcPts val="0"/>
              </a:spcBef>
              <a:spcAft>
                <a:spcPts val="0"/>
              </a:spcAft>
              <a:buClr>
                <a:srgbClr val="000000"/>
              </a:buClr>
              <a:buSzPts val="2100"/>
              <a:buFont typeface="Arial"/>
              <a:buChar char="•"/>
            </a:pPr>
            <a:r>
              <a:rPr b="0" i="1" lang="en" sz="2100" u="none" cap="none" strike="noStrike">
                <a:solidFill>
                  <a:srgbClr val="000000"/>
                </a:solidFill>
                <a:latin typeface="Calibri"/>
                <a:ea typeface="Calibri"/>
                <a:cs typeface="Calibri"/>
                <a:sym typeface="Calibri"/>
              </a:rPr>
              <a:t>A Mathematical Theory of Cryptography</a:t>
            </a:r>
            <a:r>
              <a:rPr b="0" i="0" lang="en" sz="2100" u="none" cap="none" strike="noStrike">
                <a:solidFill>
                  <a:srgbClr val="000000"/>
                </a:solidFill>
                <a:latin typeface="Calibri"/>
                <a:ea typeface="Calibri"/>
                <a:cs typeface="Calibri"/>
                <a:sym typeface="Calibri"/>
              </a:rPr>
              <a:t> (1945). Declassified version (1949) </a:t>
            </a:r>
            <a:endParaRPr b="0" i="0" sz="2100" u="none" cap="none" strike="noStrike">
              <a:solidFill>
                <a:srgbClr val="000000"/>
              </a:solidFill>
              <a:latin typeface="Calibri"/>
              <a:ea typeface="Calibri"/>
              <a:cs typeface="Calibri"/>
              <a:sym typeface="Calibri"/>
            </a:endParaRPr>
          </a:p>
          <a:p>
            <a:pPr indent="-177800" lvl="1" marL="520700" marR="0" rtl="0" algn="l">
              <a:lnSpc>
                <a:spcPct val="90000"/>
              </a:lnSpc>
              <a:spcBef>
                <a:spcPts val="400"/>
              </a:spcBef>
              <a:spcAft>
                <a:spcPts val="0"/>
              </a:spcAft>
              <a:buClr>
                <a:srgbClr val="000000"/>
              </a:buClr>
              <a:buSzPts val="1800"/>
              <a:buFont typeface="Arial"/>
              <a:buChar char="•"/>
            </a:pPr>
            <a:r>
              <a:rPr b="0" i="0" lang="en" sz="1800" u="none" cap="none" strike="noStrike">
                <a:solidFill>
                  <a:srgbClr val="000000"/>
                </a:solidFill>
                <a:latin typeface="Calibri"/>
                <a:ea typeface="Calibri"/>
                <a:cs typeface="Calibri"/>
                <a:sym typeface="Calibri"/>
              </a:rPr>
              <a:t>A stream of data looks like junk!</a:t>
            </a:r>
            <a:endParaRPr b="0" i="0" sz="1800" u="none" cap="none" strike="noStrike">
              <a:solidFill>
                <a:srgbClr val="000000"/>
              </a:solidFill>
              <a:latin typeface="Calibri"/>
              <a:ea typeface="Calibri"/>
              <a:cs typeface="Calibri"/>
              <a:sym typeface="Calibri"/>
            </a:endParaRPr>
          </a:p>
          <a:p>
            <a:pPr indent="-177800" lvl="1" marL="520700" marR="0" rtl="0" algn="l">
              <a:lnSpc>
                <a:spcPct val="90000"/>
              </a:lnSpc>
              <a:spcBef>
                <a:spcPts val="400"/>
              </a:spcBef>
              <a:spcAft>
                <a:spcPts val="0"/>
              </a:spcAft>
              <a:buClr>
                <a:srgbClr val="000000"/>
              </a:buClr>
              <a:buSzPts val="1800"/>
              <a:buFont typeface="Arial"/>
              <a:buChar char="•"/>
            </a:pPr>
            <a:r>
              <a:rPr b="0" i="0" lang="en" sz="1800" u="none" cap="none" strike="noStrike">
                <a:solidFill>
                  <a:srgbClr val="000000"/>
                </a:solidFill>
                <a:latin typeface="Calibri"/>
                <a:ea typeface="Calibri"/>
                <a:cs typeface="Calibri"/>
                <a:sym typeface="Calibri"/>
              </a:rPr>
              <a:t>Goal—Find the real pattern</a:t>
            </a:r>
            <a:endParaRPr b="0" i="0" sz="1800" u="none" cap="none" strike="noStrike">
              <a:solidFill>
                <a:srgbClr val="000000"/>
              </a:solidFill>
              <a:latin typeface="Calibri"/>
              <a:ea typeface="Calibri"/>
              <a:cs typeface="Calibri"/>
              <a:sym typeface="Calibri"/>
            </a:endParaRPr>
          </a:p>
          <a:p>
            <a:pPr indent="-177800" lvl="1" marL="520700" marR="0" rtl="0" algn="l">
              <a:lnSpc>
                <a:spcPct val="90000"/>
              </a:lnSpc>
              <a:spcBef>
                <a:spcPts val="400"/>
              </a:spcBef>
              <a:spcAft>
                <a:spcPts val="0"/>
              </a:spcAft>
              <a:buClr>
                <a:srgbClr val="000000"/>
              </a:buClr>
              <a:buSzPts val="1800"/>
              <a:buFont typeface="Arial"/>
              <a:buChar char="•"/>
            </a:pPr>
            <a:r>
              <a:rPr b="0" i="0" lang="en" sz="1800" u="none" cap="none" strike="noStrike">
                <a:solidFill>
                  <a:srgbClr val="000000"/>
                </a:solidFill>
                <a:latin typeface="Calibri"/>
                <a:ea typeface="Calibri"/>
                <a:cs typeface="Calibri"/>
                <a:sym typeface="Calibri"/>
              </a:rPr>
              <a:t>Motivated him to understand the </a:t>
            </a:r>
            <a:r>
              <a:rPr b="0" i="0" lang="en" sz="1800" u="none" cap="none" strike="noStrike">
                <a:solidFill>
                  <a:srgbClr val="00B050"/>
                </a:solidFill>
                <a:latin typeface="Calibri"/>
                <a:ea typeface="Calibri"/>
                <a:cs typeface="Calibri"/>
                <a:sym typeface="Calibri"/>
              </a:rPr>
              <a:t>patterns of language </a:t>
            </a:r>
            <a:r>
              <a:rPr b="0" i="0" lang="en" sz="1800" u="none" cap="none" strike="noStrike">
                <a:solidFill>
                  <a:srgbClr val="000000"/>
                </a:solidFill>
                <a:latin typeface="Calibri"/>
                <a:ea typeface="Calibri"/>
                <a:cs typeface="Calibri"/>
                <a:sym typeface="Calibri"/>
              </a:rPr>
              <a:t>(tangible and countable)</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1100"/>
              </a:spcBef>
              <a:spcAft>
                <a:spcPts val="0"/>
              </a:spcAft>
              <a:buSzPts val="1800"/>
              <a:buFont typeface="Arial"/>
              <a:buNone/>
            </a:pPr>
            <a:r>
              <a:t/>
            </a:r>
            <a:endParaRPr b="0" i="0" sz="18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Patterns in language: </a:t>
            </a:r>
            <a:r>
              <a:rPr b="1" i="0" lang="en" sz="2100" u="none" cap="none" strike="noStrike">
                <a:solidFill>
                  <a:srgbClr val="FF0000"/>
                </a:solidFill>
                <a:latin typeface="Calibri"/>
                <a:ea typeface="Calibri"/>
                <a:cs typeface="Calibri"/>
                <a:sym typeface="Calibri"/>
              </a:rPr>
              <a:t>Redundancy</a:t>
            </a:r>
            <a:r>
              <a:rPr b="0" i="0" lang="en" sz="2100" u="none" cap="none" strike="noStrike">
                <a:solidFill>
                  <a:srgbClr val="000000"/>
                </a:solidFill>
                <a:latin typeface="Calibri"/>
                <a:ea typeface="Calibri"/>
                <a:cs typeface="Calibri"/>
                <a:sym typeface="Calibri"/>
              </a:rPr>
              <a:t> (an aid to understanding/recover</a:t>
            </a:r>
            <a:r>
              <a:rPr lang="en" sz="2100">
                <a:solidFill>
                  <a:srgbClr val="000000"/>
                </a:solidFill>
                <a:latin typeface="Calibri"/>
                <a:ea typeface="Calibri"/>
                <a:cs typeface="Calibri"/>
                <a:sym typeface="Calibri"/>
              </a:rPr>
              <a:t>ing</a:t>
            </a:r>
            <a:r>
              <a:rPr b="0" i="0" lang="en" sz="2100" u="none" cap="none" strike="noStrike">
                <a:solidFill>
                  <a:srgbClr val="000000"/>
                </a:solidFill>
                <a:latin typeface="Calibri"/>
                <a:ea typeface="Calibri"/>
                <a:cs typeface="Calibri"/>
                <a:sym typeface="Calibri"/>
              </a:rPr>
              <a:t>)</a:t>
            </a:r>
            <a:endParaRPr b="0" i="0" sz="2100" u="none" cap="none" strike="noStrike">
              <a:solidFill>
                <a:srgbClr val="000000"/>
              </a:solidFill>
              <a:latin typeface="Calibri"/>
              <a:ea typeface="Calibri"/>
              <a:cs typeface="Calibri"/>
              <a:sym typeface="Calibri"/>
            </a:endParaRPr>
          </a:p>
          <a:p>
            <a:pPr indent="-361950" lvl="1" marL="914400" marR="0" rtl="0" algn="l">
              <a:lnSpc>
                <a:spcPct val="90000"/>
              </a:lnSpc>
              <a:spcBef>
                <a:spcPts val="1200"/>
              </a:spcBef>
              <a:spcAft>
                <a:spcPts val="1200"/>
              </a:spcAft>
              <a:buClr>
                <a:srgbClr val="000000"/>
              </a:buClr>
              <a:buSzPts val="2100"/>
              <a:buFont typeface="Calibri"/>
              <a:buChar char="•"/>
            </a:pPr>
            <a:r>
              <a:rPr lang="en" sz="2100">
                <a:solidFill>
                  <a:srgbClr val="000000"/>
                </a:solidFill>
                <a:latin typeface="Calibri"/>
                <a:ea typeface="Calibri"/>
                <a:cs typeface="Calibri"/>
                <a:sym typeface="Calibri"/>
              </a:rPr>
              <a:t>Language is not random as it contains </a:t>
            </a:r>
            <a:r>
              <a:rPr lang="en" sz="2100">
                <a:solidFill>
                  <a:srgbClr val="000000"/>
                </a:solidFill>
                <a:latin typeface="Calibri"/>
                <a:ea typeface="Calibri"/>
                <a:cs typeface="Calibri"/>
                <a:sym typeface="Calibri"/>
              </a:rPr>
              <a:t>redundancy</a:t>
            </a:r>
            <a:r>
              <a:rPr lang="en" sz="2100">
                <a:solidFill>
                  <a:srgbClr val="000000"/>
                </a:solidFill>
                <a:latin typeface="Calibri"/>
                <a:ea typeface="Calibri"/>
                <a:cs typeface="Calibri"/>
                <a:sym typeface="Calibri"/>
              </a:rPr>
              <a:t>!</a:t>
            </a:r>
            <a:endParaRPr sz="21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38"/>
          <p:cNvPicPr preferRelativeResize="0"/>
          <p:nvPr/>
        </p:nvPicPr>
        <p:blipFill rotWithShape="1">
          <a:blip r:embed="rId3">
            <a:alphaModFix/>
          </a:blip>
          <a:srcRect b="0" l="0" r="0" t="0"/>
          <a:stretch/>
        </p:blipFill>
        <p:spPr>
          <a:xfrm>
            <a:off x="5987520" y="201690"/>
            <a:ext cx="2999699" cy="2445930"/>
          </a:xfrm>
          <a:prstGeom prst="rect">
            <a:avLst/>
          </a:prstGeom>
          <a:noFill/>
          <a:ln cap="sq" cmpd="sng" w="28575">
            <a:solidFill>
              <a:srgbClr val="000000"/>
            </a:solidFill>
            <a:prstDash val="solid"/>
            <a:miter lim="8000"/>
            <a:headEnd len="sm" w="sm" type="none"/>
            <a:tailEnd len="sm" w="sm" type="none"/>
          </a:ln>
          <a:effectLst>
            <a:outerShdw blurRad="38070" rotWithShape="0" algn="tl" dir="2700000" dist="28255">
              <a:srgbClr val="000000">
                <a:alpha val="43140"/>
              </a:srgbClr>
            </a:outerShdw>
          </a:effectLst>
        </p:spPr>
      </p:pic>
      <p:pic>
        <p:nvPicPr>
          <p:cNvPr id="231" name="Google Shape;231;p38"/>
          <p:cNvPicPr preferRelativeResize="0"/>
          <p:nvPr/>
        </p:nvPicPr>
        <p:blipFill rotWithShape="1">
          <a:blip r:embed="rId4">
            <a:alphaModFix/>
          </a:blip>
          <a:srcRect b="0" l="0" r="0" t="0"/>
          <a:stretch/>
        </p:blipFill>
        <p:spPr>
          <a:xfrm>
            <a:off x="4774410" y="1272780"/>
            <a:ext cx="3225419" cy="2584980"/>
          </a:xfrm>
          <a:prstGeom prst="rect">
            <a:avLst/>
          </a:prstGeom>
          <a:noFill/>
          <a:ln cap="sq" cmpd="sng" w="28575">
            <a:solidFill>
              <a:srgbClr val="000000"/>
            </a:solidFill>
            <a:prstDash val="solid"/>
            <a:miter lim="8000"/>
            <a:headEnd len="sm" w="sm" type="none"/>
            <a:tailEnd len="sm" w="sm" type="none"/>
          </a:ln>
          <a:effectLst>
            <a:outerShdw blurRad="38070" rotWithShape="0" algn="tl" dir="2700000" dist="28255">
              <a:srgbClr val="000000">
                <a:alpha val="43140"/>
              </a:srgbClr>
            </a:outerShdw>
          </a:effectLst>
        </p:spPr>
      </p:pic>
      <p:sp>
        <p:nvSpPr>
          <p:cNvPr id="232" name="Google Shape;232;p38"/>
          <p:cNvSpPr txBox="1"/>
          <p:nvPr>
            <p:ph idx="4294967295" type="title"/>
          </p:nvPr>
        </p:nvSpPr>
        <p:spPr>
          <a:xfrm>
            <a:off x="495434" y="273780"/>
            <a:ext cx="7886400" cy="9939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Calibri"/>
              <a:buNone/>
            </a:pPr>
            <a:r>
              <a:rPr b="0" lang="en" sz="3000" strike="noStrike">
                <a:solidFill>
                  <a:srgbClr val="000000"/>
                </a:solidFill>
                <a:latin typeface="Calibri"/>
                <a:ea typeface="Calibri"/>
                <a:cs typeface="Calibri"/>
                <a:sym typeface="Calibri"/>
              </a:rPr>
              <a:t>Patterns in language- </a:t>
            </a:r>
            <a:r>
              <a:rPr b="1" lang="en" sz="3000" strike="noStrike">
                <a:solidFill>
                  <a:srgbClr val="FF0000"/>
                </a:solidFill>
                <a:latin typeface="Calibri"/>
                <a:ea typeface="Calibri"/>
                <a:cs typeface="Calibri"/>
                <a:sym typeface="Calibri"/>
              </a:rPr>
              <a:t>Redundancy</a:t>
            </a:r>
            <a:endParaRPr b="0" sz="3000" strike="noStrike">
              <a:solidFill>
                <a:srgbClr val="000000"/>
              </a:solidFill>
              <a:latin typeface="Calibri"/>
              <a:ea typeface="Calibri"/>
              <a:cs typeface="Calibri"/>
              <a:sym typeface="Calibri"/>
            </a:endParaRPr>
          </a:p>
        </p:txBody>
      </p:sp>
      <p:pic>
        <p:nvPicPr>
          <p:cNvPr id="233" name="Google Shape;233;p38"/>
          <p:cNvPicPr preferRelativeResize="0"/>
          <p:nvPr/>
        </p:nvPicPr>
        <p:blipFill rotWithShape="1">
          <a:blip r:embed="rId5">
            <a:alphaModFix/>
          </a:blip>
          <a:srcRect b="0" l="0" r="0" t="0"/>
          <a:stretch/>
        </p:blipFill>
        <p:spPr>
          <a:xfrm>
            <a:off x="4189320" y="2375730"/>
            <a:ext cx="2714851" cy="2147580"/>
          </a:xfrm>
          <a:prstGeom prst="rect">
            <a:avLst/>
          </a:prstGeom>
          <a:noFill/>
          <a:ln cap="sq" cmpd="sng" w="28575">
            <a:solidFill>
              <a:srgbClr val="000000"/>
            </a:solidFill>
            <a:prstDash val="solid"/>
            <a:miter lim="8000"/>
            <a:headEnd len="sm" w="sm" type="none"/>
            <a:tailEnd len="sm" w="sm" type="none"/>
          </a:ln>
          <a:effectLst>
            <a:outerShdw blurRad="38070" rotWithShape="0" algn="tl" dir="2700000" dist="28255">
              <a:srgbClr val="000000">
                <a:alpha val="43140"/>
              </a:srgbClr>
            </a:outerShdw>
          </a:effectLst>
        </p:spPr>
      </p:pic>
      <p:sp>
        <p:nvSpPr>
          <p:cNvPr id="234" name="Google Shape;234;p38"/>
          <p:cNvSpPr/>
          <p:nvPr/>
        </p:nvSpPr>
        <p:spPr>
          <a:xfrm>
            <a:off x="646110" y="1457460"/>
            <a:ext cx="3402300" cy="3726300"/>
          </a:xfrm>
          <a:prstGeom prst="rect">
            <a:avLst/>
          </a:prstGeom>
          <a:noFill/>
          <a:ln>
            <a:noFill/>
          </a:ln>
        </p:spPr>
        <p:txBody>
          <a:bodyPr anchorCtr="0" anchor="t" bIns="33750" lIns="67500" spcFirstLastPara="1" rIns="67500" wrap="square" tIns="33750">
            <a:noAutofit/>
          </a:bodyPr>
          <a:lstStyle/>
          <a:p>
            <a:pPr indent="-209550" lvl="0" marL="215900" marR="0" rtl="0" algn="l">
              <a:lnSpc>
                <a:spcPct val="100000"/>
              </a:lnSpc>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Wherever the letter q appears, the u that follows is redundant</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After q, a u are expected. There is no surprise. It contributes no information!</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FF0000"/>
              </a:buClr>
              <a:buSzPts val="1500"/>
              <a:buFont typeface="Arial"/>
              <a:buChar char="•"/>
            </a:pPr>
            <a:r>
              <a:rPr b="0" i="1" lang="en" sz="1500" u="none" cap="none" strike="noStrike">
                <a:solidFill>
                  <a:srgbClr val="FF0000"/>
                </a:solidFill>
                <a:latin typeface="Calibri"/>
                <a:ea typeface="Calibri"/>
                <a:cs typeface="Calibri"/>
                <a:sym typeface="Calibri"/>
              </a:rPr>
              <a:t>How much a text in the language can be reduced in length without losing any information?</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00B050"/>
              </a:buClr>
              <a:buSzPts val="1500"/>
              <a:buFont typeface="Arial"/>
              <a:buChar char="•"/>
            </a:pPr>
            <a:r>
              <a:rPr b="0" i="1" lang="en" sz="1500" u="none" cap="none" strike="noStrike">
                <a:solidFill>
                  <a:srgbClr val="00B050"/>
                </a:solidFill>
                <a:latin typeface="Calibri"/>
                <a:ea typeface="Calibri"/>
                <a:cs typeface="Calibri"/>
                <a:sym typeface="Calibri"/>
              </a:rPr>
              <a:t>Each event has a </a:t>
            </a:r>
            <a:r>
              <a:rPr b="1" i="1" lang="en" sz="1500" u="none" cap="none" strike="noStrike">
                <a:solidFill>
                  <a:srgbClr val="00B050"/>
                </a:solidFill>
                <a:latin typeface="Calibri"/>
                <a:ea typeface="Calibri"/>
                <a:cs typeface="Calibri"/>
                <a:sym typeface="Calibri"/>
              </a:rPr>
              <a:t>probability</a:t>
            </a:r>
            <a:r>
              <a:rPr b="0" i="1" lang="en" sz="1500" u="none" cap="none" strike="noStrike">
                <a:solidFill>
                  <a:srgbClr val="00B050"/>
                </a:solidFill>
                <a:latin typeface="Calibri"/>
                <a:ea typeface="Calibri"/>
                <a:cs typeface="Calibri"/>
                <a:sym typeface="Calibri"/>
              </a:rPr>
              <a:t> that depends on the state of the system and perhaps also on its </a:t>
            </a:r>
            <a:r>
              <a:rPr b="1" i="1" lang="en" sz="1500" u="none" cap="none" strike="noStrike">
                <a:solidFill>
                  <a:srgbClr val="00B050"/>
                </a:solidFill>
                <a:latin typeface="Calibri"/>
                <a:ea typeface="Calibri"/>
                <a:cs typeface="Calibri"/>
                <a:sym typeface="Calibri"/>
              </a:rPr>
              <a:t>previous history</a:t>
            </a:r>
            <a:r>
              <a:rPr b="0" i="1" lang="en" sz="1500" u="none" cap="none" strike="noStrike">
                <a:solidFill>
                  <a:srgbClr val="00B050"/>
                </a:solidFill>
                <a:latin typeface="Calibri"/>
                <a:ea typeface="Calibri"/>
                <a:cs typeface="Calibri"/>
                <a:sym typeface="Calibri"/>
              </a:rPr>
              <a:t>!</a:t>
            </a:r>
            <a:endParaRPr b="0" i="0" sz="15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9"/>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Shannon’s approach to language</a:t>
            </a:r>
            <a:endParaRPr b="0" sz="3300" strike="noStrike">
              <a:solidFill>
                <a:srgbClr val="000000"/>
              </a:solidFill>
              <a:latin typeface="Calibri"/>
              <a:ea typeface="Calibri"/>
              <a:cs typeface="Calibri"/>
              <a:sym typeface="Calibri"/>
            </a:endParaRPr>
          </a:p>
        </p:txBody>
      </p:sp>
      <p:sp>
        <p:nvSpPr>
          <p:cNvPr id="240" name="Google Shape;240;p39"/>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Examined </a:t>
            </a:r>
            <a:r>
              <a:rPr b="0" i="0" lang="en" sz="2100" u="none" cap="none" strike="noStrike">
                <a:solidFill>
                  <a:srgbClr val="7030A0"/>
                </a:solidFill>
                <a:latin typeface="Calibri"/>
                <a:ea typeface="Calibri"/>
                <a:cs typeface="Calibri"/>
                <a:sym typeface="Calibri"/>
              </a:rPr>
              <a:t>statistical structure</a:t>
            </a:r>
            <a:r>
              <a:rPr b="0" i="0" lang="en" sz="2100" u="none" cap="none" strike="noStrike">
                <a:solidFill>
                  <a:srgbClr val="000000"/>
                </a:solidFill>
                <a:latin typeface="Calibri"/>
                <a:ea typeface="Calibri"/>
                <a:cs typeface="Calibri"/>
                <a:sym typeface="Calibri"/>
              </a:rPr>
              <a:t> in terms of </a:t>
            </a:r>
            <a:r>
              <a:rPr b="0" i="1" lang="en" sz="2100" u="none" cap="none" strike="noStrike">
                <a:solidFill>
                  <a:srgbClr val="FF0000"/>
                </a:solidFill>
                <a:latin typeface="Calibri"/>
                <a:ea typeface="Calibri"/>
                <a:cs typeface="Calibri"/>
                <a:sym typeface="Calibri"/>
              </a:rPr>
              <a:t>how much of a message influences the probability of the next symbol</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Language is a </a:t>
            </a:r>
            <a:r>
              <a:rPr b="0" i="0" lang="en" sz="2100" u="none" cap="none" strike="noStrike">
                <a:solidFill>
                  <a:srgbClr val="FF0000"/>
                </a:solidFill>
                <a:latin typeface="Calibri"/>
                <a:ea typeface="Calibri"/>
                <a:cs typeface="Calibri"/>
                <a:sym typeface="Calibri"/>
              </a:rPr>
              <a:t>dynamic system</a:t>
            </a:r>
            <a:r>
              <a:rPr b="0" i="0" lang="en" sz="2100" u="none" cap="none" strike="noStrike">
                <a:solidFill>
                  <a:srgbClr val="000000"/>
                </a:solidFill>
                <a:latin typeface="Calibri"/>
                <a:ea typeface="Calibri"/>
                <a:cs typeface="Calibri"/>
                <a:sym typeface="Calibri"/>
              </a:rPr>
              <a:t> whose future course is </a:t>
            </a:r>
            <a:r>
              <a:rPr b="0" i="1" lang="en" sz="2100" u="none" cap="none" strike="noStrike">
                <a:solidFill>
                  <a:srgbClr val="5B9BD5"/>
                </a:solidFill>
                <a:latin typeface="Calibri"/>
                <a:ea typeface="Calibri"/>
                <a:cs typeface="Calibri"/>
                <a:sym typeface="Calibri"/>
              </a:rPr>
              <a:t>conditioned</a:t>
            </a:r>
            <a:r>
              <a:rPr b="0" i="0" lang="en" sz="2100" u="none" cap="none" strike="noStrike">
                <a:solidFill>
                  <a:srgbClr val="000000"/>
                </a:solidFill>
                <a:latin typeface="Calibri"/>
                <a:ea typeface="Calibri"/>
                <a:cs typeface="Calibri"/>
                <a:sym typeface="Calibri"/>
              </a:rPr>
              <a:t> by its past history</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1200"/>
              </a:spcAft>
              <a:buClr>
                <a:srgbClr val="002060"/>
              </a:buClr>
              <a:buSzPts val="2100"/>
              <a:buFont typeface="Arial"/>
              <a:buChar char="•"/>
            </a:pPr>
            <a:r>
              <a:rPr b="0" i="0" lang="en" sz="2100" u="none" cap="none" strike="noStrike">
                <a:solidFill>
                  <a:srgbClr val="002060"/>
                </a:solidFill>
                <a:latin typeface="Calibri"/>
                <a:ea typeface="Calibri"/>
                <a:cs typeface="Calibri"/>
                <a:sym typeface="Calibri"/>
              </a:rPr>
              <a:t>To understand this better, he worked out the problem using English text!</a:t>
            </a:r>
            <a:endParaRPr b="0" i="0" sz="2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idx="4294967295" type="title"/>
          </p:nvPr>
        </p:nvSpPr>
        <p:spPr>
          <a:xfrm>
            <a:off x="628560" y="273780"/>
            <a:ext cx="8069100" cy="9939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Framework: Shannon’s </a:t>
            </a:r>
            <a:r>
              <a:rPr b="0" i="1" lang="en" sz="3300" strike="noStrike">
                <a:solidFill>
                  <a:srgbClr val="FF0000"/>
                </a:solidFill>
                <a:latin typeface="Calibri"/>
                <a:ea typeface="Calibri"/>
                <a:cs typeface="Calibri"/>
                <a:sym typeface="Calibri"/>
              </a:rPr>
              <a:t>n</a:t>
            </a:r>
            <a:r>
              <a:rPr b="0" baseline="30000" i="1" lang="en" sz="3300" strike="noStrike">
                <a:solidFill>
                  <a:srgbClr val="FF0000"/>
                </a:solidFill>
                <a:latin typeface="Calibri"/>
                <a:ea typeface="Calibri"/>
                <a:cs typeface="Calibri"/>
                <a:sym typeface="Calibri"/>
              </a:rPr>
              <a:t>th</a:t>
            </a:r>
            <a:r>
              <a:rPr b="0" baseline="30000" lang="en" sz="3300" strike="noStrike">
                <a:solidFill>
                  <a:srgbClr val="000000"/>
                </a:solidFill>
                <a:latin typeface="Calibri"/>
                <a:ea typeface="Calibri"/>
                <a:cs typeface="Calibri"/>
                <a:sym typeface="Calibri"/>
              </a:rPr>
              <a:t> </a:t>
            </a:r>
            <a:r>
              <a:rPr b="0" lang="en" sz="3300" strike="noStrike">
                <a:solidFill>
                  <a:srgbClr val="FF0000"/>
                </a:solidFill>
                <a:latin typeface="Calibri"/>
                <a:ea typeface="Calibri"/>
                <a:cs typeface="Calibri"/>
                <a:sym typeface="Calibri"/>
              </a:rPr>
              <a:t>order</a:t>
            </a:r>
            <a:r>
              <a:rPr b="0" lang="en" sz="3300" strike="noStrike">
                <a:solidFill>
                  <a:srgbClr val="000000"/>
                </a:solidFill>
                <a:latin typeface="Calibri"/>
                <a:ea typeface="Calibri"/>
                <a:cs typeface="Calibri"/>
                <a:sym typeface="Calibri"/>
              </a:rPr>
              <a:t> approximation</a:t>
            </a:r>
            <a:endParaRPr b="0" sz="3300" strike="noStrike">
              <a:solidFill>
                <a:srgbClr val="000000"/>
              </a:solidFill>
              <a:latin typeface="Calibri"/>
              <a:ea typeface="Calibri"/>
              <a:cs typeface="Calibri"/>
              <a:sym typeface="Calibri"/>
            </a:endParaRPr>
          </a:p>
        </p:txBody>
      </p:sp>
      <p:sp>
        <p:nvSpPr>
          <p:cNvPr id="246" name="Google Shape;246;p40"/>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1" i="0" lang="en" sz="2100" u="none" cap="none" strike="noStrike">
                <a:solidFill>
                  <a:srgbClr val="000000"/>
                </a:solidFill>
                <a:latin typeface="Calibri"/>
                <a:ea typeface="Calibri"/>
                <a:cs typeface="Calibri"/>
                <a:sym typeface="Calibri"/>
              </a:rPr>
              <a:t>Symbols: </a:t>
            </a:r>
            <a:r>
              <a:rPr b="0" i="0" lang="en" sz="2100" u="none" cap="none" strike="noStrike">
                <a:solidFill>
                  <a:srgbClr val="000000"/>
                </a:solidFill>
                <a:latin typeface="Calibri"/>
                <a:ea typeface="Calibri"/>
                <a:cs typeface="Calibri"/>
                <a:sym typeface="Calibri"/>
              </a:rPr>
              <a:t>Alphabet of 27 characters, the letters plus a space between words</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1" i="0" lang="en" sz="2100" u="none" cap="none" strike="noStrike">
                <a:solidFill>
                  <a:srgbClr val="000000"/>
                </a:solidFill>
                <a:latin typeface="Calibri"/>
                <a:ea typeface="Calibri"/>
                <a:cs typeface="Calibri"/>
                <a:sym typeface="Calibri"/>
              </a:rPr>
              <a:t>Generated strings </a:t>
            </a:r>
            <a:r>
              <a:rPr b="0" i="0" lang="en" sz="2100" u="none" cap="none" strike="noStrike">
                <a:solidFill>
                  <a:srgbClr val="000000"/>
                </a:solidFill>
                <a:latin typeface="Calibri"/>
                <a:ea typeface="Calibri"/>
                <a:cs typeface="Calibri"/>
                <a:sym typeface="Calibri"/>
              </a:rPr>
              <a:t>of characters with the help of a table of random numbers</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SzPts val="2100"/>
              <a:buFont typeface="Arial"/>
              <a:buNone/>
            </a:pPr>
            <a:r>
              <a:t/>
            </a:r>
            <a:endParaRPr b="0" i="0" sz="2100" u="none" cap="none" strike="noStrike">
              <a:solidFill>
                <a:srgbClr val="000000"/>
              </a:solidFill>
              <a:latin typeface="Calibri"/>
              <a:ea typeface="Calibri"/>
              <a:cs typeface="Calibri"/>
              <a:sym typeface="Calibri"/>
            </a:endParaRPr>
          </a:p>
        </p:txBody>
      </p:sp>
      <p:sp>
        <p:nvSpPr>
          <p:cNvPr id="247" name="Google Shape;247;p40"/>
          <p:cNvSpPr/>
          <p:nvPr/>
        </p:nvSpPr>
        <p:spPr>
          <a:xfrm>
            <a:off x="1878275" y="3798350"/>
            <a:ext cx="4962000" cy="478800"/>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 B, C, D, E, F, G, H, I, J, K, L, M, N, O, P, Q, R, S, T, U, V, W, X, Y, Z, ‘ ’</a:t>
            </a:r>
            <a:endParaRPr b="0" i="0" sz="1400" u="none" cap="none" strike="noStrike">
              <a:latin typeface="Arial"/>
              <a:ea typeface="Arial"/>
              <a:cs typeface="Arial"/>
              <a:sym typeface="Arial"/>
            </a:endParaRPr>
          </a:p>
        </p:txBody>
      </p:sp>
      <p:sp>
        <p:nvSpPr>
          <p:cNvPr id="248" name="Google Shape;248;p40"/>
          <p:cNvSpPr/>
          <p:nvPr/>
        </p:nvSpPr>
        <p:spPr>
          <a:xfrm>
            <a:off x="3336660" y="4299480"/>
            <a:ext cx="25848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Make a sequence of 5 characters? </a:t>
            </a:r>
            <a:endParaRPr b="0" i="0" sz="1400" u="none" cap="none" strike="noStrike">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1"/>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Zero-order approximation</a:t>
            </a:r>
            <a:endParaRPr b="0" sz="3300" strike="noStrike">
              <a:solidFill>
                <a:srgbClr val="000000"/>
              </a:solidFill>
              <a:latin typeface="Calibri"/>
              <a:ea typeface="Calibri"/>
              <a:cs typeface="Calibri"/>
              <a:sym typeface="Calibri"/>
            </a:endParaRPr>
          </a:p>
        </p:txBody>
      </p:sp>
      <p:sp>
        <p:nvSpPr>
          <p:cNvPr id="254" name="Google Shape;254;p41"/>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000000"/>
              </a:buClr>
              <a:buSzPts val="2100"/>
              <a:buFont typeface="Calibri"/>
              <a:buNone/>
            </a:pPr>
            <a:r>
              <a:rPr b="0" i="0" lang="en" sz="2100" u="none" cap="none" strike="noStrike">
                <a:solidFill>
                  <a:srgbClr val="0000FF"/>
                </a:solidFill>
                <a:latin typeface="Calibri"/>
                <a:ea typeface="Calibri"/>
                <a:cs typeface="Calibri"/>
                <a:sym typeface="Calibri"/>
              </a:rPr>
              <a:t>Random characters, no structure or correlations</a:t>
            </a:r>
            <a:endParaRPr b="0" i="0" sz="2100" u="none" cap="none" strike="noStrike">
              <a:solidFill>
                <a:srgbClr val="0000FF"/>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XFOML RXKHRJFFJUJ ZLPWCFWKCYJ</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120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FFJEYVKCQSGHYD GPAAMKBZAACIBZLHJGD.</a:t>
            </a:r>
            <a:endParaRPr b="0" i="0" sz="2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First-order approximation</a:t>
            </a:r>
            <a:endParaRPr b="0" sz="3300" strike="noStrike">
              <a:solidFill>
                <a:srgbClr val="000000"/>
              </a:solidFill>
              <a:latin typeface="Calibri"/>
              <a:ea typeface="Calibri"/>
              <a:cs typeface="Calibri"/>
              <a:sym typeface="Calibri"/>
            </a:endParaRPr>
          </a:p>
        </p:txBody>
      </p:sp>
      <p:sp>
        <p:nvSpPr>
          <p:cNvPr id="260" name="Google Shape;260;p42"/>
          <p:cNvSpPr txBox="1"/>
          <p:nvPr>
            <p:ph idx="4294967295" type="body"/>
          </p:nvPr>
        </p:nvSpPr>
        <p:spPr>
          <a:xfrm>
            <a:off x="555936" y="1369175"/>
            <a:ext cx="5461500" cy="3263100"/>
          </a:xfrm>
          <a:prstGeom prst="rect">
            <a:avLst/>
          </a:prstGeom>
          <a:noFill/>
          <a:ln>
            <a:noFill/>
          </a:ln>
        </p:spPr>
        <p:txBody>
          <a:bodyPr anchorCtr="0" anchor="t" bIns="34275" lIns="68575" spcFirstLastPara="1" rIns="68575" wrap="square" tIns="34275">
            <a:normAutofit lnSpcReduction="20000"/>
          </a:bodyPr>
          <a:lstStyle/>
          <a:p>
            <a:pPr indent="-196850" lvl="0" marL="177800" marR="0" rtl="0" algn="l">
              <a:lnSpc>
                <a:spcPct val="90000"/>
              </a:lnSpc>
              <a:spcBef>
                <a:spcPts val="0"/>
              </a:spcBef>
              <a:spcAft>
                <a:spcPts val="0"/>
              </a:spcAft>
              <a:buClr>
                <a:srgbClr val="0000FF"/>
              </a:buClr>
              <a:buSzPts val="2100"/>
              <a:buFont typeface="Arial"/>
              <a:buChar char="•"/>
            </a:pPr>
            <a:r>
              <a:rPr b="0" i="0" lang="en" sz="2100" u="none" cap="none" strike="noStrike">
                <a:solidFill>
                  <a:srgbClr val="0000FF"/>
                </a:solidFill>
                <a:latin typeface="Calibri"/>
                <a:ea typeface="Calibri"/>
                <a:cs typeface="Calibri"/>
                <a:sym typeface="Calibri"/>
              </a:rPr>
              <a:t>Each character is independent of the rest, but the frequencies are those expected in English</a:t>
            </a:r>
            <a:endParaRPr b="0" i="0" sz="2100" u="none" cap="none" strike="noStrike">
              <a:solidFill>
                <a:srgbClr val="0000FF"/>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968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More e’s and t’s, fewer z’s and j’s</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OCRO HLI RGWR NIMILWIS EU LL NBNESEBYA</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TH EEI ALHENHTTPA OOBTTVA NAH BRL</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96850" lvl="0" marL="177800" marR="0" rtl="0" algn="l">
              <a:lnSpc>
                <a:spcPct val="90000"/>
              </a:lnSpc>
              <a:spcBef>
                <a:spcPts val="800"/>
              </a:spcBef>
              <a:spcAft>
                <a:spcPts val="1200"/>
              </a:spcAft>
              <a:buClr>
                <a:srgbClr val="FF0000"/>
              </a:buClr>
              <a:buSzPts val="2100"/>
              <a:buFont typeface="Arial"/>
              <a:buChar char="•"/>
            </a:pPr>
            <a:r>
              <a:rPr b="1" i="0" lang="en" sz="2100" u="none" cap="none" strike="noStrike">
                <a:solidFill>
                  <a:srgbClr val="FF0000"/>
                </a:solidFill>
                <a:latin typeface="Calibri"/>
                <a:ea typeface="Calibri"/>
                <a:cs typeface="Calibri"/>
                <a:sym typeface="Calibri"/>
              </a:rPr>
              <a:t>Inference</a:t>
            </a:r>
            <a:r>
              <a:rPr b="0" i="0" lang="en" sz="2100" u="none" cap="none" strike="noStrike">
                <a:solidFill>
                  <a:srgbClr val="000000"/>
                </a:solidFill>
                <a:latin typeface="Calibri"/>
                <a:ea typeface="Calibri"/>
                <a:cs typeface="Calibri"/>
                <a:sym typeface="Calibri"/>
              </a:rPr>
              <a:t>: Word lengths look more realistic!</a:t>
            </a:r>
            <a:endParaRPr b="0" i="0" sz="2100" u="none" cap="none" strike="noStrike">
              <a:solidFill>
                <a:srgbClr val="000000"/>
              </a:solidFill>
              <a:latin typeface="Calibri"/>
              <a:ea typeface="Calibri"/>
              <a:cs typeface="Calibri"/>
              <a:sym typeface="Calibri"/>
            </a:endParaRPr>
          </a:p>
        </p:txBody>
      </p:sp>
      <p:sp>
        <p:nvSpPr>
          <p:cNvPr id="261" name="Google Shape;261;p42"/>
          <p:cNvSpPr txBox="1"/>
          <p:nvPr/>
        </p:nvSpPr>
        <p:spPr>
          <a:xfrm>
            <a:off x="48425" y="4685225"/>
            <a:ext cx="627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Link: </a:t>
            </a:r>
            <a:r>
              <a:rPr lang="en" u="sng">
                <a:solidFill>
                  <a:schemeClr val="hlink"/>
                </a:solidFill>
                <a:hlinkClick r:id="rId3"/>
              </a:rPr>
              <a:t>https://mathcenter.oxford.emory.edu/site/math125/englishLetterFreqs/</a:t>
            </a:r>
            <a:endParaRPr/>
          </a:p>
        </p:txBody>
      </p:sp>
      <p:pic>
        <p:nvPicPr>
          <p:cNvPr id="262" name="Google Shape;262;p42"/>
          <p:cNvPicPr preferRelativeResize="0"/>
          <p:nvPr/>
        </p:nvPicPr>
        <p:blipFill rotWithShape="1">
          <a:blip r:embed="rId4">
            <a:alphaModFix/>
          </a:blip>
          <a:srcRect b="0" l="3082" r="0" t="4288"/>
          <a:stretch/>
        </p:blipFill>
        <p:spPr>
          <a:xfrm>
            <a:off x="5859950" y="1602350"/>
            <a:ext cx="3214875" cy="2567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Second-order approximation</a:t>
            </a:r>
            <a:endParaRPr b="0" sz="3300" strike="noStrike">
              <a:solidFill>
                <a:srgbClr val="000000"/>
              </a:solidFill>
              <a:latin typeface="Calibri"/>
              <a:ea typeface="Calibri"/>
              <a:cs typeface="Calibri"/>
              <a:sym typeface="Calibri"/>
            </a:endParaRPr>
          </a:p>
        </p:txBody>
      </p:sp>
      <p:sp>
        <p:nvSpPr>
          <p:cNvPr id="268" name="Google Shape;268;p43"/>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Frequencies of each character match English and so also do the </a:t>
            </a:r>
            <a:r>
              <a:rPr b="0" i="0" lang="en" sz="2100" u="none" cap="none" strike="noStrike">
                <a:solidFill>
                  <a:srgbClr val="0070C0"/>
                </a:solidFill>
                <a:latin typeface="Calibri"/>
                <a:ea typeface="Calibri"/>
                <a:cs typeface="Calibri"/>
                <a:sym typeface="Calibri"/>
              </a:rPr>
              <a:t>frequencies of each bigram</a:t>
            </a:r>
            <a:r>
              <a:rPr b="0" i="0" lang="en" sz="2100" u="none" cap="none" strike="noStrike">
                <a:solidFill>
                  <a:srgbClr val="000000"/>
                </a:solidFill>
                <a:latin typeface="Calibri"/>
                <a:ea typeface="Calibri"/>
                <a:cs typeface="Calibri"/>
                <a:sym typeface="Calibri"/>
              </a:rPr>
              <a:t>, or letter pair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FF0000"/>
              </a:buClr>
              <a:buSzPts val="2100"/>
              <a:buFont typeface="Calibri"/>
              <a:buNone/>
            </a:pPr>
            <a:r>
              <a:rPr b="0" i="1" lang="en" sz="2100" u="none" cap="none" strike="noStrike">
                <a:solidFill>
                  <a:srgbClr val="FF0000"/>
                </a:solidFill>
                <a:latin typeface="Calibri"/>
                <a:ea typeface="Calibri"/>
                <a:cs typeface="Calibri"/>
                <a:sym typeface="Calibri"/>
              </a:rPr>
              <a:t>  (After q, a u are expected…)</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ON IE ANTSOUTINYS ARE T INCTORE ST BE S DEAMY ACHIN</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120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D ILONASIVE TUCOOWE AT TEASONARE FUSO TIZIN ANDY</a:t>
            </a:r>
            <a:endParaRPr b="0" i="0" sz="2100" u="none" cap="none" strike="noStrike">
              <a:solidFill>
                <a:srgbClr val="000000"/>
              </a:solidFill>
              <a:latin typeface="Calibri"/>
              <a:ea typeface="Calibri"/>
              <a:cs typeface="Calibri"/>
              <a:sym typeface="Calibri"/>
            </a:endParaRPr>
          </a:p>
        </p:txBody>
      </p:sp>
      <p:sp>
        <p:nvSpPr>
          <p:cNvPr id="269" name="Google Shape;269;p43"/>
          <p:cNvSpPr/>
          <p:nvPr/>
        </p:nvSpPr>
        <p:spPr>
          <a:xfrm>
            <a:off x="2097630" y="4160970"/>
            <a:ext cx="2168700" cy="615900"/>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FF0000"/>
              </a:buClr>
              <a:buSzPts val="1800"/>
              <a:buFont typeface="Times"/>
              <a:buNone/>
            </a:pPr>
            <a:r>
              <a:rPr b="0" i="1" lang="en" sz="1800" u="none" cap="none" strike="noStrike">
                <a:solidFill>
                  <a:srgbClr val="FF0000"/>
                </a:solidFill>
                <a:latin typeface="Times"/>
                <a:ea typeface="Times"/>
                <a:cs typeface="Times"/>
                <a:sym typeface="Times"/>
              </a:rPr>
              <a:t>cc, rr, ll, ee, ss</a:t>
            </a:r>
            <a:r>
              <a:rPr b="0" i="0" lang="en" sz="1800" u="none" cap="none" strike="noStrike">
                <a:solidFill>
                  <a:srgbClr val="FF0000"/>
                </a:solidFill>
                <a:latin typeface="Times New Roman"/>
                <a:ea typeface="Times New Roman"/>
                <a:cs typeface="Times New Roman"/>
                <a:sym typeface="Times New Roman"/>
              </a:rPr>
              <a:t>, or </a:t>
            </a:r>
            <a:r>
              <a:rPr b="0" i="1" lang="en" sz="1800" u="none" cap="none" strike="noStrike">
                <a:solidFill>
                  <a:srgbClr val="FF0000"/>
                </a:solidFill>
                <a:latin typeface="Times"/>
                <a:ea typeface="Times"/>
                <a:cs typeface="Times"/>
                <a:sym typeface="Times"/>
              </a:rPr>
              <a:t>oo</a:t>
            </a:r>
            <a:endParaRPr b="0" i="0" sz="1800" u="none" cap="none" strike="noStrike">
              <a:latin typeface="Arial"/>
              <a:ea typeface="Arial"/>
              <a:cs typeface="Arial"/>
              <a:sym typeface="Arial"/>
            </a:endParaRPr>
          </a:p>
        </p:txBody>
      </p:sp>
      <p:sp>
        <p:nvSpPr>
          <p:cNvPr id="270" name="Google Shape;270;p43"/>
          <p:cNvSpPr/>
          <p:nvPr/>
        </p:nvSpPr>
        <p:spPr>
          <a:xfrm>
            <a:off x="5178600" y="3923640"/>
            <a:ext cx="1278900" cy="1713000"/>
          </a:xfrm>
          <a:prstGeom prst="rect">
            <a:avLst/>
          </a:prstGeom>
          <a:noFill/>
          <a:ln>
            <a:noFill/>
          </a:ln>
        </p:spPr>
        <p:txBody>
          <a:bodyPr anchorCtr="0" anchor="t" bIns="33750" lIns="67500" spcFirstLastPara="1" rIns="67500" wrap="square" tIns="33750">
            <a:noAutofit/>
          </a:bodyPr>
          <a:lstStyle/>
          <a:p>
            <a:pPr indent="-254000" lvl="0" marL="254000" marR="0" rtl="0" algn="l">
              <a:lnSpc>
                <a:spcPct val="10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O</a:t>
            </a:r>
            <a:r>
              <a:rPr b="0" i="0" lang="en" sz="1400" u="none" cap="none" strike="noStrike">
                <a:solidFill>
                  <a:srgbClr val="FF0000"/>
                </a:solidFill>
                <a:latin typeface="Calibri"/>
                <a:ea typeface="Calibri"/>
                <a:cs typeface="Calibri"/>
                <a:sym typeface="Calibri"/>
              </a:rPr>
              <a:t>cc</a:t>
            </a:r>
            <a:r>
              <a:rPr b="0" i="0" lang="en" sz="1400" u="none" cap="none" strike="noStrike">
                <a:solidFill>
                  <a:srgbClr val="000000"/>
                </a:solidFill>
                <a:latin typeface="Calibri"/>
                <a:ea typeface="Calibri"/>
                <a:cs typeface="Calibri"/>
                <a:sym typeface="Calibri"/>
              </a:rPr>
              <a:t>u</a:t>
            </a:r>
            <a:r>
              <a:rPr b="0" i="0" lang="en" sz="1400" u="none" cap="none" strike="noStrike">
                <a:solidFill>
                  <a:srgbClr val="FF0000"/>
                </a:solidFill>
                <a:latin typeface="Calibri"/>
                <a:ea typeface="Calibri"/>
                <a:cs typeface="Calibri"/>
                <a:sym typeface="Calibri"/>
              </a:rPr>
              <a:t>rr</a:t>
            </a:r>
            <a:r>
              <a:rPr b="0" i="0" lang="en" sz="1400" u="none" cap="none" strike="noStrike">
                <a:solidFill>
                  <a:srgbClr val="000000"/>
                </a:solidFill>
                <a:latin typeface="Calibri"/>
                <a:ea typeface="Calibri"/>
                <a:cs typeface="Calibri"/>
                <a:sym typeface="Calibri"/>
              </a:rPr>
              <a:t>ence</a:t>
            </a:r>
            <a:endParaRPr b="0" i="0" sz="1400" u="none" cap="none" strike="noStrike">
              <a:latin typeface="Arial"/>
              <a:ea typeface="Arial"/>
              <a:cs typeface="Arial"/>
              <a:sym typeface="Arial"/>
            </a:endParaRPr>
          </a:p>
          <a:p>
            <a:pPr indent="-254000" lvl="0" marL="254000" marR="0" rtl="0" algn="l">
              <a:lnSpc>
                <a:spcPct val="10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Engin</a:t>
            </a:r>
            <a:r>
              <a:rPr b="0" i="0" lang="en" sz="1400" u="none" cap="none" strike="noStrike">
                <a:solidFill>
                  <a:srgbClr val="FF0000"/>
                </a:solidFill>
                <a:latin typeface="Calibri"/>
                <a:ea typeface="Calibri"/>
                <a:cs typeface="Calibri"/>
                <a:sym typeface="Calibri"/>
              </a:rPr>
              <a:t>ee</a:t>
            </a:r>
            <a:r>
              <a:rPr b="0" i="0" lang="en" sz="1400" u="none" cap="none" strike="noStrike">
                <a:solidFill>
                  <a:srgbClr val="000000"/>
                </a:solidFill>
                <a:latin typeface="Calibri"/>
                <a:ea typeface="Calibri"/>
                <a:cs typeface="Calibri"/>
                <a:sym typeface="Calibri"/>
              </a:rPr>
              <a:t>ring</a:t>
            </a:r>
            <a:endParaRPr b="0" i="0" sz="1400" u="none" cap="none" strike="noStrike">
              <a:latin typeface="Arial"/>
              <a:ea typeface="Arial"/>
              <a:cs typeface="Arial"/>
              <a:sym typeface="Arial"/>
            </a:endParaRPr>
          </a:p>
          <a:p>
            <a:pPr indent="-254000" lvl="0" marL="254000" marR="0" rtl="0" algn="l">
              <a:lnSpc>
                <a:spcPct val="10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Succe</a:t>
            </a:r>
            <a:r>
              <a:rPr b="0" i="0" lang="en" sz="1400" u="none" cap="none" strike="noStrike">
                <a:solidFill>
                  <a:srgbClr val="FF0000"/>
                </a:solidFill>
                <a:latin typeface="Calibri"/>
                <a:ea typeface="Calibri"/>
                <a:cs typeface="Calibri"/>
                <a:sym typeface="Calibri"/>
              </a:rPr>
              <a:t>ss</a:t>
            </a:r>
            <a:r>
              <a:rPr b="0" i="0" lang="en" sz="1400" u="none" cap="none" strike="noStrike">
                <a:solidFill>
                  <a:srgbClr val="000000"/>
                </a:solidFill>
                <a:latin typeface="Calibri"/>
                <a:ea typeface="Calibri"/>
                <a:cs typeface="Calibri"/>
                <a:sym typeface="Calibri"/>
              </a:rPr>
              <a:t>fu</a:t>
            </a:r>
            <a:r>
              <a:rPr b="0" i="0" lang="en" sz="1400" u="none" cap="none" strike="noStrike">
                <a:solidFill>
                  <a:srgbClr val="FF0000"/>
                </a:solidFill>
                <a:latin typeface="Calibri"/>
                <a:ea typeface="Calibri"/>
                <a:cs typeface="Calibri"/>
                <a:sym typeface="Calibri"/>
              </a:rPr>
              <a:t>ll</a:t>
            </a:r>
            <a:r>
              <a:rPr b="0" i="0" lang="en" sz="1400" u="none" cap="none" strike="noStrike">
                <a:solidFill>
                  <a:srgbClr val="000000"/>
                </a:solidFill>
                <a:latin typeface="Calibri"/>
                <a:ea typeface="Calibri"/>
                <a:cs typeface="Calibri"/>
                <a:sym typeface="Calibri"/>
              </a:rPr>
              <a:t>y</a:t>
            </a:r>
            <a:endParaRPr b="0" i="0" sz="1400" u="none" cap="none" strike="noStrike">
              <a:latin typeface="Arial"/>
              <a:ea typeface="Arial"/>
              <a:cs typeface="Arial"/>
              <a:sym typeface="Arial"/>
            </a:endParaRPr>
          </a:p>
          <a:p>
            <a:pPr indent="-254000" lvl="0" marL="254000" marR="0" rtl="0" algn="l">
              <a:lnSpc>
                <a:spcPct val="100000"/>
              </a:lnSpc>
              <a:spcBef>
                <a:spcPts val="0"/>
              </a:spcBef>
              <a:spcAft>
                <a:spcPts val="0"/>
              </a:spcAft>
              <a:buClr>
                <a:srgbClr val="000000"/>
              </a:buClr>
              <a:buSzPts val="1400"/>
              <a:buFont typeface="Noto Sans Symbols"/>
              <a:buChar char="✔"/>
            </a:pPr>
            <a:r>
              <a:rPr b="0" i="0" lang="en" sz="1400" u="none" cap="none" strike="noStrike">
                <a:solidFill>
                  <a:srgbClr val="000000"/>
                </a:solidFill>
                <a:latin typeface="Calibri"/>
                <a:ea typeface="Calibri"/>
                <a:cs typeface="Calibri"/>
                <a:sym typeface="Calibri"/>
              </a:rPr>
              <a:t>Underst</a:t>
            </a:r>
            <a:r>
              <a:rPr b="0" i="0" lang="en" sz="1400" u="none" cap="none" strike="noStrike">
                <a:solidFill>
                  <a:srgbClr val="FF0000"/>
                </a:solidFill>
                <a:latin typeface="Calibri"/>
                <a:ea typeface="Calibri"/>
                <a:cs typeface="Calibri"/>
                <a:sym typeface="Calibri"/>
              </a:rPr>
              <a:t>oo</a:t>
            </a:r>
            <a:r>
              <a:rPr b="0" i="0" lang="en" sz="1400" u="none" cap="none" strike="noStrike">
                <a:solidFill>
                  <a:srgbClr val="000000"/>
                </a:solidFill>
                <a:latin typeface="Calibri"/>
                <a:ea typeface="Calibri"/>
                <a:cs typeface="Calibri"/>
                <a:sym typeface="Calibri"/>
              </a:rPr>
              <a:t>d</a:t>
            </a:r>
            <a:endParaRPr b="0" i="0" sz="1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Third-order approximation</a:t>
            </a:r>
            <a:endParaRPr b="0" sz="3300" strike="noStrike">
              <a:solidFill>
                <a:srgbClr val="000000"/>
              </a:solidFill>
              <a:latin typeface="Calibri"/>
              <a:ea typeface="Calibri"/>
              <a:cs typeface="Calibri"/>
              <a:sym typeface="Calibri"/>
            </a:endParaRPr>
          </a:p>
        </p:txBody>
      </p:sp>
      <p:sp>
        <p:nvSpPr>
          <p:cNvPr id="276" name="Google Shape;276;p44"/>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Frequencies of each character match English and so also do the </a:t>
            </a:r>
            <a:r>
              <a:rPr b="0" i="0" lang="en" sz="2100" u="none" cap="none" strike="noStrike">
                <a:solidFill>
                  <a:srgbClr val="0070C0"/>
                </a:solidFill>
                <a:latin typeface="Calibri"/>
                <a:ea typeface="Calibri"/>
                <a:cs typeface="Calibri"/>
                <a:sym typeface="Calibri"/>
              </a:rPr>
              <a:t>frequencies of each trigram</a:t>
            </a:r>
            <a:r>
              <a:rPr b="0" i="0" lang="en" sz="2100" u="none" cap="none" strike="noStrike">
                <a:solidFill>
                  <a:srgbClr val="000000"/>
                </a:solidFill>
                <a:latin typeface="Calibri"/>
                <a:ea typeface="Calibri"/>
                <a:cs typeface="Calibri"/>
                <a:sym typeface="Calibri"/>
              </a:rPr>
              <a:t>, or letter triplet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IN NO IST LAT WHEY CRATICT FROURE BIRS GROCID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PONDENOME OF DEMONSTURES OF THE REPTAGIN IS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120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REGOACTIONA OF CRE</a:t>
            </a:r>
            <a:endParaRPr b="0" i="0" sz="2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First-order </a:t>
            </a:r>
            <a:r>
              <a:rPr b="1" i="1" lang="en" sz="3300" strike="noStrike">
                <a:solidFill>
                  <a:srgbClr val="000000"/>
                </a:solidFill>
                <a:latin typeface="Calibri"/>
                <a:ea typeface="Calibri"/>
                <a:cs typeface="Calibri"/>
                <a:sym typeface="Calibri"/>
              </a:rPr>
              <a:t>word</a:t>
            </a:r>
            <a:r>
              <a:rPr b="0" lang="en" sz="3300" strike="noStrike">
                <a:solidFill>
                  <a:srgbClr val="000000"/>
                </a:solidFill>
                <a:latin typeface="Calibri"/>
                <a:ea typeface="Calibri"/>
                <a:cs typeface="Calibri"/>
                <a:sym typeface="Calibri"/>
              </a:rPr>
              <a:t> approximation</a:t>
            </a:r>
            <a:endParaRPr b="0" sz="3300" strike="noStrike">
              <a:solidFill>
                <a:srgbClr val="000000"/>
              </a:solidFill>
              <a:latin typeface="Calibri"/>
              <a:ea typeface="Calibri"/>
              <a:cs typeface="Calibri"/>
              <a:sym typeface="Calibri"/>
            </a:endParaRPr>
          </a:p>
        </p:txBody>
      </p:sp>
      <p:sp>
        <p:nvSpPr>
          <p:cNvPr id="282" name="Google Shape;282;p45"/>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0" lvl="0" marL="0" marR="0" rtl="0" algn="ctr">
              <a:lnSpc>
                <a:spcPct val="90000"/>
              </a:lnSpc>
              <a:spcBef>
                <a:spcPts val="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REPRESENTING AND SPEEDILY IS AN GOOD APT OR COME CAN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DIFFERENT NATURAL HERE HE THE A IN CAME THE TO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OF TO EXPERT GRAY COME TO FURNISHES THE LINE</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MESSAGE HAD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120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BE THESE</a:t>
            </a:r>
            <a:endParaRPr b="0" i="0" sz="2100" u="none" cap="none" strike="noStrike">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Second-order </a:t>
            </a:r>
            <a:r>
              <a:rPr b="1" i="1" lang="en" sz="3300" strike="noStrike">
                <a:solidFill>
                  <a:srgbClr val="000000"/>
                </a:solidFill>
                <a:latin typeface="Calibri"/>
                <a:ea typeface="Calibri"/>
                <a:cs typeface="Calibri"/>
                <a:sym typeface="Calibri"/>
              </a:rPr>
              <a:t>word</a:t>
            </a:r>
            <a:r>
              <a:rPr b="0" lang="en" sz="3300" strike="noStrike">
                <a:solidFill>
                  <a:srgbClr val="000000"/>
                </a:solidFill>
                <a:latin typeface="Calibri"/>
                <a:ea typeface="Calibri"/>
                <a:cs typeface="Calibri"/>
                <a:sym typeface="Calibri"/>
              </a:rPr>
              <a:t> approximation</a:t>
            </a:r>
            <a:endParaRPr b="0" sz="3300" strike="noStrike">
              <a:solidFill>
                <a:srgbClr val="000000"/>
              </a:solidFill>
              <a:latin typeface="Calibri"/>
              <a:ea typeface="Calibri"/>
              <a:cs typeface="Calibri"/>
              <a:sym typeface="Calibri"/>
            </a:endParaRPr>
          </a:p>
        </p:txBody>
      </p:sp>
      <p:sp>
        <p:nvSpPr>
          <p:cNvPr id="288" name="Google Shape;288;p46"/>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rmAutofit/>
          </a:bodyPr>
          <a:lstStyle/>
          <a:p>
            <a:pPr indent="-1841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Pairs of words appear in the expected frequency, so we do not see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   </a:t>
            </a:r>
            <a:r>
              <a:rPr b="0" i="0" lang="en" sz="2100" u="none" cap="none" strike="noStrike">
                <a:solidFill>
                  <a:srgbClr val="FF0000"/>
                </a:solidFill>
                <a:latin typeface="Calibri"/>
                <a:ea typeface="Calibri"/>
                <a:cs typeface="Calibri"/>
                <a:sym typeface="Calibri"/>
              </a:rPr>
              <a:t>“a in”</a:t>
            </a:r>
            <a:r>
              <a:rPr b="0" i="0" lang="en" sz="2100" u="none" cap="none" strike="noStrike">
                <a:solidFill>
                  <a:srgbClr val="000000"/>
                </a:solidFill>
                <a:latin typeface="Calibri"/>
                <a:ea typeface="Calibri"/>
                <a:cs typeface="Calibri"/>
                <a:sym typeface="Calibri"/>
              </a:rPr>
              <a:t> or </a:t>
            </a:r>
            <a:r>
              <a:rPr b="0" i="0" lang="en" sz="2100" u="none" cap="none" strike="noStrike">
                <a:solidFill>
                  <a:srgbClr val="FF0000"/>
                </a:solidFill>
                <a:latin typeface="Calibri"/>
                <a:ea typeface="Calibri"/>
                <a:cs typeface="Calibri"/>
                <a:sym typeface="Calibri"/>
              </a:rPr>
              <a:t>“to of”</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THE HEAD AND IN FRONTAL ATTACK ON AN ENGLISH WRITER THAT THE CHARACTER OF THIS POINT IS THEREFORE ANOTHER METHOD FOR THE LETTERS THAT THE TIME OF WHO EVER TOLD THE PROBLEM FOR AN UNEXPECTED</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84150" lvl="0" marL="177800" marR="0" rtl="0" algn="l">
              <a:lnSpc>
                <a:spcPct val="90000"/>
              </a:lnSpc>
              <a:spcBef>
                <a:spcPts val="800"/>
              </a:spcBef>
              <a:spcAft>
                <a:spcPts val="1200"/>
              </a:spcAft>
              <a:buClr>
                <a:srgbClr val="FF0000"/>
              </a:buClr>
              <a:buSzPts val="2100"/>
              <a:buFont typeface="Arial"/>
              <a:buChar char="•"/>
            </a:pPr>
            <a:r>
              <a:rPr b="1" i="0" lang="en" sz="2100" u="none" cap="none" strike="noStrike">
                <a:solidFill>
                  <a:srgbClr val="FF0000"/>
                </a:solidFill>
                <a:latin typeface="Calibri"/>
                <a:ea typeface="Calibri"/>
                <a:cs typeface="Calibri"/>
                <a:sym typeface="Calibri"/>
              </a:rPr>
              <a:t>Inference:</a:t>
            </a:r>
            <a:r>
              <a:rPr b="0" i="0" lang="en" sz="2100" u="none" cap="none" strike="noStrike">
                <a:solidFill>
                  <a:srgbClr val="000000"/>
                </a:solidFill>
                <a:latin typeface="Calibri"/>
                <a:ea typeface="Calibri"/>
                <a:cs typeface="Calibri"/>
                <a:sym typeface="Calibri"/>
              </a:rPr>
              <a:t> Sequences increasingly “look” like English</a:t>
            </a:r>
            <a:endParaRPr b="0" i="0" sz="2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0" st="0"/>
                                            </p:txEl>
                                          </p:spTgt>
                                        </p:tgtEl>
                                        <p:attrNameLst>
                                          <p:attrName>style.visibility</p:attrName>
                                        </p:attrNameLst>
                                      </p:cBhvr>
                                      <p:to>
                                        <p:strVal val="visible"/>
                                      </p:to>
                                    </p:set>
                                    <p:animEffect filter="fade" transition="in">
                                      <p:cBhvr>
                                        <p:cTn dur="500"/>
                                        <p:tgtEl>
                                          <p:spTgt spid="2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 st="1"/>
                                            </p:txEl>
                                          </p:spTgt>
                                        </p:tgtEl>
                                        <p:attrNameLst>
                                          <p:attrName>style.visibility</p:attrName>
                                        </p:attrNameLst>
                                      </p:cBhvr>
                                      <p:to>
                                        <p:strVal val="visible"/>
                                      </p:to>
                                    </p:set>
                                    <p:animEffect filter="fade" transition="in">
                                      <p:cBhvr>
                                        <p:cTn dur="500"/>
                                        <p:tgtEl>
                                          <p:spTgt spid="2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2" st="2"/>
                                            </p:txEl>
                                          </p:spTgt>
                                        </p:tgtEl>
                                        <p:attrNameLst>
                                          <p:attrName>style.visibility</p:attrName>
                                        </p:attrNameLst>
                                      </p:cBhvr>
                                      <p:to>
                                        <p:strVal val="visible"/>
                                      </p:to>
                                    </p:set>
                                    <p:animEffect filter="fade" transition="in">
                                      <p:cBhvr>
                                        <p:cTn dur="500"/>
                                        <p:tgtEl>
                                          <p:spTgt spid="2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3" st="3"/>
                                            </p:txEl>
                                          </p:spTgt>
                                        </p:tgtEl>
                                        <p:attrNameLst>
                                          <p:attrName>style.visibility</p:attrName>
                                        </p:attrNameLst>
                                      </p:cBhvr>
                                      <p:to>
                                        <p:strVal val="visible"/>
                                      </p:to>
                                    </p:set>
                                    <p:animEffect filter="fade" transition="in">
                                      <p:cBhvr>
                                        <p:cTn dur="500"/>
                                        <p:tgtEl>
                                          <p:spTgt spid="2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4" st="4"/>
                                            </p:txEl>
                                          </p:spTgt>
                                        </p:tgtEl>
                                        <p:attrNameLst>
                                          <p:attrName>style.visibility</p:attrName>
                                        </p:attrNameLst>
                                      </p:cBhvr>
                                      <p:to>
                                        <p:strVal val="visible"/>
                                      </p:to>
                                    </p:set>
                                    <p:animEffect filter="fade" transition="in">
                                      <p:cBhvr>
                                        <p:cTn dur="500"/>
                                        <p:tgtEl>
                                          <p:spTgt spid="2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5" st="5"/>
                                            </p:txEl>
                                          </p:spTgt>
                                        </p:tgtEl>
                                        <p:attrNameLst>
                                          <p:attrName>style.visibility</p:attrName>
                                        </p:attrNameLst>
                                      </p:cBhvr>
                                      <p:to>
                                        <p:strVal val="visible"/>
                                      </p:to>
                                    </p:set>
                                    <p:animEffect filter="fade" transition="in">
                                      <p:cBhvr>
                                        <p:cTn dur="500"/>
                                        <p:tgtEl>
                                          <p:spTgt spid="28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Summary: Shannon’s </a:t>
            </a:r>
            <a:r>
              <a:rPr b="0" i="1" lang="en" sz="3300" strike="noStrike">
                <a:solidFill>
                  <a:srgbClr val="FF0000"/>
                </a:solidFill>
                <a:latin typeface="Calibri"/>
                <a:ea typeface="Calibri"/>
                <a:cs typeface="Calibri"/>
                <a:sym typeface="Calibri"/>
              </a:rPr>
              <a:t>n</a:t>
            </a:r>
            <a:r>
              <a:rPr b="0" baseline="30000" i="1" lang="en" sz="3300" strike="noStrike">
                <a:solidFill>
                  <a:srgbClr val="FF0000"/>
                </a:solidFill>
                <a:latin typeface="Calibri"/>
                <a:ea typeface="Calibri"/>
                <a:cs typeface="Calibri"/>
                <a:sym typeface="Calibri"/>
              </a:rPr>
              <a:t>th</a:t>
            </a:r>
            <a:r>
              <a:rPr b="0" baseline="30000" lang="en" sz="3300" strike="noStrike">
                <a:solidFill>
                  <a:srgbClr val="000000"/>
                </a:solidFill>
                <a:latin typeface="Calibri"/>
                <a:ea typeface="Calibri"/>
                <a:cs typeface="Calibri"/>
                <a:sym typeface="Calibri"/>
              </a:rPr>
              <a:t> </a:t>
            </a:r>
            <a:r>
              <a:rPr b="0" lang="en" sz="3300" strike="noStrike">
                <a:solidFill>
                  <a:srgbClr val="FF0000"/>
                </a:solidFill>
                <a:latin typeface="Calibri"/>
                <a:ea typeface="Calibri"/>
                <a:cs typeface="Calibri"/>
                <a:sym typeface="Calibri"/>
              </a:rPr>
              <a:t>order</a:t>
            </a:r>
            <a:r>
              <a:rPr b="0" lang="en" sz="3300" strike="noStrike">
                <a:solidFill>
                  <a:srgbClr val="000000"/>
                </a:solidFill>
                <a:latin typeface="Calibri"/>
                <a:ea typeface="Calibri"/>
                <a:cs typeface="Calibri"/>
                <a:sym typeface="Calibri"/>
              </a:rPr>
              <a:t> approximation</a:t>
            </a:r>
            <a:endParaRPr b="0" sz="3300" strike="noStrike">
              <a:solidFill>
                <a:srgbClr val="000000"/>
              </a:solidFill>
              <a:latin typeface="Calibri"/>
              <a:ea typeface="Calibri"/>
              <a:cs typeface="Calibri"/>
              <a:sym typeface="Calibri"/>
            </a:endParaRPr>
          </a:p>
        </p:txBody>
      </p:sp>
      <p:sp>
        <p:nvSpPr>
          <p:cNvPr id="294" name="Google Shape;294;p47"/>
          <p:cNvSpPr txBox="1"/>
          <p:nvPr>
            <p:ph idx="4294967295" type="body"/>
          </p:nvPr>
        </p:nvSpPr>
        <p:spPr>
          <a:xfrm>
            <a:off x="628560" y="1369170"/>
            <a:ext cx="82998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FF0000"/>
              </a:buClr>
              <a:buSzPts val="2100"/>
              <a:buFont typeface="Arial"/>
              <a:buChar char="•"/>
            </a:pPr>
            <a:r>
              <a:rPr b="1" i="0" lang="en" sz="2100" u="none" cap="none" strike="noStrike">
                <a:solidFill>
                  <a:srgbClr val="FF0000"/>
                </a:solidFill>
                <a:latin typeface="Calibri"/>
                <a:ea typeface="Calibri"/>
                <a:cs typeface="Calibri"/>
                <a:sym typeface="Calibri"/>
              </a:rPr>
              <a:t>Thought:</a:t>
            </a:r>
            <a:r>
              <a:rPr b="0" i="0" lang="en" sz="2100" u="none" cap="none" strike="noStrike">
                <a:solidFill>
                  <a:srgbClr val="000000"/>
                </a:solidFill>
                <a:latin typeface="Calibri"/>
                <a:ea typeface="Calibri"/>
                <a:cs typeface="Calibri"/>
                <a:sym typeface="Calibri"/>
              </a:rPr>
              <a:t> To represent a message as the outcome of a process that generated events with discrete probabilities</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FF0000"/>
              </a:buClr>
              <a:buSzPts val="2100"/>
              <a:buFont typeface="Arial"/>
              <a:buChar char="•"/>
            </a:pPr>
            <a:r>
              <a:rPr b="1" i="0" lang="en" sz="2100" u="none" cap="none" strike="noStrike">
                <a:solidFill>
                  <a:srgbClr val="FF0000"/>
                </a:solidFill>
                <a:latin typeface="Calibri"/>
                <a:ea typeface="Calibri"/>
                <a:cs typeface="Calibri"/>
                <a:sym typeface="Calibri"/>
              </a:rPr>
              <a:t>Intuition:</a:t>
            </a:r>
            <a:r>
              <a:rPr b="0" i="0" lang="en" sz="2100" u="none" cap="none" strike="noStrike">
                <a:solidFill>
                  <a:srgbClr val="000000"/>
                </a:solidFill>
                <a:latin typeface="Calibri"/>
                <a:ea typeface="Calibri"/>
                <a:cs typeface="Calibri"/>
                <a:sym typeface="Calibri"/>
              </a:rPr>
              <a:t> “</a:t>
            </a:r>
            <a:r>
              <a:rPr b="0" i="1" lang="en" sz="2100" u="none" cap="none" strike="noStrike">
                <a:solidFill>
                  <a:srgbClr val="000000"/>
                </a:solidFill>
                <a:latin typeface="Calibri"/>
                <a:ea typeface="Calibri"/>
                <a:cs typeface="Calibri"/>
                <a:sym typeface="Calibri"/>
              </a:rPr>
              <a:t>…more choices meant more uncertainty—more information</a:t>
            </a:r>
            <a:r>
              <a:rPr b="0" i="0" lang="en" sz="2100" u="none" cap="none" strike="noStrike">
                <a:solidFill>
                  <a:srgbClr val="000000"/>
                </a:solidFill>
                <a:latin typeface="Calibri"/>
                <a:ea typeface="Calibri"/>
                <a:cs typeface="Calibri"/>
                <a:sym typeface="Calibri"/>
              </a:rPr>
              <a: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FF0000"/>
              </a:buClr>
              <a:buSzPts val="2100"/>
              <a:buFont typeface="Arial"/>
              <a:buChar char="•"/>
            </a:pPr>
            <a:r>
              <a:rPr b="1" i="0" lang="en" sz="2100" u="none" cap="none" strike="noStrike">
                <a:solidFill>
                  <a:srgbClr val="FF0000"/>
                </a:solidFill>
                <a:latin typeface="Calibri"/>
                <a:ea typeface="Calibri"/>
                <a:cs typeface="Calibri"/>
                <a:sym typeface="Calibri"/>
              </a:rPr>
              <a:t>Hypothesis: </a:t>
            </a:r>
            <a:r>
              <a:rPr b="0" i="0" lang="en" sz="2100" u="none" cap="none" strike="noStrike">
                <a:solidFill>
                  <a:srgbClr val="000000"/>
                </a:solidFill>
                <a:latin typeface="Calibri"/>
                <a:ea typeface="Calibri"/>
                <a:cs typeface="Calibri"/>
                <a:sym typeface="Calibri"/>
              </a:rPr>
              <a:t>The ‘measure’ of information as the measure of ‘uncertainty’</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500"/>
              <a:buFont typeface="Arial"/>
              <a:buNone/>
            </a:pPr>
            <a:r>
              <a:t/>
            </a:r>
            <a:endParaRPr b="0" i="0" sz="500" u="none" cap="none" strike="noStrike">
              <a:solidFill>
                <a:srgbClr val="000000"/>
              </a:solidFill>
              <a:latin typeface="Calibri"/>
              <a:ea typeface="Calibri"/>
              <a:cs typeface="Calibri"/>
              <a:sym typeface="Calibri"/>
            </a:endParaRPr>
          </a:p>
          <a:p>
            <a:pPr indent="-177800" lvl="1" marL="520700" marR="0" rtl="0" algn="l">
              <a:lnSpc>
                <a:spcPct val="90000"/>
              </a:lnSpc>
              <a:spcBef>
                <a:spcPts val="400"/>
              </a:spcBef>
              <a:spcAft>
                <a:spcPts val="0"/>
              </a:spcAft>
              <a:buClr>
                <a:srgbClr val="000000"/>
              </a:buClr>
              <a:buSzPts val="1800"/>
              <a:buFont typeface="Arial"/>
              <a:buChar char="•"/>
            </a:pPr>
            <a:r>
              <a:rPr b="0" i="0" lang="en" sz="1800" u="none" cap="none" strike="noStrike">
                <a:solidFill>
                  <a:srgbClr val="000000"/>
                </a:solidFill>
                <a:latin typeface="Calibri"/>
                <a:ea typeface="Calibri"/>
                <a:cs typeface="Calibri"/>
                <a:sym typeface="Calibri"/>
              </a:rPr>
              <a:t>“</a:t>
            </a:r>
            <a:r>
              <a:rPr b="0" i="1" lang="en" sz="1800" u="none" cap="none" strike="noStrike">
                <a:solidFill>
                  <a:srgbClr val="000000"/>
                </a:solidFill>
                <a:latin typeface="Calibri"/>
                <a:ea typeface="Calibri"/>
                <a:cs typeface="Calibri"/>
                <a:sym typeface="Calibri"/>
              </a:rPr>
              <a:t>…of how much ‘choice’ is involved in the selection of the event” </a:t>
            </a:r>
            <a:endParaRPr b="0" i="0" sz="1800" u="none" cap="none" strike="noStrike">
              <a:solidFill>
                <a:srgbClr val="000000"/>
              </a:solidFill>
              <a:latin typeface="Calibri"/>
              <a:ea typeface="Calibri"/>
              <a:cs typeface="Calibri"/>
              <a:sym typeface="Calibri"/>
            </a:endParaRPr>
          </a:p>
          <a:p>
            <a:pPr indent="-177800" lvl="1" marL="520700" marR="0" rtl="0" algn="l">
              <a:lnSpc>
                <a:spcPct val="90000"/>
              </a:lnSpc>
              <a:spcBef>
                <a:spcPts val="400"/>
              </a:spcBef>
              <a:spcAft>
                <a:spcPts val="1200"/>
              </a:spcAft>
              <a:buClr>
                <a:srgbClr val="000000"/>
              </a:buClr>
              <a:buSzPts val="1800"/>
              <a:buFont typeface="Arial"/>
              <a:buChar char="•"/>
            </a:pPr>
            <a:r>
              <a:rPr b="0" i="1" lang="en" sz="1800" u="none" cap="none" strike="noStrike">
                <a:solidFill>
                  <a:srgbClr val="000000"/>
                </a:solidFill>
                <a:latin typeface="Calibri"/>
                <a:ea typeface="Calibri"/>
                <a:cs typeface="Calibri"/>
                <a:sym typeface="Calibri"/>
              </a:rPr>
              <a:t>“…of how uncertain we are of the outcome</a:t>
            </a:r>
            <a:r>
              <a:rPr b="0" i="0" lang="en" sz="1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8"/>
          <p:cNvSpPr/>
          <p:nvPr/>
        </p:nvSpPr>
        <p:spPr>
          <a:xfrm>
            <a:off x="5347890" y="346410"/>
            <a:ext cx="3692400" cy="589800"/>
          </a:xfrm>
          <a:prstGeom prst="rect">
            <a:avLst/>
          </a:prstGeom>
          <a:solidFill>
            <a:schemeClr val="lt1"/>
          </a:solid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0" name="Google Shape;300;p48"/>
          <p:cNvSpPr txBox="1"/>
          <p:nvPr>
            <p:ph idx="4294967295" type="title"/>
          </p:nvPr>
        </p:nvSpPr>
        <p:spPr>
          <a:xfrm>
            <a:off x="628560" y="234360"/>
            <a:ext cx="7886400" cy="9939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Calibri"/>
              <a:buNone/>
            </a:pPr>
            <a:r>
              <a:rPr b="0" lang="en" sz="3000" strike="noStrike">
                <a:solidFill>
                  <a:srgbClr val="000000"/>
                </a:solidFill>
                <a:latin typeface="Calibri"/>
                <a:ea typeface="Calibri"/>
                <a:cs typeface="Calibri"/>
                <a:sym typeface="Calibri"/>
              </a:rPr>
              <a:t>Shannon’s Entropy (1948)</a:t>
            </a:r>
            <a:endParaRPr b="0" sz="3000" strike="noStrike">
              <a:solidFill>
                <a:srgbClr val="000000"/>
              </a:solidFill>
              <a:latin typeface="Calibri"/>
              <a:ea typeface="Calibri"/>
              <a:cs typeface="Calibri"/>
              <a:sym typeface="Calibri"/>
            </a:endParaRPr>
          </a:p>
        </p:txBody>
      </p:sp>
      <p:sp>
        <p:nvSpPr>
          <p:cNvPr id="301" name="Google Shape;301;p48"/>
          <p:cNvSpPr txBox="1"/>
          <p:nvPr>
            <p:ph idx="4294967295" type="body"/>
          </p:nvPr>
        </p:nvSpPr>
        <p:spPr>
          <a:xfrm>
            <a:off x="628560" y="1369170"/>
            <a:ext cx="7956900" cy="3263100"/>
          </a:xfrm>
          <a:prstGeom prst="rect">
            <a:avLst/>
          </a:prstGeom>
          <a:noFill/>
          <a:ln>
            <a:noFill/>
          </a:ln>
        </p:spPr>
        <p:txBody>
          <a:bodyPr anchorCtr="0" anchor="t" bIns="34275" lIns="68575" spcFirstLastPara="1" rIns="68575" wrap="square" tIns="34275">
            <a:normAutofit lnSpcReduction="10000"/>
          </a:bodyPr>
          <a:lstStyle/>
          <a:p>
            <a:pPr indent="-1841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Measure </a:t>
            </a:r>
            <a:r>
              <a:rPr b="0" i="1" lang="en" sz="2100" u="none" cap="none" strike="noStrike">
                <a:solidFill>
                  <a:srgbClr val="FF0000"/>
                </a:solidFill>
                <a:latin typeface="Calibri"/>
                <a:ea typeface="Calibri"/>
                <a:cs typeface="Calibri"/>
                <a:sym typeface="Calibri"/>
              </a:rPr>
              <a:t>information, choice, and uncertainty </a:t>
            </a:r>
            <a:r>
              <a:rPr b="0" i="0" lang="en" sz="2100" u="none" cap="none" strike="noStrike">
                <a:solidFill>
                  <a:srgbClr val="000000"/>
                </a:solidFill>
                <a:latin typeface="Calibri"/>
                <a:ea typeface="Calibri"/>
                <a:cs typeface="Calibri"/>
                <a:sym typeface="Calibri"/>
              </a:rPr>
              <a:t>as a function of probabilities</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841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Average logarithm of the </a:t>
            </a:r>
            <a:r>
              <a:rPr b="0" i="1" lang="en" sz="2100" u="none" cap="none" strike="noStrike">
                <a:solidFill>
                  <a:srgbClr val="FF0000"/>
                </a:solidFill>
                <a:latin typeface="Calibri"/>
                <a:ea typeface="Calibri"/>
                <a:cs typeface="Calibri"/>
                <a:sym typeface="Calibri"/>
              </a:rPr>
              <a:t>improbability (unexpectedness) </a:t>
            </a:r>
            <a:r>
              <a:rPr b="0" i="0" lang="en" sz="2100" u="none" cap="none" strike="noStrike">
                <a:solidFill>
                  <a:srgbClr val="000000"/>
                </a:solidFill>
                <a:latin typeface="Calibri"/>
                <a:ea typeface="Calibri"/>
                <a:cs typeface="Calibri"/>
                <a:sym typeface="Calibri"/>
              </a:rPr>
              <a:t>of the message</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700"/>
              <a:buFont typeface="Arial"/>
              <a:buNone/>
            </a:pPr>
            <a:r>
              <a:t/>
            </a:r>
            <a:endParaRPr b="0" i="0" sz="27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700"/>
              <a:buFont typeface="Arial"/>
              <a:buNone/>
            </a:pPr>
            <a:r>
              <a:t/>
            </a:r>
            <a:endParaRPr b="0" i="0" sz="27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where p</a:t>
            </a:r>
            <a:r>
              <a:rPr b="0" baseline="-25000" i="0" lang="en" sz="1800" u="none" cap="none" strike="noStrike">
                <a:solidFill>
                  <a:srgbClr val="000000"/>
                </a:solidFill>
                <a:latin typeface="Calibri"/>
                <a:ea typeface="Calibri"/>
                <a:cs typeface="Calibri"/>
                <a:sym typeface="Calibri"/>
              </a:rPr>
              <a:t>i</a:t>
            </a:r>
            <a:r>
              <a:rPr b="0" i="0" lang="en" sz="1800" u="none" cap="none" strike="noStrike">
                <a:solidFill>
                  <a:srgbClr val="000000"/>
                </a:solidFill>
                <a:latin typeface="Calibri"/>
                <a:ea typeface="Calibri"/>
                <a:cs typeface="Calibri"/>
                <a:sym typeface="Calibri"/>
              </a:rPr>
              <a:t> is the probability of each message; measure in bits (log base 2)</a:t>
            </a:r>
            <a:endParaRPr b="0" i="0" sz="1800" u="none" cap="none" strike="noStrike">
              <a:solidFill>
                <a:srgbClr val="000000"/>
              </a:solidFill>
              <a:latin typeface="Calibri"/>
              <a:ea typeface="Calibri"/>
              <a:cs typeface="Calibri"/>
              <a:sym typeface="Calibri"/>
            </a:endParaRPr>
          </a:p>
        </p:txBody>
      </p:sp>
      <p:sp>
        <p:nvSpPr>
          <p:cNvPr id="302" name="Google Shape;302;p48"/>
          <p:cNvSpPr/>
          <p:nvPr/>
        </p:nvSpPr>
        <p:spPr>
          <a:xfrm>
            <a:off x="5394060" y="335610"/>
            <a:ext cx="2652900" cy="5247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500"/>
              <a:buFont typeface="Times New Roman"/>
              <a:buNone/>
            </a:pPr>
            <a:r>
              <a:rPr b="0" i="0" lang="en" sz="1500" u="none" cap="none" strike="noStrike">
                <a:solidFill>
                  <a:srgbClr val="000000"/>
                </a:solidFill>
                <a:latin typeface="Times New Roman"/>
                <a:ea typeface="Times New Roman"/>
                <a:cs typeface="Times New Roman"/>
                <a:sym typeface="Times New Roman"/>
              </a:rPr>
              <a:t>Nyquist and Hartley’s formula:</a:t>
            </a:r>
            <a:endParaRPr b="0" i="0" sz="1500" u="none" cap="none" strike="noStrike">
              <a:latin typeface="Arial"/>
              <a:ea typeface="Arial"/>
              <a:cs typeface="Arial"/>
              <a:sym typeface="Arial"/>
            </a:endParaRPr>
          </a:p>
        </p:txBody>
      </p:sp>
      <p:pic>
        <p:nvPicPr>
          <p:cNvPr id="303" name="Google Shape;303;p48"/>
          <p:cNvPicPr preferRelativeResize="0"/>
          <p:nvPr/>
        </p:nvPicPr>
        <p:blipFill rotWithShape="1">
          <a:blip r:embed="rId3">
            <a:alphaModFix/>
          </a:blip>
          <a:srcRect b="0" l="0" r="0" t="0"/>
          <a:stretch/>
        </p:blipFill>
        <p:spPr>
          <a:xfrm>
            <a:off x="7872660" y="389070"/>
            <a:ext cx="1044630" cy="352350"/>
          </a:xfrm>
          <a:prstGeom prst="rect">
            <a:avLst/>
          </a:prstGeom>
          <a:noFill/>
          <a:ln>
            <a:noFill/>
          </a:ln>
        </p:spPr>
      </p:pic>
      <p:sp>
        <p:nvSpPr>
          <p:cNvPr id="304" name="Google Shape;304;p48"/>
          <p:cNvSpPr/>
          <p:nvPr/>
        </p:nvSpPr>
        <p:spPr>
          <a:xfrm>
            <a:off x="5987790" y="596430"/>
            <a:ext cx="6453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(1928)</a:t>
            </a:r>
            <a:endParaRPr b="0" i="0" sz="1400" u="none" cap="none" strike="noStrike">
              <a:latin typeface="Arial"/>
              <a:ea typeface="Arial"/>
              <a:cs typeface="Arial"/>
              <a:sym typeface="Arial"/>
            </a:endParaRPr>
          </a:p>
        </p:txBody>
      </p:sp>
      <p:pic>
        <p:nvPicPr>
          <p:cNvPr id="305" name="Google Shape;305;p48"/>
          <p:cNvPicPr preferRelativeResize="0"/>
          <p:nvPr/>
        </p:nvPicPr>
        <p:blipFill>
          <a:blip r:embed="rId4">
            <a:alphaModFix/>
          </a:blip>
          <a:stretch>
            <a:fillRect/>
          </a:stretch>
        </p:blipFill>
        <p:spPr>
          <a:xfrm>
            <a:off x="3411688" y="3059473"/>
            <a:ext cx="2320125" cy="830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9"/>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70C0"/>
              </a:buClr>
              <a:buSzPts val="3000"/>
              <a:buFont typeface="Calibri"/>
              <a:buNone/>
            </a:pPr>
            <a:r>
              <a:rPr b="0" lang="en" sz="3000" strike="noStrike">
                <a:solidFill>
                  <a:srgbClr val="0070C0"/>
                </a:solidFill>
                <a:latin typeface="Calibri"/>
                <a:ea typeface="Calibri"/>
                <a:cs typeface="Calibri"/>
                <a:sym typeface="Calibri"/>
              </a:rPr>
              <a:t>Activity:</a:t>
            </a:r>
            <a:r>
              <a:rPr b="0" lang="en" sz="3000" strike="noStrike">
                <a:solidFill>
                  <a:srgbClr val="000000"/>
                </a:solidFill>
                <a:latin typeface="Calibri"/>
                <a:ea typeface="Calibri"/>
                <a:cs typeface="Calibri"/>
                <a:sym typeface="Calibri"/>
              </a:rPr>
              <a:t> Quantifying predictability and redundancy</a:t>
            </a:r>
            <a:endParaRPr b="0" sz="3000" strike="noStrike">
              <a:solidFill>
                <a:srgbClr val="000000"/>
              </a:solidFill>
              <a:latin typeface="Calibri"/>
              <a:ea typeface="Calibri"/>
              <a:cs typeface="Calibri"/>
              <a:sym typeface="Calibri"/>
            </a:endParaRPr>
          </a:p>
        </p:txBody>
      </p:sp>
      <p:sp>
        <p:nvSpPr>
          <p:cNvPr id="311" name="Google Shape;311;p49"/>
          <p:cNvSpPr txBox="1"/>
          <p:nvPr>
            <p:ph idx="4294967295" type="body"/>
          </p:nvPr>
        </p:nvSpPr>
        <p:spPr>
          <a:xfrm>
            <a:off x="866160" y="1468260"/>
            <a:ext cx="7886400" cy="3263100"/>
          </a:xfrm>
          <a:prstGeom prst="rect">
            <a:avLst/>
          </a:prstGeom>
          <a:noFill/>
          <a:ln>
            <a:noFill/>
          </a:ln>
        </p:spPr>
        <p:txBody>
          <a:bodyPr anchorCtr="0" anchor="t" bIns="34275" lIns="68575" spcFirstLastPara="1" rIns="68575" wrap="square" tIns="34275">
            <a:normAutofit lnSpcReduction="10000"/>
          </a:bodyPr>
          <a:lstStyle/>
          <a:p>
            <a:pPr indent="0" lvl="0" marL="0" marR="0" rtl="0" algn="l">
              <a:lnSpc>
                <a:spcPct val="9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SMALL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OBLONG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READING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LAMP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ON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THE</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FF0000"/>
              </a:buClr>
              <a:buSzPts val="2100"/>
              <a:buFont typeface="Calibri"/>
              <a:buNone/>
            </a:pPr>
            <a:r>
              <a:rPr b="0" i="0" lang="en" sz="2100" u="none" cap="none" strike="noStrike">
                <a:solidFill>
                  <a:srgbClr val="FF0000"/>
                </a:solidFill>
                <a:latin typeface="Calibri"/>
                <a:ea typeface="Calibri"/>
                <a:cs typeface="Calibri"/>
                <a:sym typeface="Calibri"/>
              </a:rPr>
              <a:t>D</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Desk</a:t>
            </a:r>
            <a:endParaRPr b="0" i="0" sz="2100" u="none" cap="none" strike="noStrike">
              <a:solidFill>
                <a:srgbClr val="000000"/>
              </a:solidFill>
              <a:latin typeface="Calibri"/>
              <a:ea typeface="Calibri"/>
              <a:cs typeface="Calibri"/>
              <a:sym typeface="Calibri"/>
            </a:endParaRPr>
          </a:p>
        </p:txBody>
      </p:sp>
      <p:sp>
        <p:nvSpPr>
          <p:cNvPr id="312" name="Google Shape;312;p49"/>
          <p:cNvSpPr/>
          <p:nvPr/>
        </p:nvSpPr>
        <p:spPr>
          <a:xfrm>
            <a:off x="3936870" y="1674810"/>
            <a:ext cx="4815600" cy="3040200"/>
          </a:xfrm>
          <a:prstGeom prst="rect">
            <a:avLst/>
          </a:prstGeom>
          <a:noFill/>
          <a:ln>
            <a:noFill/>
          </a:ln>
        </p:spPr>
        <p:txBody>
          <a:bodyPr anchorCtr="0" anchor="t" bIns="33750" lIns="67500" spcFirstLastPara="1" rIns="67500" wrap="square" tIns="33750">
            <a:noAutofit/>
          </a:bodyPr>
          <a:lstStyle/>
          <a:p>
            <a:pPr indent="-209550" lvl="0" marL="2159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Calibri"/>
                <a:ea typeface="Calibri"/>
                <a:cs typeface="Calibri"/>
                <a:sym typeface="Calibri"/>
              </a:rPr>
              <a:t>Efficient communication system:</a:t>
            </a:r>
            <a:r>
              <a:rPr b="0" i="0" lang="en" sz="1500" u="none" cap="none" strike="noStrike">
                <a:solidFill>
                  <a:srgbClr val="000000"/>
                </a:solidFill>
                <a:latin typeface="Calibri"/>
                <a:ea typeface="Calibri"/>
                <a:cs typeface="Calibri"/>
                <a:sym typeface="Calibri"/>
              </a:rPr>
              <a:t> To make the chance of error as small as you wish? </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Calibri"/>
                <a:ea typeface="Calibri"/>
                <a:cs typeface="Calibri"/>
                <a:sym typeface="Calibri"/>
              </a:rPr>
              <a:t>Message encoding:</a:t>
            </a:r>
            <a:r>
              <a:rPr b="0" i="0" lang="en" sz="1500" u="none" cap="none" strike="noStrike">
                <a:solidFill>
                  <a:srgbClr val="000000"/>
                </a:solidFill>
                <a:latin typeface="Calibri"/>
                <a:ea typeface="Calibri"/>
                <a:cs typeface="Calibri"/>
                <a:sym typeface="Calibri"/>
              </a:rPr>
              <a:t> Whether </a:t>
            </a:r>
            <a:r>
              <a:rPr b="0" i="0" lang="en" sz="1500" u="none" cap="none" strike="noStrike">
                <a:solidFill>
                  <a:srgbClr val="0000FF"/>
                </a:solidFill>
                <a:latin typeface="Calibri"/>
                <a:ea typeface="Calibri"/>
                <a:cs typeface="Calibri"/>
                <a:sym typeface="Calibri"/>
              </a:rPr>
              <a:t>removing redundancy</a:t>
            </a:r>
            <a:r>
              <a:rPr b="0" i="0" lang="en" sz="1500" u="none" cap="none" strike="noStrike">
                <a:solidFill>
                  <a:srgbClr val="000000"/>
                </a:solidFill>
                <a:latin typeface="Calibri"/>
                <a:ea typeface="Calibri"/>
                <a:cs typeface="Calibri"/>
                <a:sym typeface="Calibri"/>
              </a:rPr>
              <a:t> to </a:t>
            </a:r>
            <a:r>
              <a:rPr b="0" i="0" lang="en" sz="1500" u="none" cap="none" strike="noStrike">
                <a:solidFill>
                  <a:srgbClr val="9900FF"/>
                </a:solidFill>
                <a:latin typeface="Calibri"/>
                <a:ea typeface="Calibri"/>
                <a:cs typeface="Calibri"/>
                <a:sym typeface="Calibri"/>
              </a:rPr>
              <a:t>increase efficiency</a:t>
            </a:r>
            <a:r>
              <a:rPr b="0" i="0" lang="en" sz="1500" u="none" cap="none" strike="noStrike">
                <a:solidFill>
                  <a:srgbClr val="000000"/>
                </a:solidFill>
                <a:latin typeface="Calibri"/>
                <a:ea typeface="Calibri"/>
                <a:cs typeface="Calibri"/>
                <a:sym typeface="Calibri"/>
              </a:rPr>
              <a:t> or </a:t>
            </a:r>
            <a:r>
              <a:rPr b="0" i="0" lang="en" sz="1500" u="none" cap="none" strike="noStrike">
                <a:solidFill>
                  <a:srgbClr val="0000FF"/>
                </a:solidFill>
                <a:latin typeface="Calibri"/>
                <a:ea typeface="Calibri"/>
                <a:cs typeface="Calibri"/>
                <a:sym typeface="Calibri"/>
              </a:rPr>
              <a:t>adding redundancy</a:t>
            </a:r>
            <a:r>
              <a:rPr b="0" i="0" lang="en" sz="1500" u="none" cap="none" strike="noStrike">
                <a:solidFill>
                  <a:srgbClr val="000000"/>
                </a:solidFill>
                <a:latin typeface="Calibri"/>
                <a:ea typeface="Calibri"/>
                <a:cs typeface="Calibri"/>
                <a:sym typeface="Calibri"/>
              </a:rPr>
              <a:t> to enable </a:t>
            </a:r>
            <a:r>
              <a:rPr b="0" i="0" lang="en" sz="1500" u="none" cap="none" strike="noStrike">
                <a:solidFill>
                  <a:srgbClr val="9900FF"/>
                </a:solidFill>
                <a:latin typeface="Calibri"/>
                <a:ea typeface="Calibri"/>
                <a:cs typeface="Calibri"/>
                <a:sym typeface="Calibri"/>
              </a:rPr>
              <a:t>error correction </a:t>
            </a:r>
            <a:r>
              <a:rPr b="0" i="0" lang="en" sz="1500" u="none" cap="none" strike="noStrike">
                <a:solidFill>
                  <a:schemeClr val="dk1"/>
                </a:solidFill>
                <a:latin typeface="Calibri"/>
                <a:ea typeface="Calibri"/>
                <a:cs typeface="Calibri"/>
                <a:sym typeface="Calibri"/>
              </a:rPr>
              <a:t>(increase robustness)</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Hypothesized the working over electrical communication devices – </a:t>
            </a:r>
            <a:r>
              <a:rPr b="1" i="0" lang="en" sz="1500" u="none" cap="none" strike="noStrike">
                <a:solidFill>
                  <a:srgbClr val="000000"/>
                </a:solidFill>
                <a:latin typeface="Calibri"/>
                <a:ea typeface="Calibri"/>
                <a:cs typeface="Calibri"/>
                <a:sym typeface="Calibri"/>
              </a:rPr>
              <a:t>flip-flops</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SzPts val="1500"/>
              <a:buFont typeface="Arial"/>
              <a:buNone/>
            </a:pPr>
            <a:r>
              <a:t/>
            </a:r>
            <a:endParaRPr b="0" i="0" sz="1500" u="none" cap="none" strike="noStrike">
              <a:latin typeface="Arial"/>
              <a:ea typeface="Arial"/>
              <a:cs typeface="Arial"/>
              <a:sym typeface="Arial"/>
            </a:endParaRPr>
          </a:p>
          <a:p>
            <a:pPr indent="-209550" lvl="0" marL="215900" marR="0" rtl="0" algn="l">
              <a:lnSpc>
                <a:spcPct val="100000"/>
              </a:lnSpc>
              <a:spcBef>
                <a:spcPts val="0"/>
              </a:spcBef>
              <a:spcAft>
                <a:spcPts val="0"/>
              </a:spcAft>
              <a:buClr>
                <a:srgbClr val="000000"/>
              </a:buClr>
              <a:buSzPts val="1500"/>
              <a:buFont typeface="Arial"/>
              <a:buChar char="•"/>
            </a:pPr>
            <a:r>
              <a:rPr b="1" i="0" lang="en" sz="1500" u="none" cap="none" strike="noStrike">
                <a:solidFill>
                  <a:srgbClr val="000000"/>
                </a:solidFill>
                <a:latin typeface="Calibri"/>
                <a:ea typeface="Calibri"/>
                <a:cs typeface="Calibri"/>
                <a:sym typeface="Calibri"/>
              </a:rPr>
              <a:t>The Mathematical Theory of Communication (1949)</a:t>
            </a:r>
            <a:r>
              <a:rPr b="1" i="0" lang="en" sz="1500" u="none" cap="none" strike="noStrike">
                <a:solidFill>
                  <a:srgbClr val="FF0000"/>
                </a:solidFill>
                <a:latin typeface="Calibri"/>
                <a:ea typeface="Calibri"/>
                <a:cs typeface="Calibri"/>
                <a:sym typeface="Calibri"/>
              </a:rPr>
              <a:t> by CE Shannon </a:t>
            </a:r>
            <a:r>
              <a:rPr b="0" i="0" lang="en" sz="1500" u="none" cap="none" strike="noStrike">
                <a:solidFill>
                  <a:srgbClr val="000000"/>
                </a:solidFill>
                <a:latin typeface="Calibri"/>
                <a:ea typeface="Calibri"/>
                <a:cs typeface="Calibri"/>
                <a:sym typeface="Calibri"/>
              </a:rPr>
              <a:t>– The Noisy Channel Model</a:t>
            </a:r>
            <a:r>
              <a:rPr b="1" i="0" lang="en" sz="1500" u="none" cap="none" strike="noStrike">
                <a:solidFill>
                  <a:srgbClr val="FF0000"/>
                </a:solidFill>
                <a:latin typeface="Calibri"/>
                <a:ea typeface="Calibri"/>
                <a:cs typeface="Calibri"/>
                <a:sym typeface="Calibri"/>
              </a:rPr>
              <a:t>  </a:t>
            </a:r>
            <a:endParaRPr b="0" i="0" sz="1500" u="none" cap="none" strike="noStrike">
              <a:latin typeface="Arial"/>
              <a:ea typeface="Arial"/>
              <a:cs typeface="Arial"/>
              <a:sym typeface="Arial"/>
            </a:endParaRPr>
          </a:p>
        </p:txBody>
      </p:sp>
      <p:sp>
        <p:nvSpPr>
          <p:cNvPr id="313" name="Google Shape;313;p49"/>
          <p:cNvSpPr/>
          <p:nvPr/>
        </p:nvSpPr>
        <p:spPr>
          <a:xfrm>
            <a:off x="494640" y="1516590"/>
            <a:ext cx="270" cy="2611170"/>
          </a:xfrm>
          <a:custGeom>
            <a:rect b="b" l="l" r="r" t="t"/>
            <a:pathLst>
              <a:path extrusionOk="0" h="21600" w="21600">
                <a:moveTo>
                  <a:pt x="0" y="0"/>
                </a:moveTo>
                <a:lnTo>
                  <a:pt x="21600" y="21600"/>
                </a:lnTo>
              </a:path>
            </a:pathLst>
          </a:custGeom>
          <a:noFill/>
          <a:ln cap="flat" cmpd="sng" w="7150">
            <a:solidFill>
              <a:srgbClr val="4472C4"/>
            </a:solidFill>
            <a:prstDash val="solid"/>
            <a:miter lim="8000"/>
            <a:headEnd len="sm" w="sm" type="none"/>
            <a:tailEnd len="med" w="med" type="triangle"/>
          </a:ln>
        </p:spPr>
      </p:sp>
      <p:sp>
        <p:nvSpPr>
          <p:cNvPr id="314" name="Google Shape;314;p49"/>
          <p:cNvSpPr txBox="1"/>
          <p:nvPr/>
        </p:nvSpPr>
        <p:spPr>
          <a:xfrm>
            <a:off x="1797075" y="4629000"/>
            <a:ext cx="606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Context reduces uncertainty: </a:t>
            </a:r>
            <a:r>
              <a:rPr i="1" lang="en">
                <a:solidFill>
                  <a:srgbClr val="7030A0"/>
                </a:solidFill>
              </a:rPr>
              <a:t>B</a:t>
            </a:r>
            <a:r>
              <a:rPr i="1" lang="en">
                <a:solidFill>
                  <a:srgbClr val="7030A0"/>
                </a:solidFill>
              </a:rPr>
              <a:t>asic intuition behind language modeling!</a:t>
            </a:r>
            <a:endParaRPr i="1">
              <a:solidFill>
                <a:srgbClr val="7030A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0"/>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Quantifying predictability and redundancy</a:t>
            </a:r>
            <a:endParaRPr b="0" sz="3300" strike="noStrike">
              <a:solidFill>
                <a:srgbClr val="000000"/>
              </a:solidFill>
              <a:latin typeface="Calibri"/>
              <a:ea typeface="Calibri"/>
              <a:cs typeface="Calibri"/>
              <a:sym typeface="Calibri"/>
            </a:endParaRPr>
          </a:p>
        </p:txBody>
      </p:sp>
      <p:pic>
        <p:nvPicPr>
          <p:cNvPr id="320" name="Google Shape;320;p50"/>
          <p:cNvPicPr preferRelativeResize="0"/>
          <p:nvPr/>
        </p:nvPicPr>
        <p:blipFill rotWithShape="1">
          <a:blip r:embed="rId3">
            <a:alphaModFix/>
          </a:blip>
          <a:srcRect b="0" l="0" r="0" t="0"/>
          <a:stretch/>
        </p:blipFill>
        <p:spPr>
          <a:xfrm>
            <a:off x="4050270" y="1369170"/>
            <a:ext cx="4788719" cy="3263220"/>
          </a:xfrm>
          <a:prstGeom prst="rect">
            <a:avLst/>
          </a:prstGeom>
          <a:noFill/>
          <a:ln cap="sq" cmpd="sng" w="28575">
            <a:solidFill>
              <a:srgbClr val="000000"/>
            </a:solidFill>
            <a:prstDash val="solid"/>
            <a:miter lim="8000"/>
            <a:headEnd len="sm" w="sm" type="none"/>
            <a:tailEnd len="sm" w="sm" type="none"/>
          </a:ln>
          <a:effectLst>
            <a:outerShdw blurRad="38070" rotWithShape="0" algn="tl" dir="2700000" dist="28255">
              <a:srgbClr val="000000">
                <a:alpha val="43140"/>
              </a:srgbClr>
            </a:outerShdw>
          </a:effectLst>
        </p:spPr>
      </p:pic>
      <p:sp>
        <p:nvSpPr>
          <p:cNvPr id="321" name="Google Shape;321;p50"/>
          <p:cNvSpPr/>
          <p:nvPr/>
        </p:nvSpPr>
        <p:spPr>
          <a:xfrm rot="-674439">
            <a:off x="623747" y="2124197"/>
            <a:ext cx="2919505" cy="1713154"/>
          </a:xfrm>
          <a:prstGeom prst="rect">
            <a:avLst/>
          </a:prstGeom>
          <a:noFill/>
          <a:ln cap="flat" cmpd="sng" w="7150">
            <a:solidFill>
              <a:srgbClr val="000000"/>
            </a:solidFill>
            <a:prstDash val="solid"/>
            <a:round/>
            <a:headEnd len="sm" w="sm" type="none"/>
            <a:tailEnd len="sm" w="sm" type="none"/>
          </a:ln>
        </p:spPr>
        <p:txBody>
          <a:bodyPr anchorCtr="0" anchor="t" bIns="33750" lIns="67500" spcFirstLastPara="1" rIns="67500" wrap="square" tIns="33750">
            <a:noAutofit/>
          </a:bodyPr>
          <a:lstStyle/>
          <a:p>
            <a:pPr indent="0" lvl="0" marL="0" marR="0" rtl="0" algn="just">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Shannon estimated that English (over eight letters) has a built-in redundancy of about 50 percent: </a:t>
            </a:r>
            <a:endParaRPr b="0" i="0" sz="1400" u="none" cap="none" strike="noStrike">
              <a:latin typeface="Arial"/>
              <a:ea typeface="Arial"/>
              <a:cs typeface="Arial"/>
              <a:sym typeface="Arial"/>
            </a:endParaRPr>
          </a:p>
          <a:p>
            <a:pPr indent="0" lvl="0" marL="0" marR="0" rtl="0" algn="just">
              <a:lnSpc>
                <a:spcPct val="100000"/>
              </a:lnSpc>
              <a:spcBef>
                <a:spcPts val="0"/>
              </a:spcBef>
              <a:spcAft>
                <a:spcPts val="0"/>
              </a:spcAft>
              <a:buSzPts val="1400"/>
              <a:buFont typeface="Arial"/>
              <a:buNone/>
            </a:pPr>
            <a:r>
              <a:t/>
            </a:r>
            <a:endParaRPr b="0" i="0" sz="1400" u="none" cap="none" strike="noStrike">
              <a:latin typeface="Arial"/>
              <a:ea typeface="Arial"/>
              <a:cs typeface="Arial"/>
              <a:sym typeface="Arial"/>
            </a:endParaRPr>
          </a:p>
          <a:p>
            <a:pPr indent="0" lvl="0" marL="0" marR="0" rtl="0" algn="just">
              <a:lnSpc>
                <a:spcPct val="100000"/>
              </a:lnSpc>
              <a:spcBef>
                <a:spcPts val="0"/>
              </a:spcBef>
              <a:spcAft>
                <a:spcPts val="0"/>
              </a:spcAft>
              <a:buClr>
                <a:srgbClr val="0070C0"/>
              </a:buClr>
              <a:buSzPts val="1400"/>
              <a:buFont typeface="Calibri"/>
              <a:buNone/>
            </a:pPr>
            <a:r>
              <a:rPr b="0" i="0" lang="en" sz="1400" u="none" cap="none" strike="noStrike">
                <a:solidFill>
                  <a:srgbClr val="0070C0"/>
                </a:solidFill>
                <a:latin typeface="Calibri"/>
                <a:ea typeface="Calibri"/>
                <a:cs typeface="Calibri"/>
                <a:sym typeface="Calibri"/>
              </a:rPr>
              <a:t>Each new character of a message conveys not 5 bits but only about 2.3</a:t>
            </a:r>
            <a:endParaRPr b="0" i="0" sz="1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50% built-in redundancy in English</a:t>
            </a:r>
            <a:endParaRPr/>
          </a:p>
        </p:txBody>
      </p:sp>
      <p:sp>
        <p:nvSpPr>
          <p:cNvPr id="327" name="Google Shape;327;p51"/>
          <p:cNvSpPr txBox="1"/>
          <p:nvPr>
            <p:ph idx="1" type="body"/>
          </p:nvPr>
        </p:nvSpPr>
        <p:spPr>
          <a:xfrm>
            <a:off x="311700" y="1152475"/>
            <a:ext cx="8587800" cy="380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Hypothesis:</a:t>
            </a:r>
            <a:endParaRPr/>
          </a:p>
          <a:p>
            <a:pPr indent="-317500" lvl="1" marL="914400" rtl="0" algn="l">
              <a:spcBef>
                <a:spcPts val="0"/>
              </a:spcBef>
              <a:spcAft>
                <a:spcPts val="0"/>
              </a:spcAft>
              <a:buSzPts val="1400"/>
              <a:buChar char="-"/>
            </a:pPr>
            <a:r>
              <a:rPr lang="en"/>
              <a:t>To represent 26 unique options in binary code, you need </a:t>
            </a:r>
            <a:r>
              <a:rPr b="1" lang="en"/>
              <a:t>5 bits</a:t>
            </a:r>
            <a:r>
              <a:rPr lang="en"/>
              <a:t> because 2</a:t>
            </a:r>
            <a:r>
              <a:rPr baseline="30000" lang="en"/>
              <a:t>4</a:t>
            </a:r>
            <a:r>
              <a:rPr lang="en"/>
              <a:t> = 16 (not enough) and 2</a:t>
            </a:r>
            <a:r>
              <a:rPr baseline="30000" lang="en"/>
              <a:t>5</a:t>
            </a:r>
            <a:r>
              <a:rPr lang="en"/>
              <a:t> = 32 (more than enough)</a:t>
            </a:r>
            <a:endParaRPr/>
          </a:p>
          <a:p>
            <a:pPr indent="-317500" lvl="1" marL="914400" rtl="0" algn="l">
              <a:spcBef>
                <a:spcPts val="0"/>
              </a:spcBef>
              <a:spcAft>
                <a:spcPts val="0"/>
              </a:spcAft>
              <a:buSzPts val="1400"/>
              <a:buChar char="-"/>
            </a:pPr>
            <a:r>
              <a:rPr lang="en"/>
              <a:t>If English was completely random then every single letter you typed would deliver a full 5 bits of brand-new information</a:t>
            </a:r>
            <a:br>
              <a:rPr lang="en"/>
            </a:br>
            <a:endParaRPr/>
          </a:p>
          <a:p>
            <a:pPr indent="-342900" lvl="0" marL="457200" rtl="0" algn="l">
              <a:spcBef>
                <a:spcPts val="0"/>
              </a:spcBef>
              <a:spcAft>
                <a:spcPts val="0"/>
              </a:spcAft>
              <a:buSzPts val="1800"/>
              <a:buChar char="-"/>
            </a:pPr>
            <a:r>
              <a:rPr lang="en"/>
              <a:t>Shannon’s Observation:</a:t>
            </a:r>
            <a:endParaRPr/>
          </a:p>
          <a:p>
            <a:pPr indent="-317500" lvl="1" marL="914400" rtl="0" algn="l">
              <a:spcBef>
                <a:spcPts val="0"/>
              </a:spcBef>
              <a:spcAft>
                <a:spcPts val="0"/>
              </a:spcAft>
              <a:buSzPts val="1400"/>
              <a:buChar char="-"/>
            </a:pPr>
            <a:r>
              <a:rPr lang="en"/>
              <a:t>Reading a sequence of English text longer than 8 letters, the actual information being delivered drops to about 2.3 bits per character</a:t>
            </a:r>
            <a:endParaRPr/>
          </a:p>
          <a:p>
            <a:pPr indent="-317500" lvl="1" marL="914400" rtl="0" algn="l">
              <a:spcBef>
                <a:spcPts val="0"/>
              </a:spcBef>
              <a:spcAft>
                <a:spcPts val="0"/>
              </a:spcAft>
              <a:buSzPts val="1400"/>
              <a:buChar char="-"/>
            </a:pPr>
            <a:r>
              <a:rPr lang="en"/>
              <a:t>Letters do not appear randomly but rather follow strict statistical patterns</a:t>
            </a:r>
            <a:endParaRPr/>
          </a:p>
          <a:p>
            <a:pPr indent="-317500" lvl="2" marL="1371600" rtl="0" algn="l">
              <a:spcBef>
                <a:spcPts val="0"/>
              </a:spcBef>
              <a:spcAft>
                <a:spcPts val="0"/>
              </a:spcAft>
              <a:buSzPts val="1400"/>
              <a:buChar char="-"/>
            </a:pPr>
            <a:r>
              <a:rPr lang="en"/>
              <a:t>If you see the letters </a:t>
            </a:r>
            <a:r>
              <a:rPr i="1" lang="en"/>
              <a:t>t-h-e-r-e-f-o-r-</a:t>
            </a:r>
            <a:r>
              <a:rPr lang="en"/>
              <a:t>, your brain instantly fills in the e</a:t>
            </a:r>
            <a:endParaRPr/>
          </a:p>
          <a:p>
            <a:pPr indent="-317500" lvl="2" marL="1371600" rtl="0" algn="l">
              <a:spcBef>
                <a:spcPts val="0"/>
              </a:spcBef>
              <a:spcAft>
                <a:spcPts val="0"/>
              </a:spcAft>
              <a:buSzPts val="1400"/>
              <a:buChar char="-"/>
            </a:pPr>
            <a:r>
              <a:rPr lang="en"/>
              <a:t>You can easily read a sentence with all the vowels removed: </a:t>
            </a:r>
            <a:r>
              <a:rPr i="1" lang="en"/>
              <a:t>Ths sntnc s stll rdbl</a:t>
            </a:r>
            <a:endParaRPr i="1"/>
          </a:p>
          <a:p>
            <a:pPr indent="-317500" lvl="2" marL="1371600" rtl="0" algn="l">
              <a:spcBef>
                <a:spcPts val="0"/>
              </a:spcBef>
              <a:spcAft>
                <a:spcPts val="0"/>
              </a:spcAft>
              <a:buSzPts val="1400"/>
              <a:buChar char="-"/>
            </a:pPr>
            <a:r>
              <a:rPr lang="en"/>
              <a:t>Spot a typo instantly – Error violates the expected statistical pattern of the language</a:t>
            </a:r>
            <a:br>
              <a:rPr lang="en"/>
            </a:br>
            <a:endParaRPr/>
          </a:p>
          <a:p>
            <a:pPr indent="-342900" lvl="0" marL="457200" rtl="0" algn="l">
              <a:spcBef>
                <a:spcPts val="0"/>
              </a:spcBef>
              <a:spcAft>
                <a:spcPts val="0"/>
              </a:spcAft>
              <a:buSzPts val="1800"/>
              <a:buChar char="-"/>
            </a:pPr>
            <a:r>
              <a:rPr lang="en"/>
              <a:t>Conclusion: </a:t>
            </a:r>
            <a:endParaRPr/>
          </a:p>
          <a:p>
            <a:pPr indent="-317500" lvl="1" marL="914400" rtl="0" algn="l">
              <a:spcBef>
                <a:spcPts val="0"/>
              </a:spcBef>
              <a:spcAft>
                <a:spcPts val="0"/>
              </a:spcAft>
              <a:buSzPts val="1400"/>
              <a:buChar char="-"/>
            </a:pPr>
            <a:r>
              <a:rPr lang="en"/>
              <a:t>The actual information content (2.3 bits) is roughly half of the raw capacity (5 bits), Shannon concluded that English has a 50% redundancy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52"/>
          <p:cNvPicPr preferRelativeResize="0"/>
          <p:nvPr/>
        </p:nvPicPr>
        <p:blipFill rotWithShape="1">
          <a:blip r:embed="rId3">
            <a:alphaModFix/>
          </a:blip>
          <a:srcRect b="0" l="0" r="3707" t="0"/>
          <a:stretch/>
        </p:blipFill>
        <p:spPr>
          <a:xfrm>
            <a:off x="6341607" y="1887205"/>
            <a:ext cx="2785976" cy="1691000"/>
          </a:xfrm>
          <a:prstGeom prst="rect">
            <a:avLst/>
          </a:prstGeom>
          <a:noFill/>
          <a:ln>
            <a:noFill/>
          </a:ln>
        </p:spPr>
      </p:pic>
      <p:sp>
        <p:nvSpPr>
          <p:cNvPr id="333" name="Google Shape;333;p52"/>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lang="en" sz="3300">
                <a:solidFill>
                  <a:srgbClr val="000000"/>
                </a:solidFill>
                <a:latin typeface="Calibri"/>
                <a:ea typeface="Calibri"/>
                <a:cs typeface="Calibri"/>
                <a:sym typeface="Calibri"/>
              </a:rPr>
              <a:t>Entropy</a:t>
            </a:r>
            <a:endParaRPr b="0" sz="3300" strike="noStrike">
              <a:solidFill>
                <a:srgbClr val="000000"/>
              </a:solidFill>
              <a:latin typeface="Calibri"/>
              <a:ea typeface="Calibri"/>
              <a:cs typeface="Calibri"/>
              <a:sym typeface="Calibri"/>
            </a:endParaRPr>
          </a:p>
        </p:txBody>
      </p:sp>
      <p:sp>
        <p:nvSpPr>
          <p:cNvPr id="334" name="Google Shape;334;p52"/>
          <p:cNvSpPr txBox="1"/>
          <p:nvPr>
            <p:ph idx="4294967295" type="body"/>
          </p:nvPr>
        </p:nvSpPr>
        <p:spPr>
          <a:xfrm>
            <a:off x="628550" y="1402100"/>
            <a:ext cx="8411700" cy="3569400"/>
          </a:xfrm>
          <a:prstGeom prst="rect">
            <a:avLst/>
          </a:prstGeom>
          <a:noFill/>
          <a:ln>
            <a:noFill/>
          </a:ln>
        </p:spPr>
        <p:txBody>
          <a:bodyPr anchorCtr="0" anchor="t" bIns="34275" lIns="68575" spcFirstLastPara="1" rIns="68575" wrap="square" tIns="34275">
            <a:normAutofit lnSpcReduction="10000"/>
          </a:bodyPr>
          <a:lstStyle/>
          <a:p>
            <a:pPr indent="0" lvl="0" marL="457200" marR="0" rtl="0" algn="l">
              <a:lnSpc>
                <a:spcPct val="90000"/>
              </a:lnSpc>
              <a:spcBef>
                <a:spcPts val="0"/>
              </a:spcBef>
              <a:spcAft>
                <a:spcPts val="0"/>
              </a:spcAft>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968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Average uncertainty </a:t>
            </a:r>
            <a:r>
              <a:rPr b="0" i="0" lang="en" sz="2100" u="none" cap="none" strike="noStrike">
                <a:solidFill>
                  <a:srgbClr val="FF0000"/>
                </a:solidFill>
                <a:latin typeface="Calibri"/>
                <a:ea typeface="Calibri"/>
                <a:cs typeface="Calibri"/>
                <a:sym typeface="Calibri"/>
              </a:rPr>
              <a:t>of a symbol</a:t>
            </a:r>
            <a:r>
              <a:rPr b="0" i="0" lang="en" sz="2100" u="none" cap="none" strike="noStrike">
                <a:solidFill>
                  <a:srgbClr val="000000"/>
                </a:solidFill>
                <a:latin typeface="Calibri"/>
                <a:ea typeface="Calibri"/>
                <a:cs typeface="Calibri"/>
                <a:sym typeface="Calibri"/>
              </a:rPr>
              <a:t> or </a:t>
            </a:r>
            <a:r>
              <a:rPr b="0" i="0" lang="en" sz="2100" u="none" cap="none" strike="noStrike">
                <a:solidFill>
                  <a:srgbClr val="FF0000"/>
                </a:solidFill>
                <a:latin typeface="Calibri"/>
                <a:ea typeface="Calibri"/>
                <a:cs typeface="Calibri"/>
                <a:sym typeface="Calibri"/>
              </a:rPr>
              <a:t>a random variable</a:t>
            </a:r>
            <a:endParaRPr b="0" i="0" sz="2100" u="none" cap="none" strike="noStrike">
              <a:solidFill>
                <a:srgbClr val="000000"/>
              </a:solidFill>
              <a:latin typeface="Calibri"/>
              <a:ea typeface="Calibri"/>
              <a:cs typeface="Calibri"/>
              <a:sym typeface="Calibri"/>
            </a:endParaRPr>
          </a:p>
          <a:p>
            <a:pPr indent="-1968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Expected surprise (computed over probabilities)</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968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Entropy does </a:t>
            </a:r>
            <a:r>
              <a:rPr b="1" i="1" lang="en" sz="2100" u="none" cap="none" strike="noStrike">
                <a:solidFill>
                  <a:srgbClr val="FF0000"/>
                </a:solidFill>
                <a:latin typeface="Calibri"/>
                <a:ea typeface="Calibri"/>
                <a:cs typeface="Calibri"/>
                <a:sym typeface="Calibri"/>
              </a:rPr>
              <a:t>not</a:t>
            </a:r>
            <a:r>
              <a:rPr b="0" i="0" lang="en" sz="2100" u="none" cap="none" strike="noStrike">
                <a:solidFill>
                  <a:srgbClr val="000000"/>
                </a:solidFill>
                <a:latin typeface="Calibri"/>
                <a:ea typeface="Calibri"/>
                <a:cs typeface="Calibri"/>
                <a:sym typeface="Calibri"/>
              </a:rPr>
              <a:t> truly represent the randomness in the </a:t>
            </a:r>
            <a:r>
              <a:rPr b="0" i="0" lang="en" sz="2100" u="none" cap="none" strike="noStrike">
                <a:solidFill>
                  <a:srgbClr val="FF0000"/>
                </a:solidFill>
                <a:latin typeface="Calibri"/>
                <a:ea typeface="Calibri"/>
                <a:cs typeface="Calibri"/>
                <a:sym typeface="Calibri"/>
              </a:rPr>
              <a:t>sequence</a:t>
            </a:r>
            <a:r>
              <a:rPr b="0" i="0" lang="en" sz="2100" u="none" cap="none" strike="noStrike">
                <a:solidFill>
                  <a:srgbClr val="000000"/>
                </a:solidFill>
                <a:latin typeface="Calibri"/>
                <a:ea typeface="Calibri"/>
                <a:cs typeface="Calibri"/>
                <a:sym typeface="Calibri"/>
              </a:rPr>
              <a:t>!</a:t>
            </a:r>
            <a:endParaRPr b="0" i="0" sz="2100" u="none" cap="none" strike="noStrike">
              <a:solidFill>
                <a:srgbClr val="000000"/>
              </a:solidFill>
              <a:latin typeface="Calibri"/>
              <a:ea typeface="Calibri"/>
              <a:cs typeface="Calibri"/>
              <a:sym typeface="Calibri"/>
            </a:endParaRPr>
          </a:p>
          <a:p>
            <a:pPr indent="-1968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Only measures the </a:t>
            </a:r>
            <a:r>
              <a:rPr b="0" i="0" lang="en" sz="2100" u="none" cap="none" strike="noStrike">
                <a:solidFill>
                  <a:srgbClr val="FF0000"/>
                </a:solidFill>
                <a:latin typeface="Calibri"/>
                <a:ea typeface="Calibri"/>
                <a:cs typeface="Calibri"/>
                <a:sym typeface="Calibri"/>
              </a:rPr>
              <a:t>relative difference </a:t>
            </a:r>
            <a:r>
              <a:rPr b="0" i="0" lang="en" sz="2100" u="none" cap="none" strike="noStrike">
                <a:solidFill>
                  <a:srgbClr val="000000"/>
                </a:solidFill>
                <a:latin typeface="Calibri"/>
                <a:ea typeface="Calibri"/>
                <a:cs typeface="Calibri"/>
                <a:sym typeface="Calibri"/>
              </a:rPr>
              <a:t>in the</a:t>
            </a:r>
            <a:r>
              <a:rPr b="0" i="0" lang="en" sz="2100" u="none" cap="none" strike="noStrike">
                <a:solidFill>
                  <a:srgbClr val="FF0000"/>
                </a:solidFill>
                <a:latin typeface="Calibri"/>
                <a:ea typeface="Calibri"/>
                <a:cs typeface="Calibri"/>
                <a:sym typeface="Calibri"/>
              </a:rPr>
              <a:t> frequencies</a:t>
            </a:r>
            <a:r>
              <a:rPr b="0" i="0" lang="en" sz="2100" u="none" cap="none" strike="noStrike">
                <a:solidFill>
                  <a:srgbClr val="000000"/>
                </a:solidFill>
                <a:latin typeface="Calibri"/>
                <a:ea typeface="Calibri"/>
                <a:cs typeface="Calibri"/>
                <a:sym typeface="Calibri"/>
              </a:rPr>
              <a:t> of each symbol</a:t>
            </a:r>
            <a:endParaRPr b="0" i="0" sz="2100" u="none" cap="none" strike="noStrike">
              <a:solidFill>
                <a:srgbClr val="000000"/>
              </a:solidFill>
              <a:latin typeface="Calibri"/>
              <a:ea typeface="Calibri"/>
              <a:cs typeface="Calibri"/>
              <a:sym typeface="Calibri"/>
            </a:endParaRPr>
          </a:p>
          <a:p>
            <a:pPr indent="-196850" lvl="0" marL="177800" marR="0" rtl="0" algn="l">
              <a:lnSpc>
                <a:spcPct val="90000"/>
              </a:lnSpc>
              <a:spcBef>
                <a:spcPts val="800"/>
              </a:spcBef>
              <a:spcAft>
                <a:spcPts val="1200"/>
              </a:spcAft>
              <a:buClr>
                <a:srgbClr val="0070C0"/>
              </a:buClr>
              <a:buSzPts val="2100"/>
              <a:buFont typeface="Arial"/>
              <a:buChar char="•"/>
            </a:pPr>
            <a:r>
              <a:rPr b="0" i="0" lang="en" sz="2100" u="none" cap="none" strike="noStrike">
                <a:solidFill>
                  <a:srgbClr val="0070C0"/>
                </a:solidFill>
                <a:latin typeface="Calibri"/>
                <a:ea typeface="Calibri"/>
                <a:cs typeface="Calibri"/>
                <a:sym typeface="Calibri"/>
              </a:rPr>
              <a:t>Average length </a:t>
            </a:r>
            <a:r>
              <a:rPr b="0" i="0" lang="en" sz="2100" u="none" cap="none" strike="noStrike">
                <a:solidFill>
                  <a:srgbClr val="000000"/>
                </a:solidFill>
                <a:latin typeface="Calibri"/>
                <a:ea typeface="Calibri"/>
                <a:cs typeface="Calibri"/>
                <a:sym typeface="Calibri"/>
              </a:rPr>
              <a:t>of the</a:t>
            </a:r>
            <a:r>
              <a:rPr b="0" i="0" lang="en" sz="2100" u="none" cap="none" strike="noStrike">
                <a:solidFill>
                  <a:srgbClr val="0070C0"/>
                </a:solidFill>
                <a:latin typeface="Calibri"/>
                <a:ea typeface="Calibri"/>
                <a:cs typeface="Calibri"/>
                <a:sym typeface="Calibri"/>
              </a:rPr>
              <a:t> message </a:t>
            </a:r>
            <a:r>
              <a:rPr b="0" i="0" lang="en" sz="2100" u="none" cap="none" strike="noStrike">
                <a:solidFill>
                  <a:srgbClr val="000000"/>
                </a:solidFill>
                <a:latin typeface="Calibri"/>
                <a:ea typeface="Calibri"/>
                <a:cs typeface="Calibri"/>
                <a:sym typeface="Calibri"/>
              </a:rPr>
              <a:t>needed to</a:t>
            </a:r>
            <a:r>
              <a:rPr b="0" i="0" lang="en" sz="2100" u="none" cap="none" strike="noStrike">
                <a:solidFill>
                  <a:srgbClr val="0070C0"/>
                </a:solidFill>
                <a:latin typeface="Calibri"/>
                <a:ea typeface="Calibri"/>
                <a:cs typeface="Calibri"/>
                <a:sym typeface="Calibri"/>
              </a:rPr>
              <a:t> </a:t>
            </a:r>
            <a:r>
              <a:rPr b="0" i="0" lang="en" sz="2100" u="none" cap="none" strike="noStrike">
                <a:solidFill>
                  <a:srgbClr val="000000"/>
                </a:solidFill>
                <a:latin typeface="Calibri"/>
                <a:ea typeface="Calibri"/>
                <a:cs typeface="Calibri"/>
                <a:sym typeface="Calibri"/>
              </a:rPr>
              <a:t>transmit</a:t>
            </a:r>
            <a:r>
              <a:rPr b="0" i="0" lang="en" sz="2100" u="none" cap="none" strike="noStrike">
                <a:solidFill>
                  <a:srgbClr val="0070C0"/>
                </a:solidFill>
                <a:latin typeface="Calibri"/>
                <a:ea typeface="Calibri"/>
                <a:cs typeface="Calibri"/>
                <a:sym typeface="Calibri"/>
              </a:rPr>
              <a:t> an outcome </a:t>
            </a:r>
            <a:r>
              <a:rPr lang="en" sz="2100">
                <a:solidFill>
                  <a:schemeClr val="dk1"/>
                </a:solidFill>
                <a:latin typeface="Calibri"/>
                <a:ea typeface="Calibri"/>
                <a:cs typeface="Calibri"/>
                <a:sym typeface="Calibri"/>
              </a:rPr>
              <a:t>efficiently</a:t>
            </a:r>
            <a:r>
              <a:rPr b="0" i="0" lang="en" sz="2100" u="none" cap="none" strike="noStrike">
                <a:solidFill>
                  <a:schemeClr val="dk1"/>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p:txBody>
      </p:sp>
      <p:pic>
        <p:nvPicPr>
          <p:cNvPr id="335" name="Google Shape;335;p52"/>
          <p:cNvPicPr preferRelativeResize="0"/>
          <p:nvPr/>
        </p:nvPicPr>
        <p:blipFill rotWithShape="1">
          <a:blip r:embed="rId4">
            <a:alphaModFix/>
          </a:blip>
          <a:srcRect b="0" l="0" r="0" t="0"/>
          <a:stretch/>
        </p:blipFill>
        <p:spPr>
          <a:xfrm>
            <a:off x="6511320" y="980640"/>
            <a:ext cx="2185650" cy="799740"/>
          </a:xfrm>
          <a:prstGeom prst="rect">
            <a:avLst/>
          </a:prstGeom>
          <a:noFill/>
          <a:ln>
            <a:noFill/>
          </a:ln>
        </p:spPr>
      </p:pic>
      <p:pic>
        <p:nvPicPr>
          <p:cNvPr id="336" name="Google Shape;336;p52"/>
          <p:cNvPicPr preferRelativeResize="0"/>
          <p:nvPr/>
        </p:nvPicPr>
        <p:blipFill rotWithShape="1">
          <a:blip r:embed="rId5">
            <a:alphaModFix/>
          </a:blip>
          <a:srcRect b="0" l="0" r="0" t="0"/>
          <a:stretch/>
        </p:blipFill>
        <p:spPr>
          <a:xfrm>
            <a:off x="6445440" y="284850"/>
            <a:ext cx="2557170" cy="778410"/>
          </a:xfrm>
          <a:prstGeom prst="rect">
            <a:avLst/>
          </a:prstGeom>
          <a:noFill/>
          <a:ln>
            <a:noFill/>
          </a:ln>
        </p:spPr>
      </p:pic>
      <p:sp>
        <p:nvSpPr>
          <p:cNvPr id="337" name="Google Shape;337;p52"/>
          <p:cNvSpPr/>
          <p:nvPr/>
        </p:nvSpPr>
        <p:spPr>
          <a:xfrm>
            <a:off x="6416280" y="324270"/>
            <a:ext cx="2624100" cy="14295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8" name="Google Shape;338;p52"/>
          <p:cNvSpPr txBox="1"/>
          <p:nvPr/>
        </p:nvSpPr>
        <p:spPr>
          <a:xfrm>
            <a:off x="2081489" y="2813966"/>
            <a:ext cx="3363600" cy="69150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Calibri"/>
                <a:ea typeface="Calibri"/>
                <a:cs typeface="Calibri"/>
                <a:sym typeface="Calibri"/>
              </a:rPr>
              <a:t> </a:t>
            </a:r>
            <a:endParaRPr/>
          </a:p>
        </p:txBody>
      </p:sp>
      <p:sp>
        <p:nvSpPr>
          <p:cNvPr id="339" name="Google Shape;339;p52"/>
          <p:cNvSpPr txBox="1"/>
          <p:nvPr/>
        </p:nvSpPr>
        <p:spPr>
          <a:xfrm>
            <a:off x="-297787" y="1267667"/>
            <a:ext cx="3966000" cy="764700"/>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par>
                                <p:cTn fill="hold" nodeType="with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3"/>
          <p:cNvSpPr txBox="1"/>
          <p:nvPr>
            <p:ph idx="4294967295" type="title"/>
          </p:nvPr>
        </p:nvSpPr>
        <p:spPr>
          <a:xfrm>
            <a:off x="628560" y="7182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Question 1</a:t>
            </a:r>
            <a:endParaRPr b="0" sz="3300" strike="noStrike">
              <a:solidFill>
                <a:srgbClr val="000000"/>
              </a:solidFill>
              <a:latin typeface="Calibri"/>
              <a:ea typeface="Calibri"/>
              <a:cs typeface="Calibri"/>
              <a:sym typeface="Calibri"/>
            </a:endParaRPr>
          </a:p>
        </p:txBody>
      </p:sp>
      <p:sp>
        <p:nvSpPr>
          <p:cNvPr id="345" name="Google Shape;345;p53"/>
          <p:cNvSpPr txBox="1"/>
          <p:nvPr>
            <p:ph idx="4294967295" type="body"/>
          </p:nvPr>
        </p:nvSpPr>
        <p:spPr>
          <a:xfrm>
            <a:off x="628560" y="986850"/>
            <a:ext cx="8161200" cy="3263100"/>
          </a:xfrm>
          <a:prstGeom prst="rect">
            <a:avLst/>
          </a:prstGeom>
          <a:noFill/>
          <a:ln>
            <a:noFill/>
          </a:ln>
        </p:spPr>
        <p:txBody>
          <a:bodyPr anchorCtr="0" anchor="t" bIns="34275" lIns="68575" spcFirstLastPara="1" rIns="68575" wrap="square" tIns="34275">
            <a:normAutofit lnSpcReduction="10000"/>
          </a:bodyPr>
          <a:lstStyle/>
          <a:p>
            <a:pPr indent="0" lvl="0" marL="0" marR="0" rtl="0" algn="l">
              <a:lnSpc>
                <a:spcPct val="90000"/>
              </a:lnSpc>
              <a:spcBef>
                <a:spcPts val="0"/>
              </a:spcBef>
              <a:spcAft>
                <a:spcPts val="0"/>
              </a:spcAft>
              <a:buClr>
                <a:srgbClr val="0070C0"/>
              </a:buClr>
              <a:buSzPts val="2400"/>
              <a:buFont typeface="Calibri"/>
              <a:buNone/>
            </a:pPr>
            <a:r>
              <a:rPr b="0" i="1" lang="en" sz="2400" u="none" cap="none" strike="noStrike">
                <a:solidFill>
                  <a:srgbClr val="0070C0"/>
                </a:solidFill>
                <a:latin typeface="Calibri"/>
                <a:ea typeface="Calibri"/>
                <a:cs typeface="Calibri"/>
                <a:sym typeface="Calibri"/>
              </a:rPr>
              <a:t>Calculate the entropy of rolling an 8-sided die.</a:t>
            </a:r>
            <a:endParaRPr b="0" i="0" sz="24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1" i="0" lang="en" sz="2100" u="none" cap="none" strike="noStrike">
                <a:solidFill>
                  <a:srgbClr val="000000"/>
                </a:solidFill>
                <a:latin typeface="Calibri"/>
                <a:ea typeface="Calibri"/>
                <a:cs typeface="Calibri"/>
                <a:sym typeface="Calibri"/>
              </a:rPr>
              <a:t>Entropy: </a:t>
            </a:r>
            <a:r>
              <a:rPr b="0" i="0" lang="en" sz="2100" u="none" cap="none" strike="noStrike">
                <a:solidFill>
                  <a:srgbClr val="000000"/>
                </a:solidFill>
                <a:latin typeface="Calibri"/>
                <a:ea typeface="Calibri"/>
                <a:cs typeface="Calibri"/>
                <a:sym typeface="Calibri"/>
              </a:rPr>
              <a:t>Amount of information in a random variable X </a:t>
            </a:r>
            <a:endParaRPr b="0" i="0" sz="2100" u="none" cap="none" strike="noStrike">
              <a:solidFill>
                <a:srgbClr val="000000"/>
              </a:solidFill>
              <a:latin typeface="Calibri"/>
              <a:ea typeface="Calibri"/>
              <a:cs typeface="Calibri"/>
              <a:sym typeface="Calibri"/>
            </a:endParaRPr>
          </a:p>
          <a:p>
            <a:pPr indent="0" lvl="0" marL="0" marR="0" rtl="0" algn="ctr">
              <a:lnSpc>
                <a:spcPct val="90000"/>
              </a:lnSpc>
              <a:spcBef>
                <a:spcPts val="80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P(X=1)=P(X=2) …. =P(X=8) = 1/8</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1100"/>
              <a:buFont typeface="Arial"/>
              <a:buNone/>
            </a:pPr>
            <a:r>
              <a:t/>
            </a:r>
            <a:endParaRPr b="0" i="0" sz="1100" u="none" cap="none" strike="noStrike">
              <a:solidFill>
                <a:srgbClr val="000000"/>
              </a:solidFill>
              <a:latin typeface="Calibri"/>
              <a:ea typeface="Calibri"/>
              <a:cs typeface="Calibri"/>
              <a:sym typeface="Calibri"/>
            </a:endParaRPr>
          </a:p>
          <a:p>
            <a:pPr indent="-190500" lvl="0" marL="177800" marR="0" rtl="0" algn="l">
              <a:lnSpc>
                <a:spcPct val="90000"/>
              </a:lnSpc>
              <a:spcBef>
                <a:spcPts val="800"/>
              </a:spcBef>
              <a:spcAft>
                <a:spcPts val="0"/>
              </a:spcAft>
              <a:buClr>
                <a:srgbClr val="FF0000"/>
              </a:buClr>
              <a:buSzPts val="1800"/>
              <a:buFont typeface="Arial"/>
              <a:buChar char="•"/>
            </a:pPr>
            <a:r>
              <a:rPr b="0" i="1" lang="en" sz="1800" u="none" cap="none" strike="noStrike">
                <a:solidFill>
                  <a:srgbClr val="FF0000"/>
                </a:solidFill>
                <a:latin typeface="Arial"/>
                <a:ea typeface="Arial"/>
                <a:cs typeface="Arial"/>
                <a:sym typeface="Arial"/>
              </a:rPr>
              <a:t>The average length of the message needed to transmit an outcome of that variable</a:t>
            </a:r>
            <a:endParaRPr b="0" i="0" sz="1800" u="none" cap="none" strike="noStrike">
              <a:solidFill>
                <a:srgbClr val="000000"/>
              </a:solidFill>
              <a:latin typeface="Calibri"/>
              <a:ea typeface="Calibri"/>
              <a:cs typeface="Calibri"/>
              <a:sym typeface="Calibri"/>
            </a:endParaRPr>
          </a:p>
          <a:p>
            <a:pPr indent="-190500" lvl="0" marL="177800" marR="0" rtl="0" algn="l">
              <a:lnSpc>
                <a:spcPct val="90000"/>
              </a:lnSpc>
              <a:spcBef>
                <a:spcPts val="800"/>
              </a:spcBef>
              <a:spcAft>
                <a:spcPts val="1200"/>
              </a:spcAft>
              <a:buClr>
                <a:srgbClr val="000000"/>
              </a:buClr>
              <a:buSzPts val="1800"/>
              <a:buFont typeface="Arial"/>
              <a:buChar char="•"/>
            </a:pPr>
            <a:r>
              <a:rPr b="0" i="0" lang="en" sz="1800" u="none" cap="none" strike="noStrike">
                <a:solidFill>
                  <a:srgbClr val="000000"/>
                </a:solidFill>
                <a:latin typeface="Calibri"/>
                <a:ea typeface="Calibri"/>
                <a:cs typeface="Calibri"/>
                <a:sym typeface="Calibri"/>
              </a:rPr>
              <a:t>The most efficient way is to simply encode the result as a </a:t>
            </a:r>
            <a:r>
              <a:rPr b="0" i="0" lang="en" sz="1800" u="none" cap="none" strike="noStrike">
                <a:solidFill>
                  <a:srgbClr val="FF0000"/>
                </a:solidFill>
                <a:latin typeface="Calibri"/>
                <a:ea typeface="Calibri"/>
                <a:cs typeface="Calibri"/>
                <a:sym typeface="Calibri"/>
              </a:rPr>
              <a:t>3 digit binary</a:t>
            </a:r>
            <a:r>
              <a:rPr b="0" i="0" lang="en" sz="1800" u="none" cap="none" strike="noStrike">
                <a:solidFill>
                  <a:srgbClr val="000000"/>
                </a:solidFill>
                <a:latin typeface="Calibri"/>
                <a:ea typeface="Calibri"/>
                <a:cs typeface="Calibri"/>
                <a:sym typeface="Calibri"/>
              </a:rPr>
              <a:t> message:</a:t>
            </a:r>
            <a:endParaRPr b="0" i="0" sz="1800" u="none" cap="none" strike="noStrike">
              <a:solidFill>
                <a:srgbClr val="000000"/>
              </a:solidFill>
              <a:latin typeface="Calibri"/>
              <a:ea typeface="Calibri"/>
              <a:cs typeface="Calibri"/>
              <a:sym typeface="Calibri"/>
            </a:endParaRPr>
          </a:p>
        </p:txBody>
      </p:sp>
      <p:pic>
        <p:nvPicPr>
          <p:cNvPr id="346" name="Google Shape;346;p53"/>
          <p:cNvPicPr preferRelativeResize="0"/>
          <p:nvPr/>
        </p:nvPicPr>
        <p:blipFill rotWithShape="1">
          <a:blip r:embed="rId3">
            <a:alphaModFix/>
          </a:blip>
          <a:srcRect b="0" l="0" r="0" t="0"/>
          <a:stretch/>
        </p:blipFill>
        <p:spPr>
          <a:xfrm>
            <a:off x="1328670" y="2552310"/>
            <a:ext cx="6314761" cy="778410"/>
          </a:xfrm>
          <a:prstGeom prst="rect">
            <a:avLst/>
          </a:prstGeom>
          <a:noFill/>
          <a:ln>
            <a:noFill/>
          </a:ln>
        </p:spPr>
      </p:pic>
      <p:pic>
        <p:nvPicPr>
          <p:cNvPr id="347" name="Google Shape;347;p53"/>
          <p:cNvPicPr preferRelativeResize="0"/>
          <p:nvPr/>
        </p:nvPicPr>
        <p:blipFill rotWithShape="1">
          <a:blip r:embed="rId4">
            <a:alphaModFix/>
          </a:blip>
          <a:srcRect b="0" l="0" r="0" t="0"/>
          <a:stretch/>
        </p:blipFill>
        <p:spPr>
          <a:xfrm>
            <a:off x="2565270" y="4131540"/>
            <a:ext cx="4653991" cy="658530"/>
          </a:xfrm>
          <a:prstGeom prst="rect">
            <a:avLst/>
          </a:prstGeom>
          <a:noFill/>
          <a:ln cap="sq" cmpd="sng" w="28575">
            <a:solidFill>
              <a:srgbClr val="000000"/>
            </a:solidFill>
            <a:prstDash val="solid"/>
            <a:miter lim="8000"/>
            <a:headEnd len="sm" w="sm" type="none"/>
            <a:tailEnd len="sm" w="sm" type="none"/>
          </a:ln>
          <a:effectLst>
            <a:outerShdw blurRad="38070" rotWithShape="0" algn="tl" dir="2700000" dist="28255">
              <a:srgbClr val="000000">
                <a:alpha val="43140"/>
              </a:srgbClr>
            </a:outerShdw>
          </a:effectLst>
        </p:spPr>
      </p:pic>
      <p:pic>
        <p:nvPicPr>
          <p:cNvPr id="348" name="Google Shape;348;p53"/>
          <p:cNvPicPr preferRelativeResize="0"/>
          <p:nvPr/>
        </p:nvPicPr>
        <p:blipFill rotWithShape="1">
          <a:blip r:embed="rId5">
            <a:alphaModFix/>
          </a:blip>
          <a:srcRect b="0" l="0" r="0" t="0"/>
          <a:stretch/>
        </p:blipFill>
        <p:spPr>
          <a:xfrm>
            <a:off x="6694110" y="212490"/>
            <a:ext cx="2284200" cy="12854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Question-2</a:t>
            </a:r>
            <a:endParaRPr b="0" sz="3300" strike="noStrike">
              <a:solidFill>
                <a:srgbClr val="000000"/>
              </a:solidFill>
              <a:latin typeface="Calibri"/>
              <a:ea typeface="Calibri"/>
              <a:cs typeface="Calibri"/>
              <a:sym typeface="Calibri"/>
            </a:endParaRPr>
          </a:p>
        </p:txBody>
      </p:sp>
      <p:sp>
        <p:nvSpPr>
          <p:cNvPr id="354" name="Google Shape;354;p54"/>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rmAutofit lnSpcReduction="10000"/>
          </a:bodyPr>
          <a:lstStyle/>
          <a:p>
            <a:pPr indent="0" lvl="0" marL="0" marR="0" rtl="0" algn="l">
              <a:lnSpc>
                <a:spcPct val="90000"/>
              </a:lnSpc>
              <a:spcBef>
                <a:spcPts val="0"/>
              </a:spcBef>
              <a:spcAft>
                <a:spcPts val="0"/>
              </a:spcAft>
              <a:buClr>
                <a:srgbClr val="0070C0"/>
              </a:buClr>
              <a:buSzPts val="2400"/>
              <a:buFont typeface="Calibri"/>
              <a:buNone/>
            </a:pPr>
            <a:r>
              <a:rPr b="0" i="1" lang="en" sz="2400" u="none" cap="none" strike="noStrike">
                <a:solidFill>
                  <a:srgbClr val="0070C0"/>
                </a:solidFill>
                <a:latin typeface="Calibri"/>
                <a:ea typeface="Calibri"/>
                <a:cs typeface="Calibri"/>
                <a:sym typeface="Calibri"/>
              </a:rPr>
              <a:t>Calculate the entropy of tossing a fair coin.</a:t>
            </a:r>
            <a:endParaRPr b="0" i="0" sz="24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P(X=H)=P(X=T) = 1/2</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H(X) = 0.5 log</a:t>
            </a:r>
            <a:r>
              <a:rPr b="0" baseline="-25000" i="0" lang="en" sz="2100" u="none" cap="none" strike="noStrike">
                <a:solidFill>
                  <a:srgbClr val="000000"/>
                </a:solidFill>
                <a:latin typeface="Calibri"/>
                <a:ea typeface="Calibri"/>
                <a:cs typeface="Calibri"/>
                <a:sym typeface="Calibri"/>
              </a:rPr>
              <a:t>2</a:t>
            </a:r>
            <a:r>
              <a:rPr b="0" i="0" lang="en" sz="2100" u="none" cap="none" strike="noStrike">
                <a:solidFill>
                  <a:srgbClr val="000000"/>
                </a:solidFill>
                <a:latin typeface="Calibri"/>
                <a:ea typeface="Calibri"/>
                <a:cs typeface="Calibri"/>
                <a:sym typeface="Calibri"/>
              </a:rPr>
              <a:t>2 + 0.5 log</a:t>
            </a:r>
            <a:r>
              <a:rPr b="0" baseline="-25000" i="0" lang="en" sz="2100" u="none" cap="none" strike="noStrike">
                <a:solidFill>
                  <a:srgbClr val="000000"/>
                </a:solidFill>
                <a:latin typeface="Calibri"/>
                <a:ea typeface="Calibri"/>
                <a:cs typeface="Calibri"/>
                <a:sym typeface="Calibri"/>
              </a:rPr>
              <a:t>2</a:t>
            </a:r>
            <a:r>
              <a:rPr b="0" i="0" lang="en" sz="2100" u="none" cap="none" strike="noStrike">
                <a:solidFill>
                  <a:srgbClr val="000000"/>
                </a:solidFill>
                <a:latin typeface="Calibri"/>
                <a:ea typeface="Calibri"/>
                <a:cs typeface="Calibri"/>
                <a:sym typeface="Calibri"/>
              </a:rPr>
              <a:t>2</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           = log</a:t>
            </a:r>
            <a:r>
              <a:rPr b="0" baseline="-25000" i="0" lang="en" sz="2100" u="none" cap="none" strike="noStrike">
                <a:solidFill>
                  <a:srgbClr val="000000"/>
                </a:solidFill>
                <a:latin typeface="Calibri"/>
                <a:ea typeface="Calibri"/>
                <a:cs typeface="Calibri"/>
                <a:sym typeface="Calibri"/>
              </a:rPr>
              <a:t>2</a:t>
            </a:r>
            <a:r>
              <a:rPr b="0" i="0" lang="en" sz="2100" u="none" cap="none" strike="noStrike">
                <a:solidFill>
                  <a:srgbClr val="000000"/>
                </a:solidFill>
                <a:latin typeface="Calibri"/>
                <a:ea typeface="Calibri"/>
                <a:cs typeface="Calibri"/>
                <a:sym typeface="Calibri"/>
              </a:rPr>
              <a:t>2 = 1 bit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Clr>
                <a:srgbClr val="7030A0"/>
              </a:buClr>
              <a:buSzPts val="2100"/>
              <a:buFont typeface="Calibri"/>
              <a:buNone/>
            </a:pPr>
            <a:r>
              <a:rPr b="0" i="0" lang="en" sz="2100" u="none" cap="none" strike="noStrike">
                <a:solidFill>
                  <a:srgbClr val="7030A0"/>
                </a:solidFill>
                <a:latin typeface="Calibri"/>
                <a:ea typeface="Calibri"/>
                <a:cs typeface="Calibri"/>
                <a:sym typeface="Calibri"/>
              </a:rPr>
              <a:t>Average length of the message needed to transmit an outcome of RV using the optimal code = 1 </a:t>
            </a:r>
            <a:endParaRPr b="0" i="0" sz="2100" u="none" cap="none" strike="noStrike">
              <a:solidFill>
                <a:srgbClr val="000000"/>
              </a:solidFill>
              <a:latin typeface="Calibri"/>
              <a:ea typeface="Calibri"/>
              <a:cs typeface="Calibri"/>
              <a:sym typeface="Calibri"/>
            </a:endParaRPr>
          </a:p>
        </p:txBody>
      </p:sp>
      <p:pic>
        <p:nvPicPr>
          <p:cNvPr id="355" name="Google Shape;355;p54"/>
          <p:cNvPicPr preferRelativeResize="0"/>
          <p:nvPr/>
        </p:nvPicPr>
        <p:blipFill rotWithShape="1">
          <a:blip r:embed="rId3">
            <a:alphaModFix/>
          </a:blip>
          <a:srcRect b="0" l="0" r="0" t="0"/>
          <a:stretch/>
        </p:blipFill>
        <p:spPr>
          <a:xfrm>
            <a:off x="6293160" y="824310"/>
            <a:ext cx="2654370" cy="2046871"/>
          </a:xfrm>
          <a:prstGeom prst="rect">
            <a:avLst/>
          </a:prstGeom>
          <a:noFill/>
          <a:ln>
            <a:noFill/>
          </a:ln>
        </p:spPr>
      </p:pic>
      <p:sp>
        <p:nvSpPr>
          <p:cNvPr id="356" name="Google Shape;356;p54"/>
          <p:cNvSpPr/>
          <p:nvPr/>
        </p:nvSpPr>
        <p:spPr>
          <a:xfrm>
            <a:off x="7451460" y="2796660"/>
            <a:ext cx="7647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P(X = H)</a:t>
            </a:r>
            <a:endParaRPr b="0" i="0" sz="1400" u="none" cap="none" strike="noStrike">
              <a:latin typeface="Arial"/>
              <a:ea typeface="Arial"/>
              <a:cs typeface="Arial"/>
              <a:sym typeface="Arial"/>
            </a:endParaRPr>
          </a:p>
        </p:txBody>
      </p:sp>
      <p:sp>
        <p:nvSpPr>
          <p:cNvPr id="357" name="Google Shape;357;p54"/>
          <p:cNvSpPr/>
          <p:nvPr/>
        </p:nvSpPr>
        <p:spPr>
          <a:xfrm>
            <a:off x="5908410" y="912870"/>
            <a:ext cx="4899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H(X)</a:t>
            </a:r>
            <a:endParaRPr b="0" i="0" sz="1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5"/>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Joint entropy</a:t>
            </a:r>
            <a:endParaRPr b="0" sz="3300" strike="noStrike">
              <a:solidFill>
                <a:srgbClr val="000000"/>
              </a:solidFill>
              <a:latin typeface="Calibri"/>
              <a:ea typeface="Calibri"/>
              <a:cs typeface="Calibri"/>
              <a:sym typeface="Calibri"/>
            </a:endParaRPr>
          </a:p>
        </p:txBody>
      </p:sp>
      <p:sp>
        <p:nvSpPr>
          <p:cNvPr id="363" name="Google Shape;363;p55"/>
          <p:cNvSpPr txBox="1"/>
          <p:nvPr>
            <p:ph idx="4294967295" type="body"/>
          </p:nvPr>
        </p:nvSpPr>
        <p:spPr>
          <a:xfrm>
            <a:off x="628560" y="1369170"/>
            <a:ext cx="8345700" cy="32631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The joint entropy of 2 random variable X, Y is </a:t>
            </a:r>
            <a:r>
              <a:rPr b="0" i="0" lang="en" sz="2100" u="none" cap="none" strike="noStrike">
                <a:solidFill>
                  <a:srgbClr val="FF0000"/>
                </a:solidFill>
                <a:latin typeface="Calibri"/>
                <a:ea typeface="Calibri"/>
                <a:cs typeface="Calibri"/>
                <a:sym typeface="Calibri"/>
              </a:rPr>
              <a:t>the amount of the information needed on average to specify both their values</a:t>
            </a:r>
            <a:endParaRPr b="0" i="0" sz="2100" u="none" cap="none" strike="noStrike">
              <a:solidFill>
                <a:srgbClr val="000000"/>
              </a:solidFill>
              <a:latin typeface="Calibri"/>
              <a:ea typeface="Calibri"/>
              <a:cs typeface="Calibri"/>
              <a:sym typeface="Calibri"/>
            </a:endParaRPr>
          </a:p>
        </p:txBody>
      </p:sp>
      <p:pic>
        <p:nvPicPr>
          <p:cNvPr id="364" name="Google Shape;364;p55"/>
          <p:cNvPicPr preferRelativeResize="0"/>
          <p:nvPr/>
        </p:nvPicPr>
        <p:blipFill rotWithShape="1">
          <a:blip r:embed="rId3">
            <a:alphaModFix/>
          </a:blip>
          <a:srcRect b="0" l="0" r="0" t="0"/>
          <a:stretch/>
        </p:blipFill>
        <p:spPr>
          <a:xfrm>
            <a:off x="2208870" y="2921130"/>
            <a:ext cx="4950451" cy="856980"/>
          </a:xfrm>
          <a:prstGeom prst="rect">
            <a:avLst/>
          </a:prstGeom>
          <a:noFill/>
          <a:ln>
            <a:noFill/>
          </a:ln>
        </p:spPr>
      </p:pic>
      <p:pic>
        <p:nvPicPr>
          <p:cNvPr id="365" name="Google Shape;365;p55"/>
          <p:cNvPicPr preferRelativeResize="0"/>
          <p:nvPr/>
        </p:nvPicPr>
        <p:blipFill rotWithShape="1">
          <a:blip r:embed="rId4">
            <a:alphaModFix/>
          </a:blip>
          <a:srcRect b="0" l="0" r="0" t="0"/>
          <a:stretch/>
        </p:blipFill>
        <p:spPr>
          <a:xfrm>
            <a:off x="6694110" y="212490"/>
            <a:ext cx="2284200" cy="12854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6"/>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Conditional entropy</a:t>
            </a:r>
            <a:endParaRPr b="0" sz="3300" strike="noStrike">
              <a:solidFill>
                <a:srgbClr val="000000"/>
              </a:solidFill>
              <a:latin typeface="Calibri"/>
              <a:ea typeface="Calibri"/>
              <a:cs typeface="Calibri"/>
              <a:sym typeface="Calibri"/>
            </a:endParaRPr>
          </a:p>
        </p:txBody>
      </p:sp>
      <p:sp>
        <p:nvSpPr>
          <p:cNvPr id="371" name="Google Shape;371;p56"/>
          <p:cNvSpPr txBox="1"/>
          <p:nvPr>
            <p:ph idx="4294967295" type="body"/>
          </p:nvPr>
        </p:nvSpPr>
        <p:spPr>
          <a:xfrm>
            <a:off x="628560" y="1369170"/>
            <a:ext cx="8313000" cy="32631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The </a:t>
            </a:r>
            <a:r>
              <a:rPr b="1" i="0" lang="en" sz="2100" u="none" cap="none" strike="noStrike">
                <a:solidFill>
                  <a:srgbClr val="000000"/>
                </a:solidFill>
                <a:latin typeface="Calibri"/>
                <a:ea typeface="Calibri"/>
                <a:cs typeface="Calibri"/>
                <a:sym typeface="Calibri"/>
              </a:rPr>
              <a:t>conditional entropy</a:t>
            </a:r>
            <a:r>
              <a:rPr b="0" i="0" lang="en" sz="2100" u="none" cap="none" strike="noStrike">
                <a:solidFill>
                  <a:srgbClr val="000000"/>
                </a:solidFill>
                <a:latin typeface="Calibri"/>
                <a:ea typeface="Calibri"/>
                <a:cs typeface="Calibri"/>
                <a:sym typeface="Calibri"/>
              </a:rPr>
              <a:t> H(Y|X) of a random variable Y given another X,</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FF0000"/>
              </a:buClr>
              <a:buSzPts val="2100"/>
              <a:buFont typeface="Calibri"/>
              <a:buNone/>
            </a:pPr>
            <a:r>
              <a:rPr b="0" i="1" lang="en" sz="2100" u="none" cap="none" strike="noStrike">
                <a:solidFill>
                  <a:srgbClr val="FF0000"/>
                </a:solidFill>
                <a:latin typeface="Calibri"/>
                <a:ea typeface="Calibri"/>
                <a:cs typeface="Calibri"/>
                <a:sym typeface="Calibri"/>
              </a:rPr>
              <a:t>expresses how much extra information </a:t>
            </a:r>
            <a:r>
              <a:rPr b="0" i="1" lang="en" sz="2100" u="none" cap="none" strike="noStrike">
                <a:solidFill>
                  <a:srgbClr val="000000"/>
                </a:solidFill>
                <a:latin typeface="Calibri"/>
                <a:ea typeface="Calibri"/>
                <a:cs typeface="Calibri"/>
                <a:sym typeface="Calibri"/>
              </a:rPr>
              <a:t>one still needs to supply on average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Clr>
                <a:srgbClr val="000000"/>
              </a:buClr>
              <a:buSzPts val="2100"/>
              <a:buFont typeface="Calibri"/>
              <a:buNone/>
            </a:pPr>
            <a:r>
              <a:rPr b="0" i="1" lang="en" sz="2100" u="none" cap="none" strike="noStrike">
                <a:solidFill>
                  <a:srgbClr val="000000"/>
                </a:solidFill>
                <a:latin typeface="Calibri"/>
                <a:ea typeface="Calibri"/>
                <a:cs typeface="Calibri"/>
                <a:sym typeface="Calibri"/>
              </a:rPr>
              <a:t>to </a:t>
            </a:r>
            <a:r>
              <a:rPr b="0" i="1" lang="en" sz="2100" u="none" cap="none" strike="noStrike">
                <a:solidFill>
                  <a:srgbClr val="0070C0"/>
                </a:solidFill>
                <a:latin typeface="Calibri"/>
                <a:ea typeface="Calibri"/>
                <a:cs typeface="Calibri"/>
                <a:sym typeface="Calibri"/>
              </a:rPr>
              <a:t>communicate Y given that one knows X</a:t>
            </a:r>
            <a:endParaRPr b="0" i="0" sz="2100" u="none" cap="none" strike="noStrike">
              <a:solidFill>
                <a:srgbClr val="000000"/>
              </a:solidFill>
              <a:latin typeface="Calibri"/>
              <a:ea typeface="Calibri"/>
              <a:cs typeface="Calibri"/>
              <a:sym typeface="Calibri"/>
            </a:endParaRPr>
          </a:p>
        </p:txBody>
      </p:sp>
      <p:pic>
        <p:nvPicPr>
          <p:cNvPr id="372" name="Google Shape;372;p56"/>
          <p:cNvPicPr preferRelativeResize="0"/>
          <p:nvPr/>
        </p:nvPicPr>
        <p:blipFill rotWithShape="1">
          <a:blip r:embed="rId3">
            <a:alphaModFix/>
          </a:blip>
          <a:srcRect b="0" l="0" r="0" t="0"/>
          <a:stretch/>
        </p:blipFill>
        <p:spPr>
          <a:xfrm>
            <a:off x="2595936" y="2516130"/>
            <a:ext cx="5566860" cy="2374920"/>
          </a:xfrm>
          <a:prstGeom prst="rect">
            <a:avLst/>
          </a:prstGeom>
          <a:noFill/>
          <a:ln>
            <a:noFill/>
          </a:ln>
        </p:spPr>
      </p:pic>
      <p:pic>
        <p:nvPicPr>
          <p:cNvPr id="373" name="Google Shape;373;p56"/>
          <p:cNvPicPr preferRelativeResize="0"/>
          <p:nvPr/>
        </p:nvPicPr>
        <p:blipFill rotWithShape="1">
          <a:blip r:embed="rId4">
            <a:alphaModFix/>
          </a:blip>
          <a:srcRect b="0" l="0" r="0" t="0"/>
          <a:stretch/>
        </p:blipFill>
        <p:spPr>
          <a:xfrm>
            <a:off x="6694110" y="87210"/>
            <a:ext cx="2284200" cy="1285470"/>
          </a:xfrm>
          <a:prstGeom prst="rect">
            <a:avLst/>
          </a:prstGeom>
          <a:noFill/>
          <a:ln>
            <a:noFill/>
          </a:ln>
        </p:spPr>
      </p:pic>
      <p:sp>
        <p:nvSpPr>
          <p:cNvPr id="374" name="Google Shape;374;p56"/>
          <p:cNvSpPr txBox="1"/>
          <p:nvPr/>
        </p:nvSpPr>
        <p:spPr>
          <a:xfrm>
            <a:off x="113750" y="4334675"/>
            <a:ext cx="32379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7030A0"/>
                </a:solidFill>
              </a:rPr>
              <a:t>So language modeling is fundamentally about </a:t>
            </a:r>
            <a:r>
              <a:rPr b="1" lang="en" sz="1300">
                <a:solidFill>
                  <a:srgbClr val="7030A0"/>
                </a:solidFill>
              </a:rPr>
              <a:t>conditional probability</a:t>
            </a:r>
            <a:r>
              <a:rPr lang="en" sz="1300">
                <a:solidFill>
                  <a:srgbClr val="7030A0"/>
                </a:solidFill>
              </a:rPr>
              <a:t> and therefore conditional uncertainty!</a:t>
            </a:r>
            <a:endParaRPr sz="1600">
              <a:solidFill>
                <a:srgbClr val="7030A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1</a:t>
            </a:r>
            <a:endParaRPr/>
          </a:p>
        </p:txBody>
      </p:sp>
      <p:sp>
        <p:nvSpPr>
          <p:cNvPr id="380" name="Google Shape;380;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X → Weather </a:t>
            </a:r>
            <a:endParaRPr/>
          </a:p>
          <a:p>
            <a:pPr indent="-342900" lvl="0" marL="457200" rtl="0" algn="l">
              <a:spcBef>
                <a:spcPts val="0"/>
              </a:spcBef>
              <a:spcAft>
                <a:spcPts val="0"/>
              </a:spcAft>
              <a:buSzPts val="1800"/>
              <a:buChar char="●"/>
            </a:pPr>
            <a:r>
              <a:rPr lang="en"/>
              <a:t>Y → W</a:t>
            </a:r>
            <a:r>
              <a:rPr lang="en"/>
              <a:t>hether I carry an umbrella </a:t>
            </a:r>
            <a:endParaRPr/>
          </a:p>
          <a:p>
            <a:pPr indent="-342900" lvl="0" marL="457200" rtl="0" algn="l">
              <a:spcBef>
                <a:spcPts val="0"/>
              </a:spcBef>
              <a:spcAft>
                <a:spcPts val="0"/>
              </a:spcAft>
              <a:buSzPts val="1800"/>
              <a:buChar char="●"/>
            </a:pPr>
            <a:r>
              <a:rPr lang="en"/>
              <a:t>If I don't know the weather, there is some uncertainty about whether I carry an umbrella: H (Y)</a:t>
            </a:r>
            <a:r>
              <a:rPr lang="en"/>
              <a:t> </a:t>
            </a:r>
            <a:endParaRPr/>
          </a:p>
          <a:p>
            <a:pPr indent="-342900" lvl="0" marL="457200" rtl="0" algn="l">
              <a:spcBef>
                <a:spcPts val="0"/>
              </a:spcBef>
              <a:spcAft>
                <a:spcPts val="0"/>
              </a:spcAft>
              <a:buSzPts val="1800"/>
              <a:buChar char="●"/>
            </a:pPr>
            <a:r>
              <a:rPr lang="en"/>
              <a:t>But suppose I tell you that it’s raining then the </a:t>
            </a:r>
            <a:r>
              <a:rPr lang="en"/>
              <a:t>uncertainty</a:t>
            </a:r>
            <a:r>
              <a:rPr lang="en"/>
              <a:t> about Y changes. We will not use p(y) anymore but rather p(y|x)</a:t>
            </a:r>
            <a:endParaRPr/>
          </a:p>
          <a:p>
            <a:pPr indent="-342900" lvl="0" marL="457200" rtl="0" algn="l">
              <a:spcBef>
                <a:spcPts val="0"/>
              </a:spcBef>
              <a:spcAft>
                <a:spcPts val="0"/>
              </a:spcAft>
              <a:buSzPts val="1800"/>
              <a:buChar char="●"/>
            </a:pPr>
            <a:r>
              <a:rPr lang="en"/>
              <a:t>E</a:t>
            </a:r>
            <a:r>
              <a:rPr lang="en"/>
              <a:t>ntropy of Y, once we know that X= x is: H (Y | X) </a:t>
            </a:r>
            <a:endParaRPr/>
          </a:p>
        </p:txBody>
      </p:sp>
      <p:pic>
        <p:nvPicPr>
          <p:cNvPr id="381" name="Google Shape;381;p57"/>
          <p:cNvPicPr preferRelativeResize="0"/>
          <p:nvPr/>
        </p:nvPicPr>
        <p:blipFill>
          <a:blip r:embed="rId3">
            <a:alphaModFix/>
          </a:blip>
          <a:stretch>
            <a:fillRect/>
          </a:stretch>
        </p:blipFill>
        <p:spPr>
          <a:xfrm>
            <a:off x="2640300" y="3683038"/>
            <a:ext cx="3638550" cy="8858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Contd…</a:t>
            </a:r>
            <a:endParaRPr/>
          </a:p>
        </p:txBody>
      </p:sp>
      <p:sp>
        <p:nvSpPr>
          <p:cNvPr id="387" name="Google Shape;387;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X ∈ {Sunny, Rainy}</a:t>
            </a:r>
            <a:endParaRPr/>
          </a:p>
          <a:p>
            <a:pPr indent="-342900" lvl="0" marL="457200" rtl="0" algn="l">
              <a:spcBef>
                <a:spcPts val="0"/>
              </a:spcBef>
              <a:spcAft>
                <a:spcPts val="0"/>
              </a:spcAft>
              <a:buSzPts val="1800"/>
              <a:buChar char="-"/>
            </a:pPr>
            <a:r>
              <a:rPr lang="en"/>
              <a:t>We need to calculate H(Y∣X=Sunny) &amp; H(Y∣X=Rainy) </a:t>
            </a:r>
            <a:endParaRPr/>
          </a:p>
          <a:p>
            <a:pPr indent="-342900" lvl="0" marL="457200" rtl="0" algn="l">
              <a:spcBef>
                <a:spcPts val="0"/>
              </a:spcBef>
              <a:spcAft>
                <a:spcPts val="0"/>
              </a:spcAft>
              <a:buSzPts val="1800"/>
              <a:buChar char="-"/>
            </a:pPr>
            <a:r>
              <a:rPr lang="en"/>
              <a:t>H(Y∣X) = p(x</a:t>
            </a:r>
            <a:r>
              <a:rPr baseline="-25000" lang="en"/>
              <a:t>1</a:t>
            </a:r>
            <a:r>
              <a:rPr lang="en"/>
              <a:t>) H(Y|X=x</a:t>
            </a:r>
            <a:r>
              <a:rPr baseline="-25000" lang="en"/>
              <a:t>1</a:t>
            </a:r>
            <a:r>
              <a:rPr lang="en"/>
              <a:t>) + p(x</a:t>
            </a:r>
            <a:r>
              <a:rPr baseline="-25000" lang="en"/>
              <a:t>2</a:t>
            </a:r>
            <a:r>
              <a:rPr lang="en"/>
              <a:t>) H(Y|X=x</a:t>
            </a:r>
            <a:r>
              <a:rPr baseline="-25000" lang="en"/>
              <a:t>2</a:t>
            </a:r>
            <a:r>
              <a:rPr lang="en"/>
              <a:t>)  </a:t>
            </a:r>
            <a:endParaRPr/>
          </a:p>
        </p:txBody>
      </p:sp>
      <p:pic>
        <p:nvPicPr>
          <p:cNvPr id="388" name="Google Shape;388;p58"/>
          <p:cNvPicPr preferRelativeResize="0"/>
          <p:nvPr/>
        </p:nvPicPr>
        <p:blipFill>
          <a:blip r:embed="rId3">
            <a:alphaModFix/>
          </a:blip>
          <a:stretch>
            <a:fillRect/>
          </a:stretch>
        </p:blipFill>
        <p:spPr>
          <a:xfrm>
            <a:off x="2180819" y="2264357"/>
            <a:ext cx="3686175" cy="923925"/>
          </a:xfrm>
          <a:prstGeom prst="rect">
            <a:avLst/>
          </a:prstGeom>
          <a:noFill/>
          <a:ln>
            <a:noFill/>
          </a:ln>
        </p:spPr>
      </p:pic>
      <p:pic>
        <p:nvPicPr>
          <p:cNvPr id="389" name="Google Shape;389;p58"/>
          <p:cNvPicPr preferRelativeResize="0"/>
          <p:nvPr/>
        </p:nvPicPr>
        <p:blipFill>
          <a:blip r:embed="rId4">
            <a:alphaModFix/>
          </a:blip>
          <a:stretch>
            <a:fillRect/>
          </a:stretch>
        </p:blipFill>
        <p:spPr>
          <a:xfrm>
            <a:off x="1857625" y="3089900"/>
            <a:ext cx="4495800" cy="971550"/>
          </a:xfrm>
          <a:prstGeom prst="rect">
            <a:avLst/>
          </a:prstGeom>
          <a:noFill/>
          <a:ln>
            <a:noFill/>
          </a:ln>
        </p:spPr>
      </p:pic>
      <p:pic>
        <p:nvPicPr>
          <p:cNvPr id="390" name="Google Shape;390;p58"/>
          <p:cNvPicPr preferRelativeResize="0"/>
          <p:nvPr/>
        </p:nvPicPr>
        <p:blipFill>
          <a:blip r:embed="rId5">
            <a:alphaModFix/>
          </a:blip>
          <a:stretch>
            <a:fillRect/>
          </a:stretch>
        </p:blipFill>
        <p:spPr>
          <a:xfrm>
            <a:off x="2096493" y="4033343"/>
            <a:ext cx="4067175" cy="876300"/>
          </a:xfrm>
          <a:prstGeom prst="rect">
            <a:avLst/>
          </a:prstGeom>
          <a:noFill/>
          <a:ln>
            <a:noFill/>
          </a:ln>
        </p:spPr>
      </p:pic>
      <p:pic>
        <p:nvPicPr>
          <p:cNvPr id="391" name="Google Shape;391;p58"/>
          <p:cNvPicPr preferRelativeResize="0"/>
          <p:nvPr/>
        </p:nvPicPr>
        <p:blipFill>
          <a:blip r:embed="rId6">
            <a:alphaModFix/>
          </a:blip>
          <a:stretch>
            <a:fillRect/>
          </a:stretch>
        </p:blipFill>
        <p:spPr>
          <a:xfrm>
            <a:off x="5307925" y="123775"/>
            <a:ext cx="3714750" cy="1028700"/>
          </a:xfrm>
          <a:prstGeom prst="rect">
            <a:avLst/>
          </a:prstGeom>
          <a:noFill/>
          <a:ln>
            <a:noFill/>
          </a:ln>
        </p:spPr>
      </p:pic>
      <p:pic>
        <p:nvPicPr>
          <p:cNvPr id="392" name="Google Shape;392;p58"/>
          <p:cNvPicPr preferRelativeResize="0"/>
          <p:nvPr/>
        </p:nvPicPr>
        <p:blipFill>
          <a:blip r:embed="rId7">
            <a:alphaModFix/>
          </a:blip>
          <a:stretch>
            <a:fillRect/>
          </a:stretch>
        </p:blipFill>
        <p:spPr>
          <a:xfrm>
            <a:off x="6646825" y="4214250"/>
            <a:ext cx="2023125" cy="514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9"/>
          <p:cNvSpPr txBox="1"/>
          <p:nvPr>
            <p:ph idx="4294967295" type="title"/>
          </p:nvPr>
        </p:nvSpPr>
        <p:spPr>
          <a:xfrm>
            <a:off x="628560" y="3645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Chain Rule</a:t>
            </a:r>
            <a:endParaRPr b="0" sz="3300" strike="noStrike">
              <a:solidFill>
                <a:srgbClr val="000000"/>
              </a:solidFill>
              <a:latin typeface="Calibri"/>
              <a:ea typeface="Calibri"/>
              <a:cs typeface="Calibri"/>
              <a:sym typeface="Calibri"/>
            </a:endParaRPr>
          </a:p>
        </p:txBody>
      </p:sp>
      <p:pic>
        <p:nvPicPr>
          <p:cNvPr id="398" name="Google Shape;398;p59"/>
          <p:cNvPicPr preferRelativeResize="0"/>
          <p:nvPr/>
        </p:nvPicPr>
        <p:blipFill rotWithShape="1">
          <a:blip r:embed="rId3">
            <a:alphaModFix/>
          </a:blip>
          <a:srcRect b="0" l="0" r="0" t="0"/>
          <a:stretch/>
        </p:blipFill>
        <p:spPr>
          <a:xfrm>
            <a:off x="1271700" y="844222"/>
            <a:ext cx="6600691" cy="2499930"/>
          </a:xfrm>
          <a:prstGeom prst="rect">
            <a:avLst/>
          </a:prstGeom>
          <a:noFill/>
          <a:ln cap="sq" cmpd="sng" w="28575">
            <a:solidFill>
              <a:srgbClr val="000000"/>
            </a:solidFill>
            <a:prstDash val="solid"/>
            <a:miter lim="8000"/>
            <a:headEnd len="sm" w="sm" type="none"/>
            <a:tailEnd len="sm" w="sm" type="none"/>
          </a:ln>
          <a:effectLst>
            <a:outerShdw blurRad="38070" rotWithShape="0" algn="tl" dir="2700000" dist="28255">
              <a:srgbClr val="000000">
                <a:alpha val="43140"/>
              </a:srgbClr>
            </a:outerShdw>
          </a:effectLst>
        </p:spPr>
      </p:pic>
      <p:pic>
        <p:nvPicPr>
          <p:cNvPr id="399" name="Google Shape;399;p59"/>
          <p:cNvPicPr preferRelativeResize="0"/>
          <p:nvPr/>
        </p:nvPicPr>
        <p:blipFill rotWithShape="1">
          <a:blip r:embed="rId4">
            <a:alphaModFix/>
          </a:blip>
          <a:srcRect b="0" l="0" r="0" t="0"/>
          <a:stretch/>
        </p:blipFill>
        <p:spPr>
          <a:xfrm>
            <a:off x="460890" y="3460949"/>
            <a:ext cx="8222309" cy="1057050"/>
          </a:xfrm>
          <a:prstGeom prst="rect">
            <a:avLst/>
          </a:prstGeom>
          <a:noFill/>
          <a:ln cap="sq" cmpd="sng" w="28575">
            <a:solidFill>
              <a:srgbClr val="000000"/>
            </a:solidFill>
            <a:prstDash val="solid"/>
            <a:miter lim="8000"/>
            <a:headEnd len="sm" w="sm" type="none"/>
            <a:tailEnd len="sm" w="sm" type="none"/>
          </a:ln>
          <a:effectLst>
            <a:outerShdw blurRad="38070" rotWithShape="0" algn="tl" dir="2700000" dist="28255">
              <a:srgbClr val="000000">
                <a:alpha val="43140"/>
              </a:srgbClr>
            </a:outerShdw>
          </a:effectLst>
        </p:spPr>
      </p:pic>
      <p:sp>
        <p:nvSpPr>
          <p:cNvPr id="400" name="Google Shape;400;p59"/>
          <p:cNvSpPr txBox="1"/>
          <p:nvPr/>
        </p:nvSpPr>
        <p:spPr>
          <a:xfrm>
            <a:off x="63200" y="4574800"/>
            <a:ext cx="924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rgbClr val="7030A0"/>
                </a:solidFill>
              </a:rPr>
              <a:t>The information required to specify X and Y is the information required to specify X, plus the additional information required to specify Y once X is known. </a:t>
            </a:r>
            <a:endParaRPr i="1">
              <a:solidFill>
                <a:srgbClr val="7030A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0"/>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Mutual Information</a:t>
            </a:r>
            <a:endParaRPr b="0" sz="3300" strike="noStrike">
              <a:solidFill>
                <a:srgbClr val="000000"/>
              </a:solidFill>
              <a:latin typeface="Calibri"/>
              <a:ea typeface="Calibri"/>
              <a:cs typeface="Calibri"/>
              <a:sym typeface="Calibri"/>
            </a:endParaRPr>
          </a:p>
        </p:txBody>
      </p:sp>
      <p:sp>
        <p:nvSpPr>
          <p:cNvPr id="406" name="Google Shape;406;p60"/>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I(X,Y) is the mutual information between X and Y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It is </a:t>
            </a:r>
            <a:r>
              <a:rPr b="0" i="1" lang="en" sz="2100" u="none" cap="none" strike="noStrike">
                <a:solidFill>
                  <a:srgbClr val="FF0000"/>
                </a:solidFill>
                <a:latin typeface="Calibri"/>
                <a:ea typeface="Calibri"/>
                <a:cs typeface="Calibri"/>
                <a:sym typeface="Calibri"/>
              </a:rPr>
              <a:t>the reduction of uncertainty of one RV due to knowing about the other</a:t>
            </a:r>
            <a:r>
              <a:rPr b="0" i="0" lang="en" sz="2100" u="none" cap="none" strike="noStrike">
                <a:solidFill>
                  <a:srgbClr val="000000"/>
                </a:solidFill>
                <a:latin typeface="Calibri"/>
                <a:ea typeface="Calibri"/>
                <a:cs typeface="Calibri"/>
                <a:sym typeface="Calibri"/>
              </a:rPr>
              <a:t>, or the amount of information one RV contains about the other</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SzPts val="2100"/>
              <a:buFont typeface="Arial"/>
              <a:buNone/>
            </a:pPr>
            <a:r>
              <a:t/>
            </a:r>
            <a:endParaRPr b="0" i="0" sz="2100" u="none" cap="none" strike="noStrike">
              <a:solidFill>
                <a:srgbClr val="000000"/>
              </a:solidFill>
              <a:latin typeface="Calibri"/>
              <a:ea typeface="Calibri"/>
              <a:cs typeface="Calibri"/>
              <a:sym typeface="Calibri"/>
            </a:endParaRPr>
          </a:p>
        </p:txBody>
      </p:sp>
      <p:pic>
        <p:nvPicPr>
          <p:cNvPr id="407" name="Google Shape;407;p60"/>
          <p:cNvPicPr preferRelativeResize="0"/>
          <p:nvPr/>
        </p:nvPicPr>
        <p:blipFill rotWithShape="1">
          <a:blip r:embed="rId3">
            <a:alphaModFix/>
          </a:blip>
          <a:srcRect b="0" l="0" r="0" t="0"/>
          <a:stretch/>
        </p:blipFill>
        <p:spPr>
          <a:xfrm>
            <a:off x="1929960" y="2962440"/>
            <a:ext cx="4827871" cy="520290"/>
          </a:xfrm>
          <a:prstGeom prst="rect">
            <a:avLst/>
          </a:prstGeom>
          <a:noFill/>
          <a:ln>
            <a:noFill/>
          </a:ln>
        </p:spPr>
      </p:pic>
      <p:pic>
        <p:nvPicPr>
          <p:cNvPr id="408" name="Google Shape;408;p60"/>
          <p:cNvPicPr preferRelativeResize="0"/>
          <p:nvPr/>
        </p:nvPicPr>
        <p:blipFill rotWithShape="1">
          <a:blip r:embed="rId4">
            <a:alphaModFix/>
          </a:blip>
          <a:srcRect b="0" l="0" r="0" t="0"/>
          <a:stretch/>
        </p:blipFill>
        <p:spPr>
          <a:xfrm>
            <a:off x="3079080" y="3434130"/>
            <a:ext cx="3812670" cy="520290"/>
          </a:xfrm>
          <a:prstGeom prst="rect">
            <a:avLst/>
          </a:prstGeom>
          <a:noFill/>
          <a:ln>
            <a:noFill/>
          </a:ln>
        </p:spPr>
      </p:pic>
      <p:pic>
        <p:nvPicPr>
          <p:cNvPr id="409" name="Google Shape;409;p60"/>
          <p:cNvPicPr preferRelativeResize="0"/>
          <p:nvPr/>
        </p:nvPicPr>
        <p:blipFill rotWithShape="1">
          <a:blip r:embed="rId5">
            <a:alphaModFix/>
          </a:blip>
          <a:srcRect b="0" l="0" r="0" t="0"/>
          <a:stretch/>
        </p:blipFill>
        <p:spPr>
          <a:xfrm>
            <a:off x="1968840" y="3482460"/>
            <a:ext cx="855630" cy="447390"/>
          </a:xfrm>
          <a:prstGeom prst="rect">
            <a:avLst/>
          </a:prstGeom>
          <a:noFill/>
          <a:ln>
            <a:noFill/>
          </a:ln>
        </p:spPr>
      </p:pic>
      <p:pic>
        <p:nvPicPr>
          <p:cNvPr id="410" name="Google Shape;410;p60"/>
          <p:cNvPicPr preferRelativeResize="0"/>
          <p:nvPr/>
        </p:nvPicPr>
        <p:blipFill rotWithShape="1">
          <a:blip r:embed="rId6">
            <a:alphaModFix/>
          </a:blip>
          <a:srcRect b="0" l="0" r="0" t="0"/>
          <a:stretch/>
        </p:blipFill>
        <p:spPr>
          <a:xfrm>
            <a:off x="2852010" y="3619080"/>
            <a:ext cx="199800" cy="199800"/>
          </a:xfrm>
          <a:prstGeom prst="rect">
            <a:avLst/>
          </a:prstGeom>
          <a:noFill/>
          <a:ln>
            <a:noFill/>
          </a:ln>
        </p:spPr>
      </p:pic>
      <p:sp>
        <p:nvSpPr>
          <p:cNvPr id="411" name="Google Shape;411;p60"/>
          <p:cNvSpPr/>
          <p:nvPr/>
        </p:nvSpPr>
        <p:spPr>
          <a:xfrm>
            <a:off x="3052080" y="3013470"/>
            <a:ext cx="647100" cy="4203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2" name="Google Shape;412;p60"/>
          <p:cNvSpPr/>
          <p:nvPr/>
        </p:nvSpPr>
        <p:spPr>
          <a:xfrm>
            <a:off x="5823900" y="3022380"/>
            <a:ext cx="907500" cy="4203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3" name="Google Shape;413;p60"/>
          <p:cNvSpPr/>
          <p:nvPr/>
        </p:nvSpPr>
        <p:spPr>
          <a:xfrm>
            <a:off x="3085830" y="3541050"/>
            <a:ext cx="1754100" cy="3273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1"/>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Mutual Information (Cont)</a:t>
            </a:r>
            <a:endParaRPr b="0" sz="3300" strike="noStrike">
              <a:solidFill>
                <a:srgbClr val="000000"/>
              </a:solidFill>
              <a:latin typeface="Calibri"/>
              <a:ea typeface="Calibri"/>
              <a:cs typeface="Calibri"/>
              <a:sym typeface="Calibri"/>
            </a:endParaRPr>
          </a:p>
        </p:txBody>
      </p:sp>
      <p:pic>
        <p:nvPicPr>
          <p:cNvPr id="419" name="Google Shape;419;p61"/>
          <p:cNvPicPr preferRelativeResize="0"/>
          <p:nvPr/>
        </p:nvPicPr>
        <p:blipFill rotWithShape="1">
          <a:blip r:embed="rId3">
            <a:alphaModFix/>
          </a:blip>
          <a:srcRect b="0" l="0" r="0" t="0"/>
          <a:stretch/>
        </p:blipFill>
        <p:spPr>
          <a:xfrm>
            <a:off x="1180710" y="2045947"/>
            <a:ext cx="6822090" cy="1867050"/>
          </a:xfrm>
          <a:prstGeom prst="rect">
            <a:avLst/>
          </a:prstGeom>
          <a:noFill/>
          <a:ln>
            <a:noFill/>
          </a:ln>
        </p:spPr>
      </p:pic>
      <p:sp>
        <p:nvSpPr>
          <p:cNvPr id="420" name="Google Shape;420;p61"/>
          <p:cNvSpPr/>
          <p:nvPr/>
        </p:nvSpPr>
        <p:spPr>
          <a:xfrm>
            <a:off x="3264030" y="2037690"/>
            <a:ext cx="804300" cy="3294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1" name="Google Shape;421;p61"/>
          <p:cNvSpPr txBox="1"/>
          <p:nvPr/>
        </p:nvSpPr>
        <p:spPr>
          <a:xfrm>
            <a:off x="593978" y="4107225"/>
            <a:ext cx="3000000" cy="81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If X and Y are strongly related, knowing X tells us a lot about Y, and mutual information is high. </a:t>
            </a:r>
            <a:endParaRPr>
              <a:solidFill>
                <a:srgbClr val="0000FF"/>
              </a:solidFill>
            </a:endParaRPr>
          </a:p>
        </p:txBody>
      </p:sp>
      <p:sp>
        <p:nvSpPr>
          <p:cNvPr id="422" name="Google Shape;422;p61"/>
          <p:cNvSpPr txBox="1"/>
          <p:nvPr/>
        </p:nvSpPr>
        <p:spPr>
          <a:xfrm>
            <a:off x="5788003" y="4198875"/>
            <a:ext cx="3000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a:solidFill>
                  <a:srgbClr val="980000"/>
                </a:solidFill>
              </a:rPr>
              <a:t>If knowing X tells us almost nothing about Y, mutual information is low.</a:t>
            </a:r>
            <a:endParaRPr>
              <a:solidFill>
                <a:srgbClr val="98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2"/>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Mutual Information (Venn diagram)</a:t>
            </a:r>
            <a:endParaRPr b="0" sz="3300" strike="noStrike">
              <a:solidFill>
                <a:srgbClr val="000000"/>
              </a:solidFill>
              <a:latin typeface="Calibri"/>
              <a:ea typeface="Calibri"/>
              <a:cs typeface="Calibri"/>
              <a:sym typeface="Calibri"/>
            </a:endParaRPr>
          </a:p>
        </p:txBody>
      </p:sp>
      <p:pic>
        <p:nvPicPr>
          <p:cNvPr id="428" name="Google Shape;428;p62"/>
          <p:cNvPicPr preferRelativeResize="0"/>
          <p:nvPr/>
        </p:nvPicPr>
        <p:blipFill rotWithShape="1">
          <a:blip r:embed="rId3">
            <a:alphaModFix/>
          </a:blip>
          <a:srcRect b="0" l="0" r="0" t="0"/>
          <a:stretch/>
        </p:blipFill>
        <p:spPr>
          <a:xfrm>
            <a:off x="4415040" y="1267920"/>
            <a:ext cx="4533840" cy="3148740"/>
          </a:xfrm>
          <a:prstGeom prst="rect">
            <a:avLst/>
          </a:prstGeom>
          <a:noFill/>
          <a:ln>
            <a:noFill/>
          </a:ln>
        </p:spPr>
      </p:pic>
      <p:pic>
        <p:nvPicPr>
          <p:cNvPr id="429" name="Google Shape;429;p62"/>
          <p:cNvPicPr preferRelativeResize="0"/>
          <p:nvPr/>
        </p:nvPicPr>
        <p:blipFill rotWithShape="1">
          <a:blip r:embed="rId4">
            <a:alphaModFix/>
          </a:blip>
          <a:srcRect b="0" l="0" r="0" t="0"/>
          <a:stretch/>
        </p:blipFill>
        <p:spPr>
          <a:xfrm>
            <a:off x="247590" y="2232360"/>
            <a:ext cx="3930120" cy="423630"/>
          </a:xfrm>
          <a:prstGeom prst="rect">
            <a:avLst/>
          </a:prstGeom>
          <a:noFill/>
          <a:ln cap="sq" cmpd="sng" w="28575">
            <a:solidFill>
              <a:srgbClr val="000000"/>
            </a:solidFill>
            <a:prstDash val="solid"/>
            <a:miter lim="8000"/>
            <a:headEnd len="sm" w="sm" type="none"/>
            <a:tailEnd len="sm" w="sm" type="none"/>
          </a:ln>
          <a:effectLst>
            <a:outerShdw blurRad="38070" rotWithShape="0" algn="tl" dir="2700000" dist="28255">
              <a:srgbClr val="000000">
                <a:alpha val="43140"/>
              </a:srgbClr>
            </a:outerShdw>
          </a:effectLst>
        </p:spPr>
      </p:pic>
      <p:pic>
        <p:nvPicPr>
          <p:cNvPr id="430" name="Google Shape;430;p62"/>
          <p:cNvPicPr preferRelativeResize="0"/>
          <p:nvPr/>
        </p:nvPicPr>
        <p:blipFill rotWithShape="1">
          <a:blip r:embed="rId5">
            <a:alphaModFix/>
          </a:blip>
          <a:srcRect b="0" l="0" r="0" t="0"/>
          <a:stretch/>
        </p:blipFill>
        <p:spPr>
          <a:xfrm>
            <a:off x="168480" y="2934900"/>
            <a:ext cx="4127219" cy="422550"/>
          </a:xfrm>
          <a:prstGeom prst="rect">
            <a:avLst/>
          </a:prstGeom>
          <a:noFill/>
          <a:ln cap="sq" cmpd="sng" w="28575">
            <a:solidFill>
              <a:srgbClr val="000000"/>
            </a:solidFill>
            <a:prstDash val="solid"/>
            <a:miter lim="8000"/>
            <a:headEnd len="sm" w="sm" type="none"/>
            <a:tailEnd len="sm" w="sm" type="none"/>
          </a:ln>
          <a:effectLst>
            <a:outerShdw blurRad="38070" rotWithShape="0" algn="tl" dir="2700000" dist="28255">
              <a:srgbClr val="000000">
                <a:alpha val="43140"/>
              </a:srgbClr>
            </a:outerShdw>
          </a:effectLst>
        </p:spPr>
      </p:pic>
      <p:sp>
        <p:nvSpPr>
          <p:cNvPr id="431" name="Google Shape;431;p62"/>
          <p:cNvSpPr txBox="1"/>
          <p:nvPr/>
        </p:nvSpPr>
        <p:spPr>
          <a:xfrm>
            <a:off x="732088" y="409457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7030A0"/>
                </a:solidFill>
              </a:rPr>
              <a:t>So mutual information is literally the part of uncertainty that the two variables share!</a:t>
            </a:r>
            <a:endParaRPr>
              <a:solidFill>
                <a:srgbClr val="7030A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1</a:t>
            </a:r>
            <a:endParaRPr/>
          </a:p>
        </p:txBody>
      </p:sp>
      <p:sp>
        <p:nvSpPr>
          <p:cNvPr id="437" name="Google Shape;437;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X → Whether a student studies</a:t>
            </a:r>
            <a:r>
              <a:rPr lang="en"/>
              <a:t> </a:t>
            </a:r>
            <a:endParaRPr/>
          </a:p>
          <a:p>
            <a:pPr indent="-342900" lvl="0" marL="457200" rtl="0" algn="l">
              <a:spcBef>
                <a:spcPts val="0"/>
              </a:spcBef>
              <a:spcAft>
                <a:spcPts val="0"/>
              </a:spcAft>
              <a:buSzPts val="1800"/>
              <a:buChar char="●"/>
            </a:pPr>
            <a:r>
              <a:rPr lang="en"/>
              <a:t>Y → Whether the student passes</a:t>
            </a:r>
            <a:endParaRPr/>
          </a:p>
          <a:p>
            <a:pPr indent="-342900" lvl="0" marL="457200" rtl="0" algn="l">
              <a:spcBef>
                <a:spcPts val="0"/>
              </a:spcBef>
              <a:spcAft>
                <a:spcPts val="0"/>
              </a:spcAft>
              <a:buSzPts val="1800"/>
              <a:buChar char="●"/>
            </a:pPr>
            <a:r>
              <a:rPr lang="en"/>
              <a:t>If studying and passing are completely unrelated, then knowing Y doesn't reduce our uncertainty about X </a:t>
            </a:r>
            <a:endParaRPr/>
          </a:p>
          <a:p>
            <a:pPr indent="-317500" lvl="1" marL="914400" rtl="0" algn="l">
              <a:spcBef>
                <a:spcPts val="0"/>
              </a:spcBef>
              <a:spcAft>
                <a:spcPts val="0"/>
              </a:spcAft>
              <a:buSzPts val="1400"/>
              <a:buChar char="○"/>
            </a:pPr>
            <a:r>
              <a:rPr lang="en"/>
              <a:t>I (X; Y) ≈ 0</a:t>
            </a:r>
            <a:endParaRPr/>
          </a:p>
          <a:p>
            <a:pPr indent="-342900" lvl="0" marL="457200" rtl="0" algn="l">
              <a:spcBef>
                <a:spcPts val="0"/>
              </a:spcBef>
              <a:spcAft>
                <a:spcPts val="0"/>
              </a:spcAft>
              <a:buSzPts val="1800"/>
              <a:buChar char="●"/>
            </a:pPr>
            <a:r>
              <a:rPr lang="en"/>
              <a:t>But suppose almost everyone who passes studied, and almost everyone who fails did not study. Then observing Y gives us substantial information about X </a:t>
            </a:r>
            <a:endParaRPr/>
          </a:p>
          <a:p>
            <a:pPr indent="-317500" lvl="1" marL="914400" rtl="0" algn="l">
              <a:spcBef>
                <a:spcPts val="0"/>
              </a:spcBef>
              <a:spcAft>
                <a:spcPts val="0"/>
              </a:spcAft>
              <a:buSzPts val="1400"/>
              <a:buChar char="○"/>
            </a:pPr>
            <a:r>
              <a:rPr lang="en"/>
              <a:t>I (X; Y) &gt; 0</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2</a:t>
            </a:r>
            <a:endParaRPr/>
          </a:p>
        </p:txBody>
      </p:sp>
      <p:sp>
        <p:nvSpPr>
          <p:cNvPr id="443" name="Google Shape;443;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X = the current word </a:t>
            </a:r>
            <a:endParaRPr/>
          </a:p>
          <a:p>
            <a:pPr indent="-342900" lvl="0" marL="457200" rtl="0" algn="l">
              <a:spcBef>
                <a:spcPts val="0"/>
              </a:spcBef>
              <a:spcAft>
                <a:spcPts val="0"/>
              </a:spcAft>
              <a:buSzPts val="1800"/>
              <a:buChar char="-"/>
            </a:pPr>
            <a:r>
              <a:rPr lang="en"/>
              <a:t>Y = the preceding word </a:t>
            </a:r>
            <a:endParaRPr/>
          </a:p>
          <a:p>
            <a:pPr indent="-342900" lvl="0" marL="457200" rtl="0" algn="l">
              <a:spcBef>
                <a:spcPts val="0"/>
              </a:spcBef>
              <a:spcAft>
                <a:spcPts val="0"/>
              </a:spcAft>
              <a:buSzPts val="1800"/>
              <a:buChar char="-"/>
            </a:pPr>
            <a:r>
              <a:rPr lang="en"/>
              <a:t>Consider the word sequence: </a:t>
            </a:r>
            <a:r>
              <a:rPr i="1" lang="en"/>
              <a:t>New Delhi</a:t>
            </a:r>
            <a:endParaRPr i="1"/>
          </a:p>
          <a:p>
            <a:pPr indent="-342900" lvl="0" marL="457200" rtl="0" algn="l">
              <a:spcBef>
                <a:spcPts val="0"/>
              </a:spcBef>
              <a:spcAft>
                <a:spcPts val="0"/>
              </a:spcAft>
              <a:buSzPts val="1800"/>
              <a:buChar char="-"/>
            </a:pPr>
            <a:r>
              <a:rPr lang="en"/>
              <a:t>So knowing that the first word is </a:t>
            </a:r>
            <a:r>
              <a:rPr lang="en">
                <a:solidFill>
                  <a:schemeClr val="dk1"/>
                </a:solidFill>
              </a:rPr>
              <a:t>New </a:t>
            </a:r>
            <a:r>
              <a:rPr lang="en"/>
              <a:t>substantially changes the probability of the next word being </a:t>
            </a:r>
            <a:r>
              <a:rPr lang="en">
                <a:solidFill>
                  <a:srgbClr val="292929"/>
                </a:solidFill>
              </a:rPr>
              <a:t>Delhi</a:t>
            </a:r>
            <a:endParaRPr/>
          </a:p>
          <a:p>
            <a:pPr indent="-342900" lvl="0" marL="457200" rtl="0" algn="l">
              <a:spcBef>
                <a:spcPts val="0"/>
              </a:spcBef>
              <a:spcAft>
                <a:spcPts val="0"/>
              </a:spcAft>
              <a:buSzPts val="1800"/>
              <a:buChar char="-"/>
            </a:pPr>
            <a:r>
              <a:rPr lang="en"/>
              <a:t>P (Delhi | New) &gt; P (Delhi)</a:t>
            </a:r>
            <a:endParaRPr/>
          </a:p>
          <a:p>
            <a:pPr indent="-342900" lvl="0" marL="457200" rtl="0" algn="l">
              <a:spcBef>
                <a:spcPts val="0"/>
              </a:spcBef>
              <a:spcAft>
                <a:spcPts val="0"/>
              </a:spcAft>
              <a:buSzPts val="1800"/>
              <a:buChar char="-"/>
            </a:pPr>
            <a:r>
              <a:rPr lang="en"/>
              <a:t>Therefore, knowing </a:t>
            </a:r>
            <a:r>
              <a:rPr lang="en">
                <a:solidFill>
                  <a:srgbClr val="000000"/>
                </a:solidFill>
              </a:rPr>
              <a:t>New </a:t>
            </a:r>
            <a:r>
              <a:rPr lang="en"/>
              <a:t>reduces our uncertainty about the next word</a:t>
            </a:r>
            <a:endParaRPr/>
          </a:p>
          <a:p>
            <a:pPr indent="-342900" lvl="0" marL="457200" rtl="0" algn="l">
              <a:spcBef>
                <a:spcPts val="0"/>
              </a:spcBef>
              <a:spcAft>
                <a:spcPts val="0"/>
              </a:spcAft>
              <a:buSzPts val="1800"/>
              <a:buChar char="-"/>
            </a:pPr>
            <a:r>
              <a:rPr lang="en"/>
              <a:t>If the occurrence of one word changes the probability distribution of another word, the two words contain mutual information</a:t>
            </a:r>
            <a:endParaRPr/>
          </a:p>
          <a:p>
            <a:pPr indent="-342900" lvl="0" marL="457200" rtl="0" algn="l">
              <a:spcBef>
                <a:spcPts val="0"/>
              </a:spcBef>
              <a:spcAft>
                <a:spcPts val="0"/>
              </a:spcAft>
              <a:buSzPts val="1800"/>
              <a:buChar char="-"/>
            </a:pPr>
            <a:r>
              <a:rPr lang="en"/>
              <a:t>Very useful for identifying word associations and collocations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5"/>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Calibri"/>
              <a:buNone/>
            </a:pPr>
            <a:r>
              <a:rPr b="0" lang="en" sz="3000" strike="noStrike">
                <a:solidFill>
                  <a:srgbClr val="000000"/>
                </a:solidFill>
                <a:latin typeface="Calibri"/>
                <a:ea typeface="Calibri"/>
                <a:cs typeface="Calibri"/>
                <a:sym typeface="Calibri"/>
              </a:rPr>
              <a:t>Relative entropy or </a:t>
            </a:r>
            <a:r>
              <a:rPr b="0" i="1" lang="en" sz="3000" strike="noStrike">
                <a:solidFill>
                  <a:srgbClr val="000000"/>
                </a:solidFill>
                <a:latin typeface="Calibri"/>
                <a:ea typeface="Calibri"/>
                <a:cs typeface="Calibri"/>
                <a:sym typeface="Calibri"/>
              </a:rPr>
              <a:t>Kullback-Leibler divergence</a:t>
            </a:r>
            <a:endParaRPr b="0" sz="3000" strike="noStrike">
              <a:solidFill>
                <a:srgbClr val="000000"/>
              </a:solidFill>
              <a:latin typeface="Calibri"/>
              <a:ea typeface="Calibri"/>
              <a:cs typeface="Calibri"/>
              <a:sym typeface="Calibri"/>
            </a:endParaRPr>
          </a:p>
        </p:txBody>
      </p:sp>
      <p:pic>
        <p:nvPicPr>
          <p:cNvPr id="449" name="Google Shape;449;p65"/>
          <p:cNvPicPr preferRelativeResize="0"/>
          <p:nvPr/>
        </p:nvPicPr>
        <p:blipFill rotWithShape="1">
          <a:blip r:embed="rId3">
            <a:alphaModFix/>
          </a:blip>
          <a:srcRect b="0" l="0" r="0" t="0"/>
          <a:stretch/>
        </p:blipFill>
        <p:spPr>
          <a:xfrm>
            <a:off x="797310" y="2896560"/>
            <a:ext cx="6929280" cy="314010"/>
          </a:xfrm>
          <a:prstGeom prst="rect">
            <a:avLst/>
          </a:prstGeom>
          <a:noFill/>
          <a:ln>
            <a:noFill/>
          </a:ln>
        </p:spPr>
      </p:pic>
      <p:pic>
        <p:nvPicPr>
          <p:cNvPr id="450" name="Google Shape;450;p65"/>
          <p:cNvPicPr preferRelativeResize="0"/>
          <p:nvPr/>
        </p:nvPicPr>
        <p:blipFill rotWithShape="1">
          <a:blip r:embed="rId4">
            <a:alphaModFix/>
          </a:blip>
          <a:srcRect b="0" l="0" r="0" t="0"/>
          <a:stretch/>
        </p:blipFill>
        <p:spPr>
          <a:xfrm>
            <a:off x="789210" y="1369170"/>
            <a:ext cx="6971939" cy="1357020"/>
          </a:xfrm>
          <a:prstGeom prst="rect">
            <a:avLst/>
          </a:prstGeom>
          <a:noFill/>
          <a:ln>
            <a:noFill/>
          </a:ln>
        </p:spPr>
      </p:pic>
      <p:pic>
        <p:nvPicPr>
          <p:cNvPr id="451" name="Google Shape;451;p65"/>
          <p:cNvPicPr preferRelativeResize="0"/>
          <p:nvPr/>
        </p:nvPicPr>
        <p:blipFill rotWithShape="1">
          <a:blip r:embed="rId5">
            <a:alphaModFix/>
          </a:blip>
          <a:srcRect b="0" l="0" r="0" t="0"/>
          <a:stretch/>
        </p:blipFill>
        <p:spPr>
          <a:xfrm>
            <a:off x="824850" y="3265650"/>
            <a:ext cx="6900660" cy="1592730"/>
          </a:xfrm>
          <a:prstGeom prst="rect">
            <a:avLst/>
          </a:prstGeom>
          <a:noFill/>
          <a:ln>
            <a:noFill/>
          </a:ln>
        </p:spPr>
      </p:pic>
      <p:sp>
        <p:nvSpPr>
          <p:cNvPr id="452" name="Google Shape;452;p65"/>
          <p:cNvSpPr/>
          <p:nvPr/>
        </p:nvSpPr>
        <p:spPr>
          <a:xfrm>
            <a:off x="789210" y="2004750"/>
            <a:ext cx="2916600" cy="7650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3" name="Google Shape;453;p65"/>
          <p:cNvSpPr/>
          <p:nvPr/>
        </p:nvSpPr>
        <p:spPr>
          <a:xfrm>
            <a:off x="4991760" y="2896560"/>
            <a:ext cx="2733600" cy="3141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4" name="Google Shape;454;p65"/>
          <p:cNvSpPr/>
          <p:nvPr/>
        </p:nvSpPr>
        <p:spPr>
          <a:xfrm>
            <a:off x="778140" y="3308850"/>
            <a:ext cx="2544900" cy="6897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455" name="Google Shape;455;p65"/>
          <p:cNvCxnSpPr/>
          <p:nvPr/>
        </p:nvCxnSpPr>
        <p:spPr>
          <a:xfrm>
            <a:off x="5169690" y="4292730"/>
            <a:ext cx="2486400" cy="300"/>
          </a:xfrm>
          <a:prstGeom prst="straightConnector1">
            <a:avLst/>
          </a:prstGeom>
          <a:noFill/>
          <a:ln cap="flat" cmpd="sng" w="7150">
            <a:solidFill>
              <a:srgbClr val="FF0000"/>
            </a:solidFill>
            <a:prstDash val="solid"/>
            <a:miter lim="8000"/>
            <a:headEnd len="sm" w="sm" type="none"/>
            <a:tailEnd len="sm" w="sm" type="none"/>
          </a:ln>
        </p:spPr>
      </p:cxnSp>
      <p:cxnSp>
        <p:nvCxnSpPr>
          <p:cNvPr id="456" name="Google Shape;456;p65"/>
          <p:cNvCxnSpPr/>
          <p:nvPr/>
        </p:nvCxnSpPr>
        <p:spPr>
          <a:xfrm>
            <a:off x="1729620" y="4552200"/>
            <a:ext cx="5926200" cy="28500"/>
          </a:xfrm>
          <a:prstGeom prst="straightConnector1">
            <a:avLst/>
          </a:prstGeom>
          <a:noFill/>
          <a:ln cap="flat" cmpd="sng" w="7150">
            <a:solidFill>
              <a:srgbClr val="FF0000"/>
            </a:solidFill>
            <a:prstDash val="solid"/>
            <a:miter lim="8000"/>
            <a:headEnd len="sm" w="sm" type="none"/>
            <a:tailEnd len="sm" w="sm" type="none"/>
          </a:ln>
        </p:spPr>
      </p:cxnSp>
      <p:cxnSp>
        <p:nvCxnSpPr>
          <p:cNvPr id="457" name="Google Shape;457;p65"/>
          <p:cNvCxnSpPr/>
          <p:nvPr/>
        </p:nvCxnSpPr>
        <p:spPr>
          <a:xfrm>
            <a:off x="1973700" y="4822470"/>
            <a:ext cx="2598300" cy="300"/>
          </a:xfrm>
          <a:prstGeom prst="straightConnector1">
            <a:avLst/>
          </a:prstGeom>
          <a:noFill/>
          <a:ln cap="flat" cmpd="sng" w="7150">
            <a:solidFill>
              <a:srgbClr val="FF0000"/>
            </a:solidFill>
            <a:prstDash val="solid"/>
            <a:miter lim="8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6"/>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In-class Exercise</a:t>
            </a:r>
            <a:endParaRPr b="0" sz="3300" strike="noStrike">
              <a:solidFill>
                <a:srgbClr val="000000"/>
              </a:solidFill>
              <a:latin typeface="Calibri"/>
              <a:ea typeface="Calibri"/>
              <a:cs typeface="Calibri"/>
              <a:sym typeface="Calibri"/>
            </a:endParaRPr>
          </a:p>
        </p:txBody>
      </p:sp>
      <p:sp>
        <p:nvSpPr>
          <p:cNvPr id="463" name="Google Shape;463;p66"/>
          <p:cNvSpPr txBox="1"/>
          <p:nvPr>
            <p:ph idx="4294967295" type="body"/>
          </p:nvPr>
        </p:nvSpPr>
        <p:spPr>
          <a:xfrm>
            <a:off x="628560" y="1369170"/>
            <a:ext cx="8042400" cy="32631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F0000"/>
              </a:buClr>
              <a:buSzPts val="2100"/>
              <a:buFont typeface="Calibri"/>
              <a:buNone/>
            </a:pPr>
            <a:r>
              <a:rPr b="0" i="0" lang="en" sz="2100" u="none" cap="none" strike="noStrike">
                <a:solidFill>
                  <a:srgbClr val="FF0000"/>
                </a:solidFill>
                <a:latin typeface="Calibri"/>
                <a:ea typeface="Calibri"/>
                <a:cs typeface="Calibri"/>
                <a:sym typeface="Calibri"/>
              </a:rPr>
              <a:t>Q1:</a:t>
            </a:r>
            <a:r>
              <a:rPr b="0" i="0" lang="en" sz="2100" u="none" cap="none" strike="noStrike">
                <a:solidFill>
                  <a:srgbClr val="000000"/>
                </a:solidFill>
                <a:latin typeface="Calibri"/>
                <a:ea typeface="Calibri"/>
                <a:cs typeface="Calibri"/>
                <a:sym typeface="Calibri"/>
              </a:rPr>
              <a:t> Briefly explain the concept of entropy and what does it say about a given symbol sequence?</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FF0000"/>
              </a:buClr>
              <a:buSzPts val="2100"/>
              <a:buFont typeface="Calibri"/>
              <a:buNone/>
            </a:pPr>
            <a:r>
              <a:rPr b="0" i="0" lang="en" sz="2100" u="none" cap="none" strike="noStrike">
                <a:solidFill>
                  <a:srgbClr val="FF0000"/>
                </a:solidFill>
                <a:latin typeface="Calibri"/>
                <a:ea typeface="Calibri"/>
                <a:cs typeface="Calibri"/>
                <a:sym typeface="Calibri"/>
              </a:rPr>
              <a:t>Q2:</a:t>
            </a:r>
            <a:r>
              <a:rPr b="0" i="0" lang="en" sz="2100" u="none" cap="none" strike="noStrike">
                <a:solidFill>
                  <a:srgbClr val="000000"/>
                </a:solidFill>
                <a:latin typeface="Calibri"/>
                <a:ea typeface="Calibri"/>
                <a:cs typeface="Calibri"/>
                <a:sym typeface="Calibri"/>
              </a:rPr>
              <a:t> For two random variables, X and Y, with given discrete probability distributions, p(x) and p(y), write the expression for mutual information, I(X; Y), in terms of p(x) and p(y), and prove that it is symmetric, i.e.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I(X; Y) = I(Y; X).</a:t>
            </a:r>
            <a:endParaRPr b="0" i="0" sz="2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7"/>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Summary</a:t>
            </a:r>
            <a:endParaRPr b="0" sz="3300" strike="noStrike">
              <a:solidFill>
                <a:srgbClr val="000000"/>
              </a:solidFill>
              <a:latin typeface="Calibri"/>
              <a:ea typeface="Calibri"/>
              <a:cs typeface="Calibri"/>
              <a:sym typeface="Calibri"/>
            </a:endParaRPr>
          </a:p>
        </p:txBody>
      </p:sp>
      <p:sp>
        <p:nvSpPr>
          <p:cNvPr id="469" name="Google Shape;469;p67"/>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Entropy</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Joint entropy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Conditional entropy</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Chain rule</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Mutual information</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120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Relative entropy</a:t>
            </a:r>
            <a:endParaRPr b="0" i="0" sz="2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8"/>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Entropy and natural language</a:t>
            </a:r>
            <a:endParaRPr b="0" sz="3300" strike="noStrike">
              <a:solidFill>
                <a:srgbClr val="000000"/>
              </a:solidFill>
              <a:latin typeface="Calibri"/>
              <a:ea typeface="Calibri"/>
              <a:cs typeface="Calibri"/>
              <a:sym typeface="Calibri"/>
            </a:endParaRPr>
          </a:p>
        </p:txBody>
      </p:sp>
      <p:sp>
        <p:nvSpPr>
          <p:cNvPr id="475" name="Google Shape;475;p68"/>
          <p:cNvSpPr txBox="1"/>
          <p:nvPr>
            <p:ph idx="4294967295" type="body"/>
          </p:nvPr>
        </p:nvSpPr>
        <p:spPr>
          <a:xfrm>
            <a:off x="628550" y="1369175"/>
            <a:ext cx="8355300" cy="37743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Conditional entropy:</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Pointwise conditional entropy:</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    </a:t>
            </a:r>
            <a:r>
              <a:rPr b="0" i="0" lang="en" sz="1200" u="none" cap="none" strike="noStrike">
                <a:solidFill>
                  <a:srgbClr val="000000"/>
                </a:solidFill>
                <a:latin typeface="Calibri"/>
                <a:ea typeface="Calibri"/>
                <a:cs typeface="Calibri"/>
                <a:sym typeface="Calibri"/>
              </a:rPr>
              <a:t>where w = </a:t>
            </a:r>
            <a:r>
              <a:rPr b="0" i="1" lang="en" sz="1200" u="none" cap="none" strike="noStrike">
                <a:solidFill>
                  <a:srgbClr val="000000"/>
                </a:solidFill>
                <a:latin typeface="Calibri"/>
                <a:ea typeface="Calibri"/>
                <a:cs typeface="Calibri"/>
                <a:sym typeface="Calibri"/>
              </a:rPr>
              <a:t>next word</a:t>
            </a:r>
            <a:r>
              <a:rPr b="0" i="0" lang="en" sz="1200" u="none" cap="none" strike="noStrike">
                <a:solidFill>
                  <a:srgbClr val="000000"/>
                </a:solidFill>
                <a:latin typeface="Calibri"/>
                <a:ea typeface="Calibri"/>
                <a:cs typeface="Calibri"/>
                <a:sym typeface="Calibri"/>
              </a:rPr>
              <a:t>, h = </a:t>
            </a:r>
            <a:r>
              <a:rPr b="0" i="1" lang="en" sz="1200" u="none" cap="none" strike="noStrike">
                <a:solidFill>
                  <a:srgbClr val="000000"/>
                </a:solidFill>
                <a:latin typeface="Calibri"/>
                <a:ea typeface="Calibri"/>
                <a:cs typeface="Calibri"/>
                <a:sym typeface="Calibri"/>
              </a:rPr>
              <a:t>history of words seen so far, </a:t>
            </a:r>
            <a:r>
              <a:rPr b="0" i="0" lang="en" sz="1200" u="none" cap="none" strike="noStrike">
                <a:solidFill>
                  <a:srgbClr val="000000"/>
                </a:solidFill>
                <a:latin typeface="Calibri"/>
                <a:ea typeface="Calibri"/>
                <a:cs typeface="Calibri"/>
                <a:sym typeface="Calibri"/>
              </a:rPr>
              <a:t>m</a:t>
            </a:r>
            <a:r>
              <a:rPr b="0" i="1" lang="en" sz="1200" u="none" cap="none" strike="noStrike">
                <a:solidFill>
                  <a:srgbClr val="000000"/>
                </a:solidFill>
                <a:latin typeface="Calibri"/>
                <a:ea typeface="Calibri"/>
                <a:cs typeface="Calibri"/>
                <a:sym typeface="Calibri"/>
              </a:rPr>
              <a:t> = language model</a:t>
            </a:r>
            <a:endParaRPr b="0" i="0" sz="12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120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Total conditional entropy:</a:t>
            </a:r>
            <a:br>
              <a:rPr b="0" i="0" lang="en" sz="2100" u="none" cap="none" strike="noStrike">
                <a:solidFill>
                  <a:srgbClr val="000000"/>
                </a:solidFill>
                <a:latin typeface="Calibri"/>
                <a:ea typeface="Calibri"/>
                <a:cs typeface="Calibri"/>
                <a:sym typeface="Calibri"/>
              </a:rPr>
            </a:br>
            <a:r>
              <a:rPr b="0" i="0" lang="en" sz="2100" u="none" cap="none" strike="noStrike">
                <a:solidFill>
                  <a:srgbClr val="000000"/>
                </a:solidFill>
                <a:latin typeface="Calibri"/>
                <a:ea typeface="Calibri"/>
                <a:cs typeface="Calibri"/>
                <a:sym typeface="Calibri"/>
              </a:rPr>
              <a:t>(Total Surprisal) </a:t>
            </a:r>
            <a:endParaRPr b="0" i="0" sz="2100" u="none" cap="none" strike="noStrike">
              <a:solidFill>
                <a:srgbClr val="000000"/>
              </a:solidFill>
              <a:latin typeface="Calibri"/>
              <a:ea typeface="Calibri"/>
              <a:cs typeface="Calibri"/>
              <a:sym typeface="Calibri"/>
            </a:endParaRPr>
          </a:p>
        </p:txBody>
      </p:sp>
      <p:pic>
        <p:nvPicPr>
          <p:cNvPr id="476" name="Google Shape;476;p68"/>
          <p:cNvPicPr preferRelativeResize="0"/>
          <p:nvPr/>
        </p:nvPicPr>
        <p:blipFill rotWithShape="1">
          <a:blip r:embed="rId3">
            <a:alphaModFix/>
          </a:blip>
          <a:srcRect b="0" l="0" r="0" t="0"/>
          <a:stretch/>
        </p:blipFill>
        <p:spPr>
          <a:xfrm>
            <a:off x="3806460" y="1225800"/>
            <a:ext cx="3271590" cy="621270"/>
          </a:xfrm>
          <a:prstGeom prst="rect">
            <a:avLst/>
          </a:prstGeom>
          <a:noFill/>
          <a:ln>
            <a:noFill/>
          </a:ln>
        </p:spPr>
      </p:pic>
      <p:pic>
        <p:nvPicPr>
          <p:cNvPr id="477" name="Google Shape;477;p68"/>
          <p:cNvPicPr preferRelativeResize="0"/>
          <p:nvPr/>
        </p:nvPicPr>
        <p:blipFill rotWithShape="1">
          <a:blip r:embed="rId4">
            <a:alphaModFix/>
          </a:blip>
          <a:srcRect b="0" l="0" r="0" t="0"/>
          <a:stretch/>
        </p:blipFill>
        <p:spPr>
          <a:xfrm>
            <a:off x="4727430" y="1994760"/>
            <a:ext cx="2985930" cy="599940"/>
          </a:xfrm>
          <a:prstGeom prst="rect">
            <a:avLst/>
          </a:prstGeom>
          <a:noFill/>
          <a:ln>
            <a:noFill/>
          </a:ln>
        </p:spPr>
      </p:pic>
      <p:pic>
        <p:nvPicPr>
          <p:cNvPr id="478" name="Google Shape;478;p68"/>
          <p:cNvPicPr preferRelativeResize="0"/>
          <p:nvPr/>
        </p:nvPicPr>
        <p:blipFill rotWithShape="1">
          <a:blip r:embed="rId5">
            <a:alphaModFix/>
          </a:blip>
          <a:srcRect b="0" l="0" r="0" t="0"/>
          <a:stretch/>
        </p:blipFill>
        <p:spPr>
          <a:xfrm>
            <a:off x="7078320" y="1292220"/>
            <a:ext cx="1827360" cy="448200"/>
          </a:xfrm>
          <a:prstGeom prst="rect">
            <a:avLst/>
          </a:prstGeom>
          <a:noFill/>
          <a:ln>
            <a:noFill/>
          </a:ln>
        </p:spPr>
      </p:pic>
      <p:pic>
        <p:nvPicPr>
          <p:cNvPr id="479" name="Google Shape;479;p68"/>
          <p:cNvPicPr preferRelativeResize="0"/>
          <p:nvPr/>
        </p:nvPicPr>
        <p:blipFill rotWithShape="1">
          <a:blip r:embed="rId6">
            <a:alphaModFix/>
          </a:blip>
          <a:srcRect b="0" l="0" r="0" t="0"/>
          <a:stretch/>
        </p:blipFill>
        <p:spPr>
          <a:xfrm>
            <a:off x="4411530" y="2981676"/>
            <a:ext cx="2780730" cy="335340"/>
          </a:xfrm>
          <a:prstGeom prst="rect">
            <a:avLst/>
          </a:prstGeom>
          <a:noFill/>
          <a:ln>
            <a:noFill/>
          </a:ln>
        </p:spPr>
      </p:pic>
      <p:pic>
        <p:nvPicPr>
          <p:cNvPr id="480" name="Google Shape;480;p68"/>
          <p:cNvPicPr preferRelativeResize="0"/>
          <p:nvPr/>
        </p:nvPicPr>
        <p:blipFill rotWithShape="1">
          <a:blip r:embed="rId7">
            <a:alphaModFix/>
          </a:blip>
          <a:srcRect b="0" l="0" r="0" t="0"/>
          <a:stretch/>
        </p:blipFill>
        <p:spPr>
          <a:xfrm>
            <a:off x="4048920" y="3850740"/>
            <a:ext cx="4010310" cy="1048410"/>
          </a:xfrm>
          <a:prstGeom prst="rect">
            <a:avLst/>
          </a:prstGeom>
          <a:noFill/>
          <a:ln>
            <a:noFill/>
          </a:ln>
        </p:spPr>
      </p:pic>
      <p:sp>
        <p:nvSpPr>
          <p:cNvPr id="481" name="Google Shape;481;p68"/>
          <p:cNvSpPr/>
          <p:nvPr/>
        </p:nvSpPr>
        <p:spPr>
          <a:xfrm>
            <a:off x="7992275" y="4532224"/>
            <a:ext cx="913800" cy="335400"/>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Chain Rule</a:t>
            </a:r>
            <a:endParaRPr b="0" i="0" sz="1400" u="none" cap="none" strike="noStrike">
              <a:latin typeface="Arial"/>
              <a:ea typeface="Arial"/>
              <a:cs typeface="Arial"/>
              <a:sym typeface="Arial"/>
            </a:endParaRPr>
          </a:p>
        </p:txBody>
      </p:sp>
      <p:sp>
        <p:nvSpPr>
          <p:cNvPr id="482" name="Google Shape;482;p68"/>
          <p:cNvSpPr/>
          <p:nvPr/>
        </p:nvSpPr>
        <p:spPr>
          <a:xfrm rot="10800000">
            <a:off x="7191990" y="4696650"/>
            <a:ext cx="746550" cy="270"/>
          </a:xfrm>
          <a:custGeom>
            <a:rect b="b" l="l" r="r" t="t"/>
            <a:pathLst>
              <a:path extrusionOk="0" h="21600" w="21600">
                <a:moveTo>
                  <a:pt x="0" y="0"/>
                </a:moveTo>
                <a:lnTo>
                  <a:pt x="21600" y="21600"/>
                </a:lnTo>
              </a:path>
            </a:pathLst>
          </a:custGeom>
          <a:noFill/>
          <a:ln cap="flat" cmpd="sng" w="7150">
            <a:solidFill>
              <a:srgbClr val="000000"/>
            </a:solidFill>
            <a:prstDash val="solid"/>
            <a:miter lim="8000"/>
            <a:headEnd len="sm" w="sm" type="none"/>
            <a:tailEnd len="med" w="med" type="triangle"/>
          </a:ln>
        </p:spPr>
      </p:sp>
      <p:sp>
        <p:nvSpPr>
          <p:cNvPr id="483" name="Google Shape;483;p68"/>
          <p:cNvSpPr/>
          <p:nvPr/>
        </p:nvSpPr>
        <p:spPr>
          <a:xfrm>
            <a:off x="6910650" y="3418541"/>
            <a:ext cx="1932600" cy="502500"/>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Measure of surprise on seeing the next word</a:t>
            </a:r>
            <a:endParaRPr b="0" i="0" sz="1400" u="none" cap="none" strike="noStrike">
              <a:latin typeface="Arial"/>
              <a:ea typeface="Arial"/>
              <a:cs typeface="Arial"/>
              <a:sym typeface="Arial"/>
            </a:endParaRPr>
          </a:p>
        </p:txBody>
      </p:sp>
      <p:sp>
        <p:nvSpPr>
          <p:cNvPr id="484" name="Google Shape;484;p68"/>
          <p:cNvSpPr/>
          <p:nvPr/>
        </p:nvSpPr>
        <p:spPr>
          <a:xfrm rot="10800000">
            <a:off x="6383340" y="3313236"/>
            <a:ext cx="516240" cy="209250"/>
          </a:xfrm>
          <a:custGeom>
            <a:rect b="b" l="l" r="r" t="t"/>
            <a:pathLst>
              <a:path extrusionOk="0" h="21600" w="21600">
                <a:moveTo>
                  <a:pt x="0" y="0"/>
                </a:moveTo>
                <a:lnTo>
                  <a:pt x="21600" y="21600"/>
                </a:lnTo>
              </a:path>
            </a:pathLst>
          </a:custGeom>
          <a:noFill/>
          <a:ln cap="flat" cmpd="sng" w="7150">
            <a:solidFill>
              <a:srgbClr val="000000"/>
            </a:solidFill>
            <a:prstDash val="solid"/>
            <a:miter lim="8000"/>
            <a:headEnd len="sm" w="sm" type="none"/>
            <a:tailEnd len="med" w="med" type="triangle"/>
          </a:ln>
        </p:spPr>
      </p:sp>
      <p:sp>
        <p:nvSpPr>
          <p:cNvPr id="485" name="Google Shape;485;p68"/>
          <p:cNvSpPr/>
          <p:nvPr/>
        </p:nvSpPr>
        <p:spPr>
          <a:xfrm>
            <a:off x="4411525" y="66350"/>
            <a:ext cx="4662300" cy="335400"/>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292929"/>
              </a:buClr>
              <a:buSzPts val="1400"/>
              <a:buFont typeface="Content"/>
              <a:buNone/>
            </a:pPr>
            <a:r>
              <a:rPr b="0" i="0" lang="en" sz="1400" u="none" cap="none" strike="noStrike">
                <a:solidFill>
                  <a:srgbClr val="292929"/>
                </a:solidFill>
                <a:latin typeface="Content"/>
                <a:ea typeface="Content"/>
                <a:cs typeface="Content"/>
                <a:sym typeface="Content"/>
              </a:rPr>
              <a:t>m: language model is a probability distribution over sentences</a:t>
            </a:r>
            <a:endParaRPr b="0" i="0" sz="1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p69"/>
          <p:cNvPicPr preferRelativeResize="0"/>
          <p:nvPr/>
        </p:nvPicPr>
        <p:blipFill rotWithShape="1">
          <a:blip r:embed="rId3">
            <a:alphaModFix/>
          </a:blip>
          <a:srcRect b="0" l="0" r="0" t="0"/>
          <a:stretch/>
        </p:blipFill>
        <p:spPr>
          <a:xfrm>
            <a:off x="468180" y="955800"/>
            <a:ext cx="4010310" cy="1048410"/>
          </a:xfrm>
          <a:prstGeom prst="rect">
            <a:avLst/>
          </a:prstGeom>
          <a:noFill/>
          <a:ln>
            <a:noFill/>
          </a:ln>
        </p:spPr>
      </p:pic>
      <p:sp>
        <p:nvSpPr>
          <p:cNvPr id="491" name="Google Shape;491;p69"/>
          <p:cNvSpPr txBox="1"/>
          <p:nvPr>
            <p:ph idx="4294967295" type="title"/>
          </p:nvPr>
        </p:nvSpPr>
        <p:spPr>
          <a:xfrm>
            <a:off x="431814" y="6939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Perplexity</a:t>
            </a:r>
            <a:endParaRPr b="0" sz="3300" strike="noStrike">
              <a:solidFill>
                <a:srgbClr val="000000"/>
              </a:solidFill>
              <a:latin typeface="Calibri"/>
              <a:ea typeface="Calibri"/>
              <a:cs typeface="Calibri"/>
              <a:sym typeface="Calibri"/>
            </a:endParaRPr>
          </a:p>
        </p:txBody>
      </p:sp>
      <p:sp>
        <p:nvSpPr>
          <p:cNvPr id="492" name="Google Shape;492;p69"/>
          <p:cNvSpPr txBox="1"/>
          <p:nvPr>
            <p:ph idx="4294967295" type="body"/>
          </p:nvPr>
        </p:nvSpPr>
        <p:spPr>
          <a:xfrm>
            <a:off x="277020" y="2062559"/>
            <a:ext cx="8862600" cy="3107400"/>
          </a:xfrm>
          <a:prstGeom prst="rect">
            <a:avLst/>
          </a:prstGeom>
          <a:noFill/>
          <a:ln>
            <a:noFill/>
          </a:ln>
        </p:spPr>
        <p:txBody>
          <a:bodyPr anchorCtr="0" anchor="t" bIns="34275" lIns="68575" spcFirstLastPara="1" rIns="68575" wrap="square" tIns="34275">
            <a:normAutofit/>
          </a:bodyPr>
          <a:lstStyle/>
          <a:p>
            <a:pPr indent="-171450" lvl="0" marL="177800" marR="0" rtl="0" algn="l">
              <a:lnSpc>
                <a:spcPct val="90000"/>
              </a:lnSpc>
              <a:spcBef>
                <a:spcPts val="800"/>
              </a:spcBef>
              <a:spcAft>
                <a:spcPts val="0"/>
              </a:spcAft>
              <a:buClr>
                <a:srgbClr val="202122"/>
              </a:buClr>
              <a:buSzPts val="2100"/>
              <a:buFont typeface="Arial"/>
              <a:buChar char="•"/>
            </a:pPr>
            <a:r>
              <a:rPr b="0" i="0" lang="en" sz="2100" u="none" cap="none" strike="noStrike">
                <a:solidFill>
                  <a:srgbClr val="202122"/>
                </a:solidFill>
                <a:latin typeface="Calibri"/>
                <a:ea typeface="Calibri"/>
                <a:cs typeface="Calibri"/>
                <a:sym typeface="Calibri"/>
              </a:rPr>
              <a:t>Ĥ</a:t>
            </a:r>
            <a:r>
              <a:rPr b="0" i="0" lang="en" sz="2100" u="none" cap="none" strike="noStrike">
                <a:solidFill>
                  <a:srgbClr val="000000"/>
                </a:solidFill>
                <a:latin typeface="Calibri"/>
                <a:ea typeface="Calibri"/>
                <a:cs typeface="Calibri"/>
                <a:sym typeface="Calibri"/>
              </a:rPr>
              <a:t> = H</a:t>
            </a:r>
            <a:r>
              <a:rPr b="0" baseline="-25000" i="0" lang="en" sz="2100" u="none" cap="none" strike="noStrike">
                <a:solidFill>
                  <a:srgbClr val="000000"/>
                </a:solidFill>
                <a:latin typeface="Calibri"/>
                <a:ea typeface="Calibri"/>
                <a:cs typeface="Calibri"/>
                <a:sym typeface="Calibri"/>
              </a:rPr>
              <a:t>total</a:t>
            </a:r>
            <a:r>
              <a:rPr b="0" i="0" lang="en" sz="2100" u="none" cap="none" strike="noStrike">
                <a:solidFill>
                  <a:srgbClr val="000000"/>
                </a:solidFill>
                <a:latin typeface="Calibri"/>
                <a:ea typeface="Calibri"/>
                <a:cs typeface="Calibri"/>
                <a:sym typeface="Calibri"/>
              </a:rPr>
              <a:t> / N = Average surprise </a:t>
            </a:r>
            <a:r>
              <a:rPr b="0" i="1" lang="en" sz="1800" u="none" cap="none" strike="noStrike">
                <a:solidFill>
                  <a:srgbClr val="7030A0"/>
                </a:solidFill>
                <a:latin typeface="Calibri"/>
                <a:ea typeface="Calibri"/>
                <a:cs typeface="Calibri"/>
                <a:sym typeface="Calibri"/>
              </a:rPr>
              <a:t>(number of choices)</a:t>
            </a:r>
            <a:r>
              <a:rPr b="0" i="0" lang="en" sz="2100" u="none" cap="none" strike="noStrike">
                <a:solidFill>
                  <a:srgbClr val="000000"/>
                </a:solidFill>
                <a:latin typeface="Calibri"/>
                <a:ea typeface="Calibri"/>
                <a:cs typeface="Calibri"/>
                <a:sym typeface="Calibri"/>
              </a:rPr>
              <a:t> per word</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1100"/>
              <a:buFont typeface="Arial"/>
              <a:buNone/>
            </a:pPr>
            <a:r>
              <a:t/>
            </a:r>
            <a:endParaRPr b="0" i="0" sz="1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70C0"/>
              </a:buClr>
              <a:buSzPts val="2100"/>
              <a:buFont typeface="Arial"/>
              <a:buChar char="•"/>
            </a:pPr>
            <a:r>
              <a:rPr b="1" i="0" lang="en" sz="2100" u="none" cap="none" strike="noStrike">
                <a:solidFill>
                  <a:srgbClr val="0070C0"/>
                </a:solidFill>
                <a:latin typeface="Calibri"/>
                <a:ea typeface="Calibri"/>
                <a:cs typeface="Calibri"/>
                <a:sym typeface="Calibri"/>
              </a:rPr>
              <a:t>Perplexity: PP(w)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1400"/>
              <a:buFont typeface="Arial"/>
              <a:buNone/>
            </a:pPr>
            <a:r>
              <a:t/>
            </a:r>
            <a:endParaRPr b="0" i="0" sz="1400" u="none" cap="none" strike="noStrike">
              <a:solidFill>
                <a:srgbClr val="000000"/>
              </a:solidFill>
              <a:latin typeface="Calibri"/>
              <a:ea typeface="Calibri"/>
              <a:cs typeface="Calibri"/>
              <a:sym typeface="Calibri"/>
            </a:endParaRPr>
          </a:p>
          <a:p>
            <a:pPr indent="-361950" lvl="1" marL="9144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Number of possible next words that can follow any word</a:t>
            </a:r>
            <a:endParaRPr b="0" i="0" sz="1100" u="none" cap="none" strike="noStrike">
              <a:solidFill>
                <a:srgbClr val="000000"/>
              </a:solidFill>
              <a:latin typeface="Calibri"/>
              <a:ea typeface="Calibri"/>
              <a:cs typeface="Calibri"/>
              <a:sym typeface="Calibri"/>
            </a:endParaRPr>
          </a:p>
          <a:p>
            <a:pPr indent="-361950" lvl="1" marL="9144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Lower perplexity better the language model i.e, model is making relatively confident predictions </a:t>
            </a:r>
            <a:endParaRPr sz="2100">
              <a:solidFill>
                <a:srgbClr val="000000"/>
              </a:solidFill>
              <a:latin typeface="Calibri"/>
              <a:ea typeface="Calibri"/>
              <a:cs typeface="Calibri"/>
              <a:sym typeface="Calibri"/>
            </a:endParaRPr>
          </a:p>
          <a:p>
            <a:pPr indent="-361950" lvl="1" marL="914400" marR="0" rtl="0" algn="l">
              <a:lnSpc>
                <a:spcPct val="90000"/>
              </a:lnSpc>
              <a:spcBef>
                <a:spcPts val="1200"/>
              </a:spcBef>
              <a:spcAft>
                <a:spcPts val="1200"/>
              </a:spcAft>
              <a:buClr>
                <a:srgbClr val="000000"/>
              </a:buClr>
              <a:buSzPts val="2100"/>
              <a:buFont typeface="Arial"/>
              <a:buChar char="○"/>
            </a:pPr>
            <a:r>
              <a:rPr lang="en" sz="1700">
                <a:solidFill>
                  <a:srgbClr val="0070C0"/>
                </a:solidFill>
                <a:latin typeface="Calibri"/>
                <a:ea typeface="Calibri"/>
                <a:cs typeface="Calibri"/>
                <a:sym typeface="Calibri"/>
              </a:rPr>
              <a:t>P</a:t>
            </a:r>
            <a:r>
              <a:rPr b="0" i="0" lang="en" sz="1700" u="none" cap="none" strike="noStrike">
                <a:solidFill>
                  <a:srgbClr val="0070C0"/>
                </a:solidFill>
                <a:latin typeface="Calibri"/>
                <a:ea typeface="Calibri"/>
                <a:cs typeface="Calibri"/>
                <a:sym typeface="Calibri"/>
              </a:rPr>
              <a:t>redictability preference by LM over randomness</a:t>
            </a:r>
            <a:endParaRPr b="0" i="0" sz="1700" u="none" cap="none" strike="noStrike">
              <a:solidFill>
                <a:srgbClr val="000000"/>
              </a:solidFill>
              <a:latin typeface="Calibri"/>
              <a:ea typeface="Calibri"/>
              <a:cs typeface="Calibri"/>
              <a:sym typeface="Calibri"/>
            </a:endParaRPr>
          </a:p>
        </p:txBody>
      </p:sp>
      <p:sp>
        <p:nvSpPr>
          <p:cNvPr id="493" name="Google Shape;493;p69"/>
          <p:cNvSpPr/>
          <p:nvPr/>
        </p:nvSpPr>
        <p:spPr>
          <a:xfrm>
            <a:off x="4363750" y="698750"/>
            <a:ext cx="4662300" cy="364500"/>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292929"/>
              </a:buClr>
              <a:buSzPts val="1400"/>
              <a:buFont typeface="Content"/>
              <a:buNone/>
            </a:pPr>
            <a:r>
              <a:rPr b="0" i="0" lang="en" sz="1400" u="none" cap="none" strike="noStrike">
                <a:solidFill>
                  <a:srgbClr val="292929"/>
                </a:solidFill>
                <a:latin typeface="Content"/>
                <a:ea typeface="Content"/>
                <a:cs typeface="Content"/>
                <a:sym typeface="Content"/>
              </a:rPr>
              <a:t>m: language model is a probability distribution over sentences</a:t>
            </a:r>
            <a:endParaRPr b="0" i="0" sz="1400" u="none" cap="none" strike="noStrike">
              <a:latin typeface="Arial"/>
              <a:ea typeface="Arial"/>
              <a:cs typeface="Arial"/>
              <a:sym typeface="Arial"/>
            </a:endParaRPr>
          </a:p>
        </p:txBody>
      </p:sp>
      <p:pic>
        <p:nvPicPr>
          <p:cNvPr id="494" name="Google Shape;494;p69"/>
          <p:cNvPicPr preferRelativeResize="0"/>
          <p:nvPr/>
        </p:nvPicPr>
        <p:blipFill>
          <a:blip r:embed="rId4">
            <a:alphaModFix/>
          </a:blip>
          <a:stretch>
            <a:fillRect/>
          </a:stretch>
        </p:blipFill>
        <p:spPr>
          <a:xfrm>
            <a:off x="2460425" y="2523737"/>
            <a:ext cx="4495800" cy="68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0"/>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Open Questions?</a:t>
            </a:r>
            <a:endParaRPr b="0" sz="3300" strike="noStrike">
              <a:solidFill>
                <a:srgbClr val="000000"/>
              </a:solidFill>
              <a:latin typeface="Calibri"/>
              <a:ea typeface="Calibri"/>
              <a:cs typeface="Calibri"/>
              <a:sym typeface="Calibri"/>
            </a:endParaRPr>
          </a:p>
        </p:txBody>
      </p:sp>
      <p:sp>
        <p:nvSpPr>
          <p:cNvPr id="500" name="Google Shape;500;p70"/>
          <p:cNvSpPr txBox="1"/>
          <p:nvPr>
            <p:ph idx="4294967295" type="body"/>
          </p:nvPr>
        </p:nvSpPr>
        <p:spPr>
          <a:xfrm>
            <a:off x="540810" y="1267920"/>
            <a:ext cx="6328500" cy="3364500"/>
          </a:xfrm>
          <a:prstGeom prst="rect">
            <a:avLst/>
          </a:prstGeom>
          <a:noFill/>
          <a:ln>
            <a:noFill/>
          </a:ln>
        </p:spPr>
        <p:txBody>
          <a:bodyPr anchorCtr="0" anchor="t" bIns="34275" lIns="68575" spcFirstLastPara="1" rIns="68575" wrap="square" tIns="34275">
            <a:normAutofit fontScale="92500" lnSpcReduction="20000"/>
          </a:bodyPr>
          <a:lstStyle/>
          <a:p>
            <a:pPr indent="-186849" lvl="0" marL="177800" marR="0" rtl="0" algn="l">
              <a:lnSpc>
                <a:spcPct val="90000"/>
              </a:lnSpc>
              <a:spcBef>
                <a:spcPts val="0"/>
              </a:spcBef>
              <a:spcAft>
                <a:spcPts val="0"/>
              </a:spcAft>
              <a:buClr>
                <a:srgbClr val="FF0000"/>
              </a:buClr>
              <a:buSzPct val="100000"/>
              <a:buFont typeface="Arial"/>
              <a:buChar char="•"/>
            </a:pPr>
            <a:r>
              <a:rPr b="0" i="0" lang="en" sz="2100" u="none" cap="none" strike="noStrike">
                <a:solidFill>
                  <a:srgbClr val="FF0000"/>
                </a:solidFill>
                <a:latin typeface="Calibri"/>
                <a:ea typeface="Calibri"/>
                <a:cs typeface="Calibri"/>
                <a:sym typeface="Calibri"/>
              </a:rPr>
              <a:t>How are we able to predict each other?</a:t>
            </a:r>
            <a:endParaRPr b="0" i="0" sz="2100" u="none" cap="none" strike="noStrike">
              <a:solidFill>
                <a:srgbClr val="000000"/>
              </a:solidFill>
              <a:latin typeface="Calibri"/>
              <a:ea typeface="Calibri"/>
              <a:cs typeface="Calibri"/>
              <a:sym typeface="Calibri"/>
            </a:endParaRPr>
          </a:p>
          <a:p>
            <a:pPr indent="-194628" lvl="1" marL="520700" marR="0" rtl="0" algn="l">
              <a:lnSpc>
                <a:spcPct val="90000"/>
              </a:lnSpc>
              <a:spcBef>
                <a:spcPts val="400"/>
              </a:spcBef>
              <a:spcAft>
                <a:spcPts val="0"/>
              </a:spcAft>
              <a:buClr>
                <a:srgbClr val="000000"/>
              </a:buClr>
              <a:buSzPct val="100000"/>
              <a:buFont typeface="Arial"/>
              <a:buChar char="•"/>
            </a:pPr>
            <a:r>
              <a:rPr b="0" i="0" lang="en" sz="1800" u="none" cap="none" strike="noStrike">
                <a:solidFill>
                  <a:srgbClr val="000000"/>
                </a:solidFill>
                <a:latin typeface="Calibri"/>
                <a:ea typeface="Calibri"/>
                <a:cs typeface="Calibri"/>
                <a:sym typeface="Calibri"/>
              </a:rPr>
              <a:t>As a result of </a:t>
            </a:r>
            <a:r>
              <a:rPr b="0" i="1" lang="en" sz="1800" u="none" cap="none" strike="noStrike">
                <a:solidFill>
                  <a:srgbClr val="0070C0"/>
                </a:solidFill>
                <a:latin typeface="Calibri"/>
                <a:ea typeface="Calibri"/>
                <a:cs typeface="Calibri"/>
                <a:sym typeface="Calibri"/>
              </a:rPr>
              <a:t>structure of language</a:t>
            </a:r>
            <a:r>
              <a:rPr b="0" i="0" lang="en" sz="1800" u="none" cap="none" strike="noStrike">
                <a:solidFill>
                  <a:srgbClr val="000000"/>
                </a:solidFill>
                <a:latin typeface="Calibri"/>
                <a:ea typeface="Calibri"/>
                <a:cs typeface="Calibri"/>
                <a:sym typeface="Calibri"/>
              </a:rPr>
              <a:t>, the </a:t>
            </a:r>
            <a:r>
              <a:rPr b="0" i="1" lang="en" sz="1800" u="none" cap="none" strike="noStrike">
                <a:solidFill>
                  <a:srgbClr val="0070C0"/>
                </a:solidFill>
                <a:latin typeface="Calibri"/>
                <a:ea typeface="Calibri"/>
                <a:cs typeface="Calibri"/>
                <a:sym typeface="Calibri"/>
              </a:rPr>
              <a:t>freedom of language</a:t>
            </a:r>
            <a:r>
              <a:rPr b="0" i="0" lang="en" sz="1800" u="none" cap="none" strike="noStrike">
                <a:solidFill>
                  <a:srgbClr val="000000"/>
                </a:solidFill>
                <a:latin typeface="Calibri"/>
                <a:ea typeface="Calibri"/>
                <a:cs typeface="Calibri"/>
                <a:sym typeface="Calibri"/>
              </a:rPr>
              <a:t> </a:t>
            </a:r>
            <a:r>
              <a:rPr b="1" i="0" lang="en" sz="1800" u="none" cap="none" strike="noStrike">
                <a:solidFill>
                  <a:srgbClr val="000000"/>
                </a:solidFill>
                <a:latin typeface="Calibri"/>
                <a:ea typeface="Calibri"/>
                <a:cs typeface="Calibri"/>
                <a:sym typeface="Calibri"/>
              </a:rPr>
              <a:t>decreases</a:t>
            </a:r>
            <a:r>
              <a:rPr b="0" i="0" lang="en" sz="1800" u="none" cap="none" strike="noStrike">
                <a:solidFill>
                  <a:srgbClr val="000000"/>
                </a:solidFill>
                <a:latin typeface="Calibri"/>
                <a:ea typeface="Calibri"/>
                <a:cs typeface="Calibri"/>
                <a:sym typeface="Calibri"/>
              </a:rPr>
              <a:t> as we look at </a:t>
            </a:r>
            <a:r>
              <a:rPr b="0" i="1" lang="en" sz="1800" u="none" cap="none" strike="noStrike">
                <a:solidFill>
                  <a:srgbClr val="0070C0"/>
                </a:solidFill>
                <a:latin typeface="Calibri"/>
                <a:ea typeface="Calibri"/>
                <a:cs typeface="Calibri"/>
                <a:sym typeface="Calibri"/>
              </a:rPr>
              <a:t>longer and longer strings</a:t>
            </a:r>
            <a:r>
              <a:rPr b="0" i="0" lang="en" sz="1800" u="none" cap="none" strike="noStrike">
                <a:solidFill>
                  <a:srgbClr val="000000"/>
                </a:solidFill>
                <a:latin typeface="Calibri"/>
                <a:ea typeface="Calibri"/>
                <a:cs typeface="Calibri"/>
                <a:sym typeface="Calibri"/>
              </a:rPr>
              <a:t> of words!</a:t>
            </a:r>
            <a:endParaRPr b="0" i="0" sz="1800" u="none" cap="none" strike="noStrike">
              <a:solidFill>
                <a:srgbClr val="000000"/>
              </a:solidFill>
              <a:latin typeface="Calibri"/>
              <a:ea typeface="Calibri"/>
              <a:cs typeface="Calibri"/>
              <a:sym typeface="Calibri"/>
            </a:endParaRPr>
          </a:p>
          <a:p>
            <a:pPr indent="-194628" lvl="1" marL="520700" marR="0" rtl="0" algn="l">
              <a:lnSpc>
                <a:spcPct val="90000"/>
              </a:lnSpc>
              <a:spcBef>
                <a:spcPts val="400"/>
              </a:spcBef>
              <a:spcAft>
                <a:spcPts val="0"/>
              </a:spcAft>
              <a:buClr>
                <a:srgbClr val="000000"/>
              </a:buClr>
              <a:buSzPct val="100000"/>
              <a:buFont typeface="Arial"/>
              <a:buChar char="•"/>
            </a:pPr>
            <a:r>
              <a:rPr b="1" i="0" lang="en" sz="1800" u="none" cap="none" strike="noStrike">
                <a:solidFill>
                  <a:srgbClr val="000000"/>
                </a:solidFill>
                <a:latin typeface="Calibri"/>
                <a:ea typeface="Calibri"/>
                <a:cs typeface="Calibri"/>
                <a:sym typeface="Calibri"/>
              </a:rPr>
              <a:t>Entropy</a:t>
            </a:r>
            <a:r>
              <a:rPr b="0" i="0" lang="en" sz="1800" u="none" cap="none" strike="noStrike">
                <a:solidFill>
                  <a:srgbClr val="000000"/>
                </a:solidFill>
                <a:latin typeface="Calibri"/>
                <a:ea typeface="Calibri"/>
                <a:cs typeface="Calibri"/>
                <a:sym typeface="Calibri"/>
              </a:rPr>
              <a:t> </a:t>
            </a:r>
            <a:r>
              <a:rPr b="0" i="0" lang="en" sz="1800" u="none" cap="none" strike="noStrike">
                <a:solidFill>
                  <a:srgbClr val="FF0000"/>
                </a:solidFill>
                <a:latin typeface="Calibri"/>
                <a:ea typeface="Calibri"/>
                <a:cs typeface="Calibri"/>
                <a:sym typeface="Calibri"/>
              </a:rPr>
              <a:t>decreases</a:t>
            </a:r>
            <a:r>
              <a:rPr b="0" i="0" lang="en" sz="1800" u="none" cap="none" strike="noStrike">
                <a:solidFill>
                  <a:srgbClr val="000000"/>
                </a:solidFill>
                <a:latin typeface="Calibri"/>
                <a:ea typeface="Calibri"/>
                <a:cs typeface="Calibri"/>
                <a:sym typeface="Calibri"/>
              </a:rPr>
              <a:t> as order of Shannon’s </a:t>
            </a:r>
            <a:r>
              <a:rPr b="0" i="1" lang="en" sz="1800" u="none" cap="none" strike="noStrike">
                <a:solidFill>
                  <a:srgbClr val="0070C0"/>
                </a:solidFill>
                <a:latin typeface="Calibri"/>
                <a:ea typeface="Calibri"/>
                <a:cs typeface="Calibri"/>
                <a:sym typeface="Calibri"/>
              </a:rPr>
              <a:t>approximation increases</a:t>
            </a:r>
            <a:r>
              <a:rPr b="0" i="0" lang="en" sz="1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ct val="100000"/>
              <a:buFont typeface="Arial"/>
              <a:buNone/>
            </a:pPr>
            <a:r>
              <a:t/>
            </a:r>
            <a:endParaRPr b="0" i="0" sz="2100" u="none" cap="none" strike="noStrike">
              <a:solidFill>
                <a:srgbClr val="000000"/>
              </a:solidFill>
              <a:latin typeface="Calibri"/>
              <a:ea typeface="Calibri"/>
              <a:cs typeface="Calibri"/>
              <a:sym typeface="Calibri"/>
            </a:endParaRPr>
          </a:p>
          <a:p>
            <a:pPr indent="-186849" lvl="0" marL="177800" marR="0" rtl="0" algn="l">
              <a:lnSpc>
                <a:spcPct val="90000"/>
              </a:lnSpc>
              <a:spcBef>
                <a:spcPts val="800"/>
              </a:spcBef>
              <a:spcAft>
                <a:spcPts val="0"/>
              </a:spcAft>
              <a:buClr>
                <a:srgbClr val="FF0000"/>
              </a:buClr>
              <a:buSzPct val="100000"/>
              <a:buFont typeface="Arial"/>
              <a:buChar char="•"/>
            </a:pPr>
            <a:r>
              <a:rPr b="0" i="0" lang="en" sz="2100" u="none" cap="none" strike="noStrike">
                <a:solidFill>
                  <a:srgbClr val="FF0000"/>
                </a:solidFill>
                <a:latin typeface="Calibri"/>
                <a:ea typeface="Calibri"/>
                <a:cs typeface="Calibri"/>
                <a:sym typeface="Calibri"/>
              </a:rPr>
              <a:t>How structures are imposed on our speech patterns?</a:t>
            </a:r>
            <a:endParaRPr b="0" i="0" sz="2100" u="none" cap="none" strike="noStrike">
              <a:solidFill>
                <a:srgbClr val="000000"/>
              </a:solidFill>
              <a:latin typeface="Calibri"/>
              <a:ea typeface="Calibri"/>
              <a:cs typeface="Calibri"/>
              <a:sym typeface="Calibri"/>
            </a:endParaRPr>
          </a:p>
          <a:p>
            <a:pPr indent="-194628" lvl="1" marL="520700" marR="0" rtl="0" algn="l">
              <a:lnSpc>
                <a:spcPct val="90000"/>
              </a:lnSpc>
              <a:spcBef>
                <a:spcPts val="400"/>
              </a:spcBef>
              <a:spcAft>
                <a:spcPts val="0"/>
              </a:spcAft>
              <a:buClr>
                <a:srgbClr val="7030A0"/>
              </a:buClr>
              <a:buSzPct val="100000"/>
              <a:buFont typeface="Arial"/>
              <a:buChar char="•"/>
            </a:pPr>
            <a:r>
              <a:rPr b="0" i="1" lang="en" sz="1800" u="none" cap="none" strike="noStrike">
                <a:solidFill>
                  <a:srgbClr val="7030A0"/>
                </a:solidFill>
                <a:latin typeface="Calibri"/>
                <a:ea typeface="Calibri"/>
                <a:cs typeface="Calibri"/>
                <a:sym typeface="Calibri"/>
              </a:rPr>
              <a:t>Statistical properties </a:t>
            </a:r>
            <a:r>
              <a:rPr b="0" i="0" lang="en" sz="1800" u="none" cap="none" strike="noStrike">
                <a:solidFill>
                  <a:srgbClr val="000000"/>
                </a:solidFill>
                <a:latin typeface="Calibri"/>
                <a:ea typeface="Calibri"/>
                <a:cs typeface="Calibri"/>
                <a:sym typeface="Calibri"/>
              </a:rPr>
              <a:t>of language</a:t>
            </a:r>
            <a:endParaRPr b="0" i="0" sz="1800" u="none" cap="none" strike="noStrike">
              <a:solidFill>
                <a:srgbClr val="000000"/>
              </a:solidFill>
              <a:latin typeface="Calibri"/>
              <a:ea typeface="Calibri"/>
              <a:cs typeface="Calibri"/>
              <a:sym typeface="Calibri"/>
            </a:endParaRPr>
          </a:p>
          <a:p>
            <a:pPr indent="-194628" lvl="1" marL="520700" marR="0" rtl="0" algn="l">
              <a:lnSpc>
                <a:spcPct val="90000"/>
              </a:lnSpc>
              <a:spcBef>
                <a:spcPts val="400"/>
              </a:spcBef>
              <a:spcAft>
                <a:spcPts val="0"/>
              </a:spcAft>
              <a:buClr>
                <a:srgbClr val="000000"/>
              </a:buClr>
              <a:buSzPct val="100000"/>
              <a:buFont typeface="Arial"/>
              <a:buChar char="•"/>
            </a:pPr>
            <a:r>
              <a:rPr b="0" i="0" lang="en" sz="1800" u="none" cap="none" strike="noStrike">
                <a:solidFill>
                  <a:srgbClr val="000000"/>
                </a:solidFill>
                <a:latin typeface="Calibri"/>
                <a:ea typeface="Calibri"/>
                <a:cs typeface="Calibri"/>
                <a:sym typeface="Calibri"/>
              </a:rPr>
              <a:t>We narrow down our </a:t>
            </a:r>
            <a:r>
              <a:rPr b="0" i="1" lang="en" sz="1800" u="none" cap="none" strike="noStrike">
                <a:solidFill>
                  <a:srgbClr val="7030A0"/>
                </a:solidFill>
                <a:latin typeface="Calibri"/>
                <a:ea typeface="Calibri"/>
                <a:cs typeface="Calibri"/>
                <a:sym typeface="Calibri"/>
              </a:rPr>
              <a:t>repertoire</a:t>
            </a:r>
            <a:r>
              <a:rPr b="0" i="0" lang="en" sz="1800" u="none" cap="none" strike="noStrike">
                <a:solidFill>
                  <a:srgbClr val="000000"/>
                </a:solidFill>
                <a:latin typeface="Calibri"/>
                <a:ea typeface="Calibri"/>
                <a:cs typeface="Calibri"/>
                <a:sym typeface="Calibri"/>
              </a:rPr>
              <a:t> to fit what we are exposed! </a:t>
            </a:r>
            <a:br>
              <a:rPr b="0" i="0" lang="en" sz="1800" u="none" cap="none" strike="noStrike"/>
            </a:br>
            <a:r>
              <a:rPr b="0" i="0" lang="en" sz="1800" u="none" cap="none" strike="noStrike">
                <a:solidFill>
                  <a:srgbClr val="000000"/>
                </a:solidFill>
                <a:latin typeface="Calibri"/>
                <a:ea typeface="Calibri"/>
                <a:cs typeface="Calibri"/>
                <a:sym typeface="Calibri"/>
              </a:rPr>
              <a:t>(Zipf’s law)</a:t>
            </a:r>
            <a:endParaRPr b="0" i="0" sz="18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ct val="100000"/>
              <a:buFont typeface="Arial"/>
              <a:buNone/>
            </a:pPr>
            <a:r>
              <a:t/>
            </a:r>
            <a:endParaRPr b="0" i="0" sz="2100" u="none" cap="none" strike="noStrike">
              <a:solidFill>
                <a:srgbClr val="000000"/>
              </a:solidFill>
              <a:latin typeface="Calibri"/>
              <a:ea typeface="Calibri"/>
              <a:cs typeface="Calibri"/>
              <a:sym typeface="Calibri"/>
            </a:endParaRPr>
          </a:p>
          <a:p>
            <a:pPr indent="-186849" lvl="0" marL="177800" marR="0" rtl="0" algn="l">
              <a:lnSpc>
                <a:spcPct val="90000"/>
              </a:lnSpc>
              <a:spcBef>
                <a:spcPts val="800"/>
              </a:spcBef>
              <a:spcAft>
                <a:spcPts val="1200"/>
              </a:spcAft>
              <a:buClr>
                <a:srgbClr val="000000"/>
              </a:buClr>
              <a:buSzPct val="100000"/>
              <a:buFont typeface="Arial"/>
              <a:buChar char="•"/>
            </a:pPr>
            <a:r>
              <a:rPr b="0" i="0" lang="en" sz="2100" u="none" cap="none" strike="noStrike">
                <a:solidFill>
                  <a:srgbClr val="000000"/>
                </a:solidFill>
                <a:latin typeface="Calibri"/>
                <a:ea typeface="Calibri"/>
                <a:cs typeface="Calibri"/>
                <a:sym typeface="Calibri"/>
              </a:rPr>
              <a:t>Common in human and non-human communication systems!</a:t>
            </a:r>
            <a:endParaRPr b="0" i="0" sz="2100" u="none" cap="none" strike="noStrike">
              <a:solidFill>
                <a:srgbClr val="000000"/>
              </a:solidFill>
              <a:latin typeface="Calibri"/>
              <a:ea typeface="Calibri"/>
              <a:cs typeface="Calibri"/>
              <a:sym typeface="Calibri"/>
            </a:endParaRPr>
          </a:p>
        </p:txBody>
      </p:sp>
      <p:pic>
        <p:nvPicPr>
          <p:cNvPr id="501" name="Google Shape;501;p70"/>
          <p:cNvPicPr preferRelativeResize="0"/>
          <p:nvPr/>
        </p:nvPicPr>
        <p:blipFill rotWithShape="1">
          <a:blip r:embed="rId3">
            <a:alphaModFix/>
          </a:blip>
          <a:srcRect b="0" l="0" r="0" t="0"/>
          <a:stretch/>
        </p:blipFill>
        <p:spPr>
          <a:xfrm>
            <a:off x="6982200" y="16740"/>
            <a:ext cx="1976130" cy="2492371"/>
          </a:xfrm>
          <a:prstGeom prst="rect">
            <a:avLst/>
          </a:prstGeom>
          <a:noFill/>
          <a:ln>
            <a:noFill/>
          </a:ln>
        </p:spPr>
      </p:pic>
      <p:pic>
        <p:nvPicPr>
          <p:cNvPr id="502" name="Google Shape;502;p70"/>
          <p:cNvPicPr preferRelativeResize="0"/>
          <p:nvPr/>
        </p:nvPicPr>
        <p:blipFill rotWithShape="1">
          <a:blip r:embed="rId4">
            <a:alphaModFix/>
          </a:blip>
          <a:srcRect b="0" l="0" r="0" t="0"/>
          <a:stretch/>
        </p:blipFill>
        <p:spPr>
          <a:xfrm>
            <a:off x="6869340" y="2650320"/>
            <a:ext cx="2256660" cy="19745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Predicting sequences</a:t>
            </a:r>
            <a:endParaRPr/>
          </a:p>
        </p:txBody>
      </p:sp>
      <p:sp>
        <p:nvSpPr>
          <p:cNvPr id="508" name="Google Shape;508;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He put the coffee …</a:t>
            </a:r>
            <a:br>
              <a:rPr lang="en"/>
            </a:br>
            <a:endParaRPr/>
          </a:p>
          <a:p>
            <a:pPr indent="-342900" lvl="0" marL="457200" rtl="0" algn="l">
              <a:spcBef>
                <a:spcPts val="0"/>
              </a:spcBef>
              <a:spcAft>
                <a:spcPts val="0"/>
              </a:spcAft>
              <a:buSzPts val="1800"/>
              <a:buChar char="-"/>
            </a:pPr>
            <a:r>
              <a:rPr lang="en"/>
              <a:t>If we would like to predict upcoming words in a sequence, we could assign a probability to each possible next word</a:t>
            </a:r>
            <a:br>
              <a:rPr lang="en"/>
            </a:br>
            <a:endParaRPr/>
          </a:p>
          <a:p>
            <a:pPr indent="-342900" lvl="0" marL="457200" rtl="0" algn="l">
              <a:spcBef>
                <a:spcPts val="0"/>
              </a:spcBef>
              <a:spcAft>
                <a:spcPts val="0"/>
              </a:spcAft>
              <a:buSzPts val="1800"/>
              <a:buChar char="-"/>
            </a:pPr>
            <a:r>
              <a:rPr i="1" lang="en"/>
              <a:t>I will be back soonish</a:t>
            </a:r>
            <a:r>
              <a:rPr lang="en"/>
              <a:t> is likelier than </a:t>
            </a:r>
            <a:r>
              <a:rPr i="1" lang="en"/>
              <a:t>I will be bassoon dish</a:t>
            </a:r>
            <a:r>
              <a:rPr lang="en"/>
              <a:t> (ASR)</a:t>
            </a:r>
            <a:br>
              <a:rPr lang="en"/>
            </a:br>
            <a:endParaRPr/>
          </a:p>
          <a:p>
            <a:pPr indent="-342900" lvl="0" marL="457200" rtl="0" algn="l">
              <a:spcBef>
                <a:spcPts val="0"/>
              </a:spcBef>
              <a:spcAft>
                <a:spcPts val="0"/>
              </a:spcAft>
              <a:buSzPts val="1800"/>
              <a:buChar char="-"/>
            </a:pPr>
            <a:r>
              <a:rPr lang="en"/>
              <a:t>Models that assign probabilities to sequences of words are called language models (LMs)</a:t>
            </a:r>
            <a:endParaRPr/>
          </a:p>
        </p:txBody>
      </p:sp>
      <p:sp>
        <p:nvSpPr>
          <p:cNvPr id="509" name="Google Shape;509;p71"/>
          <p:cNvSpPr txBox="1"/>
          <p:nvPr/>
        </p:nvSpPr>
        <p:spPr>
          <a:xfrm>
            <a:off x="4281300" y="4111200"/>
            <a:ext cx="486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aseline="-25000" sz="3000">
              <a:solidFill>
                <a:schemeClr val="dk1"/>
              </a:solidFill>
            </a:endParaRPr>
          </a:p>
        </p:txBody>
      </p:sp>
      <p:sp>
        <p:nvSpPr>
          <p:cNvPr id="510" name="Google Shape;510;p71"/>
          <p:cNvSpPr txBox="1"/>
          <p:nvPr/>
        </p:nvSpPr>
        <p:spPr>
          <a:xfrm>
            <a:off x="4103575" y="4384625"/>
            <a:ext cx="4862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aseline="-25000" lang="en" sz="3000">
                <a:solidFill>
                  <a:schemeClr val="dk1"/>
                </a:solidFill>
              </a:rPr>
              <a:t>https://web.stanford.edu/~jurafsky/slp3/3.pdf</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Markov assumption</a:t>
            </a:r>
            <a:endParaRPr/>
          </a:p>
        </p:txBody>
      </p:sp>
      <p:sp>
        <p:nvSpPr>
          <p:cNvPr id="516" name="Google Shape;516;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most basic type of language model is the n-gram model</a:t>
            </a:r>
            <a:br>
              <a:rPr lang="en"/>
            </a:br>
            <a:endParaRPr/>
          </a:p>
          <a:p>
            <a:pPr indent="-342900" lvl="0" marL="457200" rtl="0" algn="l">
              <a:spcBef>
                <a:spcPts val="0"/>
              </a:spcBef>
              <a:spcAft>
                <a:spcPts val="0"/>
              </a:spcAft>
              <a:buSzPts val="1800"/>
              <a:buChar char="-"/>
            </a:pPr>
            <a:r>
              <a:rPr lang="en"/>
              <a:t>A sequence of N words (2-gram, 3-gram, 4-gram ..etc) is used to estimate the probability of the last word in the n-gram</a:t>
            </a:r>
            <a:br>
              <a:rPr lang="en"/>
            </a:br>
            <a:endParaRPr/>
          </a:p>
          <a:p>
            <a:pPr indent="-342900" lvl="0" marL="457200" rtl="0" algn="l">
              <a:spcBef>
                <a:spcPts val="0"/>
              </a:spcBef>
              <a:spcAft>
                <a:spcPts val="0"/>
              </a:spcAft>
              <a:buSzPts val="1800"/>
              <a:buChar char="-"/>
            </a:pPr>
            <a:r>
              <a:rPr b="1" lang="en">
                <a:solidFill>
                  <a:srgbClr val="0000FF"/>
                </a:solidFill>
              </a:rPr>
              <a:t>Markov assumption:</a:t>
            </a:r>
            <a:r>
              <a:rPr lang="en"/>
              <a:t> Probability of a word depends upon the (fairly recent, finite) previous words</a:t>
            </a:r>
            <a:br>
              <a:rPr lang="en"/>
            </a:br>
            <a:endParaRPr/>
          </a:p>
          <a:p>
            <a:pPr indent="-342900" lvl="0" marL="457200" rtl="0" algn="l">
              <a:spcBef>
                <a:spcPts val="0"/>
              </a:spcBef>
              <a:spcAft>
                <a:spcPts val="0"/>
              </a:spcAft>
              <a:buSzPts val="1800"/>
              <a:buChar char="-"/>
            </a:pPr>
            <a:r>
              <a:rPr lang="en"/>
              <a:t>N-grams directly model the probability of a sequence of observations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Unigram</a:t>
            </a:r>
            <a:endParaRPr/>
          </a:p>
        </p:txBody>
      </p:sp>
      <p:sp>
        <p:nvSpPr>
          <p:cNvPr id="522" name="Google Shape;522;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 He put the coffee on the table</a:t>
            </a:r>
            <a:br>
              <a:rPr lang="en"/>
            </a:br>
            <a:endParaRPr/>
          </a:p>
          <a:p>
            <a:pPr indent="-342900" lvl="0" marL="457200" rtl="0" algn="l">
              <a:spcBef>
                <a:spcPts val="0"/>
              </a:spcBef>
              <a:spcAft>
                <a:spcPts val="0"/>
              </a:spcAft>
              <a:buSzPts val="1800"/>
              <a:buChar char="-"/>
            </a:pPr>
            <a:r>
              <a:rPr lang="en"/>
              <a:t>P (S) = P(He) P(put) P(the) P(coffee) P(on) P(the) P(table)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Bigram Model</a:t>
            </a:r>
            <a:endParaRPr/>
          </a:p>
        </p:txBody>
      </p:sp>
      <p:sp>
        <p:nvSpPr>
          <p:cNvPr id="528" name="Google Shape;528;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 He put the coffee on the table</a:t>
            </a:r>
            <a:br>
              <a:rPr lang="en"/>
            </a:br>
            <a:endParaRPr/>
          </a:p>
          <a:p>
            <a:pPr indent="-342900" lvl="0" marL="457200" rtl="0" algn="l">
              <a:spcBef>
                <a:spcPts val="0"/>
              </a:spcBef>
              <a:spcAft>
                <a:spcPts val="0"/>
              </a:spcAft>
              <a:buSzPts val="1800"/>
              <a:buChar char="-"/>
            </a:pPr>
            <a:r>
              <a:rPr lang="en"/>
              <a:t>P (S) = P(put | He) P(the | put) P(coffee | the) P(on | coffee) P(the | on) P(table | the)</a:t>
            </a:r>
            <a:br>
              <a:rPr lang="en"/>
            </a:br>
            <a:endParaRPr/>
          </a:p>
          <a:p>
            <a:pPr indent="-342900" lvl="0" marL="457200" rtl="0" algn="l">
              <a:spcBef>
                <a:spcPts val="0"/>
              </a:spcBef>
              <a:spcAft>
                <a:spcPts val="0"/>
              </a:spcAft>
              <a:buSzPts val="1800"/>
              <a:buChar char="-"/>
            </a:pPr>
            <a:r>
              <a:rPr lang="en"/>
              <a:t>B</a:t>
            </a:r>
            <a:r>
              <a:rPr lang="en"/>
              <a:t>igram probability of a word w</a:t>
            </a:r>
            <a:r>
              <a:rPr baseline="-25000" lang="en"/>
              <a:t>n</a:t>
            </a:r>
            <a:r>
              <a:rPr lang="en"/>
              <a:t> given a previous word w</a:t>
            </a:r>
            <a:r>
              <a:rPr baseline="-25000" lang="en"/>
              <a:t>n−1</a:t>
            </a:r>
            <a:r>
              <a:rPr lang="en"/>
              <a:t> = Count of the bigram C(w</a:t>
            </a:r>
            <a:r>
              <a:rPr baseline="-25000" lang="en"/>
              <a:t>n−1</a:t>
            </a:r>
            <a:r>
              <a:rPr lang="en"/>
              <a:t>w</a:t>
            </a:r>
            <a:r>
              <a:rPr baseline="-25000" lang="en"/>
              <a:t>n</a:t>
            </a:r>
            <a:r>
              <a:rPr lang="en"/>
              <a:t>) and normalize by the sum of all the bigrams that share the same first word w</a:t>
            </a:r>
            <a:r>
              <a:rPr baseline="-25000" lang="en"/>
              <a:t>n−1</a:t>
            </a:r>
            <a:r>
              <a:rPr lang="en"/>
              <a:t> → Unigram count for word w</a:t>
            </a:r>
            <a:r>
              <a:rPr baseline="-25000" lang="en"/>
              <a:t>n−1</a:t>
            </a:r>
            <a:r>
              <a:rPr lang="en"/>
              <a:t> </a:t>
            </a:r>
            <a:endParaRPr/>
          </a:p>
        </p:txBody>
      </p:sp>
      <p:pic>
        <p:nvPicPr>
          <p:cNvPr id="529" name="Google Shape;529;p74"/>
          <p:cNvPicPr preferRelativeResize="0"/>
          <p:nvPr/>
        </p:nvPicPr>
        <p:blipFill>
          <a:blip r:embed="rId3">
            <a:alphaModFix/>
          </a:blip>
          <a:stretch>
            <a:fillRect/>
          </a:stretch>
        </p:blipFill>
        <p:spPr>
          <a:xfrm>
            <a:off x="5325363" y="4183191"/>
            <a:ext cx="3324225" cy="876300"/>
          </a:xfrm>
          <a:prstGeom prst="rect">
            <a:avLst/>
          </a:prstGeom>
          <a:noFill/>
          <a:ln>
            <a:noFill/>
          </a:ln>
        </p:spPr>
      </p:pic>
      <p:pic>
        <p:nvPicPr>
          <p:cNvPr id="530" name="Google Shape;530;p74"/>
          <p:cNvPicPr preferRelativeResize="0"/>
          <p:nvPr/>
        </p:nvPicPr>
        <p:blipFill>
          <a:blip r:embed="rId4">
            <a:alphaModFix/>
          </a:blip>
          <a:stretch>
            <a:fillRect/>
          </a:stretch>
        </p:blipFill>
        <p:spPr>
          <a:xfrm>
            <a:off x="311688" y="4183191"/>
            <a:ext cx="3933825" cy="876300"/>
          </a:xfrm>
          <a:prstGeom prst="rect">
            <a:avLst/>
          </a:prstGeom>
          <a:noFill/>
          <a:ln>
            <a:noFill/>
          </a:ln>
        </p:spPr>
      </p:pic>
      <p:sp>
        <p:nvSpPr>
          <p:cNvPr id="531" name="Google Shape;531;p74"/>
          <p:cNvSpPr txBox="1"/>
          <p:nvPr/>
        </p:nvSpPr>
        <p:spPr>
          <a:xfrm>
            <a:off x="5733725" y="112425"/>
            <a:ext cx="3000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solidFill>
                  <a:schemeClr val="dk2"/>
                </a:solidFill>
              </a:rPr>
              <a:t>N-gram model is called a Markov model or Markov chain</a:t>
            </a:r>
            <a:endParaRPr sz="1000"/>
          </a:p>
        </p:txBody>
      </p:sp>
      <p:cxnSp>
        <p:nvCxnSpPr>
          <p:cNvPr id="532" name="Google Shape;532;p74"/>
          <p:cNvCxnSpPr>
            <a:stCxn id="530" idx="3"/>
          </p:cNvCxnSpPr>
          <p:nvPr/>
        </p:nvCxnSpPr>
        <p:spPr>
          <a:xfrm>
            <a:off x="4245513" y="4621341"/>
            <a:ext cx="677100" cy="9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Trigram Model</a:t>
            </a:r>
            <a:endParaRPr/>
          </a:p>
        </p:txBody>
      </p:sp>
      <p:sp>
        <p:nvSpPr>
          <p:cNvPr id="538" name="Google Shape;538;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 He put the coffee on the table</a:t>
            </a:r>
            <a:br>
              <a:rPr lang="en"/>
            </a:br>
            <a:endParaRPr/>
          </a:p>
          <a:p>
            <a:pPr indent="-342900" lvl="0" marL="457200" rtl="0" algn="l">
              <a:spcBef>
                <a:spcPts val="0"/>
              </a:spcBef>
              <a:spcAft>
                <a:spcPts val="0"/>
              </a:spcAft>
              <a:buSzPts val="1800"/>
              <a:buChar char="-"/>
            </a:pPr>
            <a:r>
              <a:rPr lang="en"/>
              <a:t>P (S) = P(the | He put) P (coffee | put the) P (on | the coffee) P (the | coffee on) P (table | on the)</a:t>
            </a:r>
            <a:br>
              <a:rPr lang="en"/>
            </a:br>
            <a:endParaRPr/>
          </a:p>
          <a:p>
            <a:pPr indent="-342900" lvl="0" marL="457200" rtl="0" algn="l">
              <a:spcBef>
                <a:spcPts val="0"/>
              </a:spcBef>
              <a:spcAft>
                <a:spcPts val="0"/>
              </a:spcAft>
              <a:buSzPts val="1800"/>
              <a:buChar char="-"/>
            </a:pPr>
            <a:r>
              <a:rPr lang="en"/>
              <a:t>N-gram model is called a Markov model or Markov chain</a:t>
            </a:r>
            <a:br>
              <a:rPr lang="en"/>
            </a:br>
            <a:endParaRPr/>
          </a:p>
          <a:p>
            <a:pPr indent="-342900" lvl="0" marL="457200" rtl="0" algn="l">
              <a:spcBef>
                <a:spcPts val="0"/>
              </a:spcBef>
              <a:spcAft>
                <a:spcPts val="0"/>
              </a:spcAft>
              <a:buSzPts val="1800"/>
              <a:buChar char="-"/>
            </a:pPr>
            <a:r>
              <a:rPr lang="en"/>
              <a:t>P (coffee | put the) = c(put the coffee) / c(put the)</a:t>
            </a:r>
            <a:br>
              <a:rPr lang="en"/>
            </a:br>
            <a:endParaRPr/>
          </a:p>
          <a:p>
            <a:pPr indent="-342900" lvl="0" marL="457200" rtl="0" algn="l">
              <a:spcBef>
                <a:spcPts val="0"/>
              </a:spcBef>
              <a:spcAft>
                <a:spcPts val="0"/>
              </a:spcAft>
              <a:buSzPts val="1800"/>
              <a:buChar char="-"/>
            </a:pPr>
            <a:r>
              <a:rPr lang="en"/>
              <a:t>Use a document or corpus – grep “put the coffee”</a:t>
            </a:r>
            <a:endParaRPr/>
          </a:p>
        </p:txBody>
      </p:sp>
      <p:pic>
        <p:nvPicPr>
          <p:cNvPr id="539" name="Google Shape;539;p75"/>
          <p:cNvPicPr preferRelativeResize="0"/>
          <p:nvPr/>
        </p:nvPicPr>
        <p:blipFill>
          <a:blip r:embed="rId3">
            <a:alphaModFix/>
          </a:blip>
          <a:stretch>
            <a:fillRect/>
          </a:stretch>
        </p:blipFill>
        <p:spPr>
          <a:xfrm>
            <a:off x="5845926" y="4318126"/>
            <a:ext cx="3298076" cy="7346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Markov chain</a:t>
            </a:r>
            <a:endParaRPr/>
          </a:p>
        </p:txBody>
      </p:sp>
      <p:sp>
        <p:nvSpPr>
          <p:cNvPr id="545" name="Google Shape;545;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Markov chain for words showing states and transition probabilities</a:t>
            </a:r>
            <a:br>
              <a:rPr lang="en"/>
            </a:br>
            <a:endParaRPr/>
          </a:p>
          <a:p>
            <a:pPr indent="-342900" lvl="0" marL="457200" rtl="0" algn="l">
              <a:spcBef>
                <a:spcPts val="0"/>
              </a:spcBef>
              <a:spcAft>
                <a:spcPts val="0"/>
              </a:spcAft>
              <a:buSzPts val="1800"/>
              <a:buChar char="-"/>
            </a:pPr>
            <a:r>
              <a:rPr lang="en"/>
              <a:t>This is a type of weighted finite state machine</a:t>
            </a:r>
            <a:br>
              <a:rPr lang="en"/>
            </a:br>
            <a:endParaRPr/>
          </a:p>
          <a:p>
            <a:pPr indent="-342900" lvl="0" marL="457200" rtl="0" algn="l">
              <a:spcBef>
                <a:spcPts val="0"/>
              </a:spcBef>
              <a:spcAft>
                <a:spcPts val="0"/>
              </a:spcAft>
              <a:buSzPts val="1800"/>
              <a:buChar char="-"/>
            </a:pPr>
            <a:r>
              <a:rPr lang="en"/>
              <a:t>A start distribution π = [0.7, 0.1, 0.2] gives the probability of starting with </a:t>
            </a:r>
            <a:br>
              <a:rPr lang="en"/>
            </a:br>
            <a:r>
              <a:rPr i="1" lang="en"/>
              <a:t>He, cool </a:t>
            </a:r>
            <a:r>
              <a:rPr lang="en"/>
              <a:t>or</a:t>
            </a:r>
            <a:r>
              <a:rPr i="1" lang="en"/>
              <a:t> is</a:t>
            </a:r>
            <a:br>
              <a:rPr i="1" lang="en"/>
            </a:br>
            <a:endParaRPr i="1"/>
          </a:p>
        </p:txBody>
      </p:sp>
      <p:pic>
        <p:nvPicPr>
          <p:cNvPr id="546" name="Google Shape;546;p76"/>
          <p:cNvPicPr preferRelativeResize="0"/>
          <p:nvPr/>
        </p:nvPicPr>
        <p:blipFill>
          <a:blip r:embed="rId3">
            <a:alphaModFix/>
          </a:blip>
          <a:stretch>
            <a:fillRect/>
          </a:stretch>
        </p:blipFill>
        <p:spPr>
          <a:xfrm>
            <a:off x="2284151" y="2996225"/>
            <a:ext cx="5828951" cy="2056300"/>
          </a:xfrm>
          <a:prstGeom prst="rect">
            <a:avLst/>
          </a:prstGeom>
          <a:noFill/>
          <a:ln>
            <a:noFill/>
          </a:ln>
        </p:spPr>
      </p:pic>
      <p:sp>
        <p:nvSpPr>
          <p:cNvPr id="547" name="Google Shape;547;p76"/>
          <p:cNvSpPr txBox="1"/>
          <p:nvPr/>
        </p:nvSpPr>
        <p:spPr>
          <a:xfrm>
            <a:off x="6371700" y="4568875"/>
            <a:ext cx="2772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rPr>
              <a:t>W</a:t>
            </a:r>
            <a:r>
              <a:rPr b="1" lang="en" sz="1500">
                <a:solidFill>
                  <a:schemeClr val="dk1"/>
                </a:solidFill>
              </a:rPr>
              <a:t>eighted finite-state system</a:t>
            </a:r>
            <a:r>
              <a:rPr lang="en" sz="1500">
                <a:solidFill>
                  <a:schemeClr val="dk1"/>
                </a:solidFill>
              </a:rPr>
              <a:t> </a:t>
            </a:r>
            <a:endParaRPr sz="15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Takeaways</a:t>
            </a:r>
            <a:endParaRPr/>
          </a:p>
        </p:txBody>
      </p:sp>
      <p:sp>
        <p:nvSpPr>
          <p:cNvPr id="553" name="Google Shape;553;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Language is highly structured and therefore highly predictable</a:t>
            </a:r>
            <a:br>
              <a:rPr lang="en"/>
            </a:br>
            <a:endParaRPr/>
          </a:p>
          <a:p>
            <a:pPr indent="-342900" lvl="0" marL="457200" rtl="0" algn="l">
              <a:spcBef>
                <a:spcPts val="0"/>
              </a:spcBef>
              <a:spcAft>
                <a:spcPts val="0"/>
              </a:spcAft>
              <a:buSzPts val="1800"/>
              <a:buChar char="-"/>
            </a:pPr>
            <a:r>
              <a:rPr lang="en"/>
              <a:t>Probability gives us a way to quantify that predictability, and language models use this probability structure to predict linguistic sequences</a:t>
            </a:r>
            <a:br>
              <a:rPr lang="en"/>
            </a:br>
            <a:endParaRPr/>
          </a:p>
          <a:p>
            <a:pPr indent="-342900" lvl="0" marL="457200" rtl="0" algn="l">
              <a:spcBef>
                <a:spcPts val="0"/>
              </a:spcBef>
              <a:spcAft>
                <a:spcPts val="0"/>
              </a:spcAft>
              <a:buSzPts val="1800"/>
              <a:buChar char="-"/>
            </a:pPr>
            <a:r>
              <a:rPr lang="en"/>
              <a:t>How can we computationally represent the structure of language? </a:t>
            </a:r>
            <a:endParaRPr/>
          </a:p>
          <a:p>
            <a:pPr indent="-317500" lvl="1" marL="914400" rtl="0" algn="l">
              <a:spcBef>
                <a:spcPts val="0"/>
              </a:spcBef>
              <a:spcAft>
                <a:spcPts val="0"/>
              </a:spcAft>
              <a:buSzPts val="1400"/>
              <a:buChar char="-"/>
            </a:pPr>
            <a:r>
              <a:rPr lang="en"/>
              <a:t>We can represent linguistic structure probabilistically by modeling the probabilities of words and sequences of words given their context (</a:t>
            </a:r>
            <a:r>
              <a:rPr lang="en"/>
              <a:t>probabilistic</a:t>
            </a:r>
            <a:r>
              <a:rPr lang="en"/>
              <a:t> process)</a:t>
            </a:r>
            <a:endParaRPr/>
          </a:p>
          <a:p>
            <a:pPr indent="-317500" lvl="1" marL="914400" rtl="0" algn="l">
              <a:spcBef>
                <a:spcPts val="0"/>
              </a:spcBef>
              <a:spcAft>
                <a:spcPts val="0"/>
              </a:spcAft>
              <a:buSzPts val="1400"/>
              <a:buChar char="-"/>
            </a:pPr>
            <a:r>
              <a:rPr lang="en"/>
              <a:t>Can be computationally represented in the form of weighted finite-state machine as </a:t>
            </a:r>
            <a:r>
              <a:rPr lang="en"/>
              <a:t>well</a:t>
            </a:r>
            <a:r>
              <a:rPr lang="en"/>
              <a:t> (graph-based computational representation)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Language Modeling (In-Class Activity)</a:t>
            </a:r>
            <a:endParaRPr/>
          </a:p>
        </p:txBody>
      </p:sp>
      <p:sp>
        <p:nvSpPr>
          <p:cNvPr id="559" name="Google Shape;559;p78"/>
          <p:cNvSpPr txBox="1"/>
          <p:nvPr>
            <p:ph idx="1" type="body"/>
          </p:nvPr>
        </p:nvSpPr>
        <p:spPr>
          <a:xfrm>
            <a:off x="311700" y="1152475"/>
            <a:ext cx="8672100" cy="39144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1217">
                <a:solidFill>
                  <a:srgbClr val="0000FF"/>
                </a:solidFill>
                <a:latin typeface="TeXGyreTermes-Regular"/>
                <a:ea typeface="TeXGyreTermes-Regular"/>
                <a:cs typeface="TeXGyreTermes-Regular"/>
                <a:sym typeface="TeXGyreTermes-Regular"/>
              </a:rPr>
              <a:t>Training data:</a:t>
            </a:r>
            <a:endParaRPr sz="1217">
              <a:solidFill>
                <a:srgbClr val="0000FF"/>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t/>
            </a:r>
            <a:endParaRPr sz="1217">
              <a:solidFill>
                <a:srgbClr val="0000FF"/>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rPr lang="en" sz="1217">
                <a:solidFill>
                  <a:srgbClr val="0000FF"/>
                </a:solidFill>
                <a:latin typeface="TeXGyreTermes-Regular"/>
                <a:ea typeface="TeXGyreTermes-Regular"/>
                <a:cs typeface="TeXGyreTermes-Regular"/>
                <a:sym typeface="TeXGyreTermes-Regular"/>
              </a:rPr>
              <a:t>&lt;s&gt; I am Sam &lt;/s&gt;</a:t>
            </a:r>
            <a:endParaRPr sz="1217">
              <a:solidFill>
                <a:srgbClr val="0000FF"/>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rPr lang="en" sz="1217">
                <a:solidFill>
                  <a:srgbClr val="0000FF"/>
                </a:solidFill>
                <a:latin typeface="TeXGyreTermes-Regular"/>
                <a:ea typeface="TeXGyreTermes-Regular"/>
                <a:cs typeface="TeXGyreTermes-Regular"/>
                <a:sym typeface="TeXGyreTermes-Regular"/>
              </a:rPr>
              <a:t>&lt;s&gt; Sam I am &lt;/s&gt;</a:t>
            </a:r>
            <a:endParaRPr sz="1217">
              <a:solidFill>
                <a:srgbClr val="0000FF"/>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rPr lang="en" sz="1217">
                <a:solidFill>
                  <a:srgbClr val="0000FF"/>
                </a:solidFill>
                <a:latin typeface="TeXGyreTermes-Regular"/>
                <a:ea typeface="TeXGyreTermes-Regular"/>
                <a:cs typeface="TeXGyreTermes-Regular"/>
                <a:sym typeface="TeXGyreTermes-Regular"/>
              </a:rPr>
              <a:t>&lt;s&gt; Sam I like &lt;/s&gt;</a:t>
            </a:r>
            <a:endParaRPr sz="1217">
              <a:solidFill>
                <a:srgbClr val="0000FF"/>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rPr lang="en" sz="1217">
                <a:solidFill>
                  <a:srgbClr val="0000FF"/>
                </a:solidFill>
                <a:latin typeface="TeXGyreTermes-Regular"/>
                <a:ea typeface="TeXGyreTermes-Regular"/>
                <a:cs typeface="TeXGyreTermes-Regular"/>
                <a:sym typeface="TeXGyreTermes-Regular"/>
              </a:rPr>
              <a:t>&lt;s&gt; Sam I do like &lt;/s&gt;</a:t>
            </a:r>
            <a:endParaRPr sz="1217">
              <a:solidFill>
                <a:srgbClr val="0000FF"/>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rPr lang="en" sz="1217">
                <a:solidFill>
                  <a:srgbClr val="0000FF"/>
                </a:solidFill>
                <a:latin typeface="TeXGyreTermes-Regular"/>
                <a:ea typeface="TeXGyreTermes-Regular"/>
                <a:cs typeface="TeXGyreTermes-Regular"/>
                <a:sym typeface="TeXGyreTermes-Regular"/>
              </a:rPr>
              <a:t>&lt;s&gt; do I like Sam &lt;/s&gt;</a:t>
            </a:r>
            <a:endParaRPr sz="1217">
              <a:solidFill>
                <a:srgbClr val="0000FF"/>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t/>
            </a:r>
            <a:endParaRPr sz="1217">
              <a:solidFill>
                <a:srgbClr val="00000A"/>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rPr lang="en" sz="1217">
                <a:solidFill>
                  <a:srgbClr val="980000"/>
                </a:solidFill>
                <a:latin typeface="TeXGyreTermes-Regular"/>
                <a:ea typeface="TeXGyreTermes-Regular"/>
                <a:cs typeface="TeXGyreTermes-Regular"/>
                <a:sym typeface="TeXGyreTermes-Regular"/>
              </a:rPr>
              <a:t>1. Using a </a:t>
            </a:r>
            <a:r>
              <a:rPr b="1" lang="en" sz="1217">
                <a:solidFill>
                  <a:srgbClr val="980000"/>
                </a:solidFill>
                <a:latin typeface="TeXGyreTermes-Regular"/>
                <a:ea typeface="TeXGyreTermes-Regular"/>
                <a:cs typeface="TeXGyreTermes-Regular"/>
                <a:sym typeface="TeXGyreTermes-Regular"/>
              </a:rPr>
              <a:t>bigram language</a:t>
            </a:r>
            <a:r>
              <a:rPr lang="en" sz="1217">
                <a:solidFill>
                  <a:srgbClr val="980000"/>
                </a:solidFill>
                <a:latin typeface="TeXGyreTermes-Regular"/>
                <a:ea typeface="TeXGyreTermes-Regular"/>
                <a:cs typeface="TeXGyreTermes-Regular"/>
                <a:sym typeface="TeXGyreTermes-Regular"/>
              </a:rPr>
              <a:t> model based on the above training data, which of the following sentences is better, i.e., gets a higher probability?</a:t>
            </a:r>
            <a:endParaRPr sz="1217">
              <a:solidFill>
                <a:srgbClr val="980000"/>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t/>
            </a:r>
            <a:endParaRPr sz="1217">
              <a:solidFill>
                <a:srgbClr val="00000A"/>
              </a:solidFill>
              <a:latin typeface="TeXGyreTermes-Regular"/>
              <a:ea typeface="TeXGyreTermes-Regular"/>
              <a:cs typeface="TeXGyreTermes-Regular"/>
              <a:sym typeface="TeXGyreTermes-Regular"/>
            </a:endParaRPr>
          </a:p>
          <a:p>
            <a:pPr indent="-305875" lvl="0" marL="457200" rtl="0" algn="l">
              <a:lnSpc>
                <a:spcPct val="80000"/>
              </a:lnSpc>
              <a:spcBef>
                <a:spcPts val="0"/>
              </a:spcBef>
              <a:spcAft>
                <a:spcPts val="0"/>
              </a:spcAft>
              <a:buClr>
                <a:srgbClr val="00000A"/>
              </a:buClr>
              <a:buSzPts val="1217"/>
              <a:buFont typeface="TeXGyreTermes-Regular"/>
              <a:buAutoNum type="alphaLcParenBoth"/>
            </a:pPr>
            <a:r>
              <a:rPr lang="en" sz="1217">
                <a:solidFill>
                  <a:srgbClr val="00000A"/>
                </a:solidFill>
                <a:latin typeface="TeXGyreTermes-Regular"/>
                <a:ea typeface="TeXGyreTermes-Regular"/>
                <a:cs typeface="TeXGyreTermes-Regular"/>
                <a:sym typeface="TeXGyreTermes-Regular"/>
              </a:rPr>
              <a:t>S: &lt;s&gt; Sam I do I like &lt;/s&gt;</a:t>
            </a:r>
            <a:endParaRPr sz="1217">
              <a:solidFill>
                <a:srgbClr val="00000A"/>
              </a:solidFill>
              <a:latin typeface="TeXGyreTermes-Regular"/>
              <a:ea typeface="TeXGyreTermes-Regular"/>
              <a:cs typeface="TeXGyreTermes-Regular"/>
              <a:sym typeface="TeXGyreTermes-Regular"/>
            </a:endParaRPr>
          </a:p>
          <a:p>
            <a:pPr indent="-305875" lvl="0" marL="457200" rtl="0" algn="l">
              <a:lnSpc>
                <a:spcPct val="80000"/>
              </a:lnSpc>
              <a:spcBef>
                <a:spcPts val="0"/>
              </a:spcBef>
              <a:spcAft>
                <a:spcPts val="0"/>
              </a:spcAft>
              <a:buClr>
                <a:srgbClr val="00000A"/>
              </a:buClr>
              <a:buSzPts val="1217"/>
              <a:buFont typeface="TeXGyreTermes-Regular"/>
              <a:buAutoNum type="alphaLcParenBoth"/>
            </a:pPr>
            <a:r>
              <a:rPr lang="en" sz="1217">
                <a:solidFill>
                  <a:srgbClr val="00000A"/>
                </a:solidFill>
                <a:latin typeface="TeXGyreTermes-Regular"/>
                <a:ea typeface="TeXGyreTermes-Regular"/>
                <a:cs typeface="TeXGyreTermes-Regular"/>
                <a:sym typeface="TeXGyreTermes-Regular"/>
              </a:rPr>
              <a:t>S: &lt;s&gt; Sam I am &lt;/s&gt;</a:t>
            </a:r>
            <a:endParaRPr sz="1217">
              <a:solidFill>
                <a:srgbClr val="00000A"/>
              </a:solidFill>
              <a:latin typeface="TeXGyreTermes-Regular"/>
              <a:ea typeface="TeXGyreTermes-Regular"/>
              <a:cs typeface="TeXGyreTermes-Regular"/>
              <a:sym typeface="TeXGyreTermes-Regular"/>
            </a:endParaRPr>
          </a:p>
          <a:p>
            <a:pPr indent="-305875" lvl="0" marL="457200" rtl="0" algn="l">
              <a:lnSpc>
                <a:spcPct val="80000"/>
              </a:lnSpc>
              <a:spcBef>
                <a:spcPts val="0"/>
              </a:spcBef>
              <a:spcAft>
                <a:spcPts val="0"/>
              </a:spcAft>
              <a:buClr>
                <a:srgbClr val="00000A"/>
              </a:buClr>
              <a:buSzPts val="1217"/>
              <a:buFont typeface="TeXGyreTermes-Regular"/>
              <a:buAutoNum type="alphaLcParenBoth"/>
            </a:pPr>
            <a:r>
              <a:rPr lang="en" sz="1217">
                <a:solidFill>
                  <a:srgbClr val="00000A"/>
                </a:solidFill>
                <a:latin typeface="TeXGyreTermes-Regular"/>
                <a:ea typeface="TeXGyreTermes-Regular"/>
                <a:cs typeface="TeXGyreTermes-Regular"/>
                <a:sym typeface="TeXGyreTermes-Regular"/>
              </a:rPr>
              <a:t>S: &lt;s&gt; Sam I do like linguistics &lt;/s&gt;</a:t>
            </a:r>
            <a:endParaRPr sz="1217">
              <a:solidFill>
                <a:srgbClr val="00000A"/>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t/>
            </a:r>
            <a:endParaRPr sz="1217">
              <a:solidFill>
                <a:srgbClr val="00000A"/>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t/>
            </a:r>
            <a:endParaRPr sz="1217">
              <a:solidFill>
                <a:srgbClr val="00000A"/>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rPr lang="en" sz="1217">
                <a:solidFill>
                  <a:srgbClr val="980000"/>
                </a:solidFill>
                <a:latin typeface="TeXGyreTermes-Regular"/>
                <a:ea typeface="TeXGyreTermes-Regular"/>
                <a:cs typeface="TeXGyreTermes-Regular"/>
                <a:sym typeface="TeXGyreTermes-Regular"/>
              </a:rPr>
              <a:t>2. Using a </a:t>
            </a:r>
            <a:r>
              <a:rPr b="1" lang="en" sz="1217">
                <a:solidFill>
                  <a:srgbClr val="980000"/>
                </a:solidFill>
                <a:latin typeface="TeXGyreTermes-Regular"/>
                <a:ea typeface="TeXGyreTermes-Regular"/>
                <a:cs typeface="TeXGyreTermes-Regular"/>
                <a:sym typeface="TeXGyreTermes-Regular"/>
              </a:rPr>
              <a:t>unigram language</a:t>
            </a:r>
            <a:r>
              <a:rPr lang="en" sz="1217">
                <a:solidFill>
                  <a:srgbClr val="980000"/>
                </a:solidFill>
                <a:latin typeface="TeXGyreTermes-Regular"/>
                <a:ea typeface="TeXGyreTermes-Regular"/>
                <a:cs typeface="TeXGyreTermes-Regular"/>
                <a:sym typeface="TeXGyreTermes-Regular"/>
              </a:rPr>
              <a:t> model based on the above training data, which of the following sentences is better, i.e., gets a higher probability?</a:t>
            </a:r>
            <a:endParaRPr sz="1217">
              <a:solidFill>
                <a:srgbClr val="980000"/>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t/>
            </a:r>
            <a:endParaRPr sz="1217">
              <a:solidFill>
                <a:srgbClr val="00000A"/>
              </a:solidFill>
              <a:latin typeface="TeXGyreTermes-Regular"/>
              <a:ea typeface="TeXGyreTermes-Regular"/>
              <a:cs typeface="TeXGyreTermes-Regular"/>
              <a:sym typeface="TeXGyreTermes-Regular"/>
            </a:endParaRPr>
          </a:p>
          <a:p>
            <a:pPr indent="-305875" lvl="0" marL="457200" rtl="0" algn="l">
              <a:lnSpc>
                <a:spcPct val="80000"/>
              </a:lnSpc>
              <a:spcBef>
                <a:spcPts val="0"/>
              </a:spcBef>
              <a:spcAft>
                <a:spcPts val="0"/>
              </a:spcAft>
              <a:buClr>
                <a:srgbClr val="00000A"/>
              </a:buClr>
              <a:buSzPts val="1217"/>
              <a:buFont typeface="TeXGyreTermes-Regular"/>
              <a:buAutoNum type="alphaLcParenBoth"/>
            </a:pPr>
            <a:r>
              <a:rPr lang="en" sz="1217">
                <a:solidFill>
                  <a:srgbClr val="00000A"/>
                </a:solidFill>
                <a:latin typeface="TeXGyreTermes-Regular"/>
                <a:ea typeface="TeXGyreTermes-Regular"/>
                <a:cs typeface="TeXGyreTermes-Regular"/>
                <a:sym typeface="TeXGyreTermes-Regular"/>
              </a:rPr>
              <a:t>S: &lt;s&gt; Sam I do I like &lt;/s&gt;</a:t>
            </a:r>
            <a:endParaRPr sz="1217">
              <a:solidFill>
                <a:srgbClr val="00000A"/>
              </a:solidFill>
              <a:latin typeface="TeXGyreTermes-Regular"/>
              <a:ea typeface="TeXGyreTermes-Regular"/>
              <a:cs typeface="TeXGyreTermes-Regular"/>
              <a:sym typeface="TeXGyreTermes-Regular"/>
            </a:endParaRPr>
          </a:p>
          <a:p>
            <a:pPr indent="-305875" lvl="0" marL="457200" rtl="0" algn="l">
              <a:lnSpc>
                <a:spcPct val="80000"/>
              </a:lnSpc>
              <a:spcBef>
                <a:spcPts val="0"/>
              </a:spcBef>
              <a:spcAft>
                <a:spcPts val="0"/>
              </a:spcAft>
              <a:buClr>
                <a:srgbClr val="00000A"/>
              </a:buClr>
              <a:buSzPts val="1217"/>
              <a:buFont typeface="TeXGyreTermes-Regular"/>
              <a:buAutoNum type="alphaLcParenBoth"/>
            </a:pPr>
            <a:r>
              <a:rPr lang="en" sz="1217">
                <a:solidFill>
                  <a:srgbClr val="00000A"/>
                </a:solidFill>
                <a:latin typeface="TeXGyreTermes-Regular"/>
                <a:ea typeface="TeXGyreTermes-Regular"/>
                <a:cs typeface="TeXGyreTermes-Regular"/>
                <a:sym typeface="TeXGyreTermes-Regular"/>
              </a:rPr>
              <a:t>S: &lt;s&gt; Sam I am &lt;/s&gt;</a:t>
            </a:r>
            <a:endParaRPr sz="1217">
              <a:solidFill>
                <a:srgbClr val="00000A"/>
              </a:solidFill>
              <a:latin typeface="TeXGyreTermes-Regular"/>
              <a:ea typeface="TeXGyreTermes-Regular"/>
              <a:cs typeface="TeXGyreTermes-Regular"/>
              <a:sym typeface="TeXGyreTermes-Regular"/>
            </a:endParaRPr>
          </a:p>
          <a:p>
            <a:pPr indent="-305875" lvl="0" marL="457200" rtl="0" algn="l">
              <a:lnSpc>
                <a:spcPct val="80000"/>
              </a:lnSpc>
              <a:spcBef>
                <a:spcPts val="0"/>
              </a:spcBef>
              <a:spcAft>
                <a:spcPts val="0"/>
              </a:spcAft>
              <a:buClr>
                <a:srgbClr val="00000A"/>
              </a:buClr>
              <a:buSzPts val="1217"/>
              <a:buFont typeface="TeXGyreTermes-Regular"/>
              <a:buAutoNum type="alphaLcParenBoth"/>
            </a:pPr>
            <a:r>
              <a:rPr lang="en" sz="1217">
                <a:solidFill>
                  <a:srgbClr val="00000A"/>
                </a:solidFill>
                <a:latin typeface="TeXGyreTermes-Regular"/>
                <a:ea typeface="TeXGyreTermes-Regular"/>
                <a:cs typeface="TeXGyreTermes-Regular"/>
                <a:sym typeface="TeXGyreTermes-Regular"/>
              </a:rPr>
              <a:t>S: &lt;s&gt; Sam I do like linguistics &lt;/s&gt;</a:t>
            </a:r>
            <a:endParaRPr sz="1217">
              <a:solidFill>
                <a:srgbClr val="00000A"/>
              </a:solidFill>
              <a:latin typeface="TeXGyreTermes-Regular"/>
              <a:ea typeface="TeXGyreTermes-Regular"/>
              <a:cs typeface="TeXGyreTermes-Regular"/>
              <a:sym typeface="TeXGyreTermes-Regular"/>
            </a:endParaRPr>
          </a:p>
          <a:p>
            <a:pPr indent="0" lvl="0" marL="0" rtl="0" algn="l">
              <a:lnSpc>
                <a:spcPct val="80000"/>
              </a:lnSpc>
              <a:spcBef>
                <a:spcPts val="0"/>
              </a:spcBef>
              <a:spcAft>
                <a:spcPts val="0"/>
              </a:spcAft>
              <a:buClr>
                <a:schemeClr val="dk1"/>
              </a:buClr>
              <a:buSzPts val="275"/>
              <a:buFont typeface="Arial"/>
              <a:buNone/>
            </a:pPr>
            <a:r>
              <a:t/>
            </a:r>
            <a:endParaRPr sz="1217">
              <a:solidFill>
                <a:srgbClr val="00000A"/>
              </a:solidFill>
              <a:latin typeface="TeXGyreTermes-Regular"/>
              <a:ea typeface="TeXGyreTermes-Regular"/>
              <a:cs typeface="TeXGyreTermes-Regular"/>
              <a:sym typeface="TeXGyreTermes-Regular"/>
            </a:endParaRPr>
          </a:p>
          <a:p>
            <a:pPr indent="0" lvl="0" marL="0" rtl="0" algn="l">
              <a:lnSpc>
                <a:spcPct val="95000"/>
              </a:lnSpc>
              <a:spcBef>
                <a:spcPts val="0"/>
              </a:spcBef>
              <a:spcAft>
                <a:spcPts val="1200"/>
              </a:spcAft>
              <a:buSzPts val="275"/>
              <a:buNone/>
            </a:pPr>
            <a:r>
              <a:t/>
            </a:r>
            <a:endParaRPr sz="550"/>
          </a:p>
        </p:txBody>
      </p:sp>
      <p:sp>
        <p:nvSpPr>
          <p:cNvPr id="560" name="Google Shape;560;p78"/>
          <p:cNvSpPr txBox="1"/>
          <p:nvPr/>
        </p:nvSpPr>
        <p:spPr>
          <a:xfrm>
            <a:off x="6273300" y="0"/>
            <a:ext cx="2870700" cy="36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68">
                <a:solidFill>
                  <a:srgbClr val="00000A"/>
                </a:solidFill>
                <a:latin typeface="TeXGyreTermes-Bold"/>
                <a:ea typeface="TeXGyreTermes-Bold"/>
                <a:cs typeface="TeXGyreTermes-Bold"/>
                <a:sym typeface="TeXGyreTermes-Bold"/>
              </a:rPr>
              <a:t>Adapted</a:t>
            </a:r>
            <a:r>
              <a:rPr lang="en" sz="1168">
                <a:solidFill>
                  <a:srgbClr val="00000A"/>
                </a:solidFill>
                <a:latin typeface="TeXGyreTermes-Bold"/>
                <a:ea typeface="TeXGyreTermes-Bold"/>
                <a:cs typeface="TeXGyreTermes-Bold"/>
                <a:sym typeface="TeXGyreTermes-Bold"/>
              </a:rPr>
              <a:t> from Jurafsky &amp; Martin 2015</a:t>
            </a:r>
            <a:endParaRPr sz="1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In-Class Activity</a:t>
            </a:r>
            <a:endParaRPr/>
          </a:p>
        </p:txBody>
      </p:sp>
      <p:sp>
        <p:nvSpPr>
          <p:cNvPr id="566" name="Google Shape;566;p7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74650" lvl="0" marL="381000" rtl="0" algn="l">
              <a:lnSpc>
                <a:spcPct val="90000"/>
              </a:lnSpc>
              <a:spcBef>
                <a:spcPts val="0"/>
              </a:spcBef>
              <a:spcAft>
                <a:spcPts val="0"/>
              </a:spcAft>
              <a:buClr>
                <a:schemeClr val="dk1"/>
              </a:buClr>
              <a:buSzPts val="2100"/>
              <a:buFont typeface="Calibri"/>
              <a:buAutoNum type="arabicPeriod"/>
            </a:pPr>
            <a:r>
              <a:rPr lang="en"/>
              <a:t>Create </a:t>
            </a:r>
            <a:r>
              <a:rPr lang="en">
                <a:solidFill>
                  <a:srgbClr val="7030A0"/>
                </a:solidFill>
              </a:rPr>
              <a:t>bigram</a:t>
            </a:r>
            <a:r>
              <a:rPr lang="en"/>
              <a:t> and </a:t>
            </a:r>
            <a:r>
              <a:rPr lang="en">
                <a:solidFill>
                  <a:srgbClr val="7030A0"/>
                </a:solidFill>
              </a:rPr>
              <a:t>unigram</a:t>
            </a:r>
            <a:r>
              <a:rPr lang="en"/>
              <a:t> language model on </a:t>
            </a:r>
            <a:r>
              <a:rPr lang="en">
                <a:solidFill>
                  <a:srgbClr val="FF0000"/>
                </a:solidFill>
              </a:rPr>
              <a:t>toy dataset</a:t>
            </a:r>
            <a:r>
              <a:rPr lang="en"/>
              <a:t> and </a:t>
            </a:r>
            <a:r>
              <a:rPr lang="en">
                <a:solidFill>
                  <a:srgbClr val="002060"/>
                </a:solidFill>
              </a:rPr>
              <a:t>evaluate</a:t>
            </a:r>
            <a:r>
              <a:rPr lang="en"/>
              <a:t> their performance on </a:t>
            </a:r>
            <a:r>
              <a:rPr lang="en">
                <a:solidFill>
                  <a:srgbClr val="FF0000"/>
                </a:solidFill>
              </a:rPr>
              <a:t>unseen</a:t>
            </a:r>
            <a:r>
              <a:rPr lang="en"/>
              <a:t> test dataset.</a:t>
            </a:r>
            <a:endParaRPr/>
          </a:p>
          <a:p>
            <a:pPr indent="-241300" lvl="0" marL="381000" rtl="0" algn="l">
              <a:lnSpc>
                <a:spcPct val="90000"/>
              </a:lnSpc>
              <a:spcBef>
                <a:spcPts val="800"/>
              </a:spcBef>
              <a:spcAft>
                <a:spcPts val="0"/>
              </a:spcAft>
              <a:buClr>
                <a:schemeClr val="dk1"/>
              </a:buClr>
              <a:buSzPts val="2100"/>
              <a:buFont typeface="Calibri"/>
              <a:buNone/>
            </a:pPr>
            <a:r>
              <a:t/>
            </a:r>
            <a:endParaRPr/>
          </a:p>
          <a:p>
            <a:pPr indent="-374650" lvl="0" marL="381000" rtl="0" algn="l">
              <a:lnSpc>
                <a:spcPct val="90000"/>
              </a:lnSpc>
              <a:spcBef>
                <a:spcPts val="800"/>
              </a:spcBef>
              <a:spcAft>
                <a:spcPts val="0"/>
              </a:spcAft>
              <a:buClr>
                <a:schemeClr val="dk1"/>
              </a:buClr>
              <a:buSzPts val="2100"/>
              <a:buFont typeface="Calibri"/>
              <a:buAutoNum type="arabicPeriod"/>
            </a:pPr>
            <a:r>
              <a:rPr lang="en"/>
              <a:t> How does your model perform in case of </a:t>
            </a:r>
            <a:r>
              <a:rPr lang="en">
                <a:solidFill>
                  <a:srgbClr val="FF0000"/>
                </a:solidFill>
              </a:rPr>
              <a:t>OOV words</a:t>
            </a:r>
            <a:r>
              <a:rPr lang="en"/>
              <a:t>?</a:t>
            </a:r>
            <a:endParaRPr/>
          </a:p>
          <a:p>
            <a:pPr indent="-241300" lvl="0" marL="381000" rtl="0" algn="l">
              <a:lnSpc>
                <a:spcPct val="90000"/>
              </a:lnSpc>
              <a:spcBef>
                <a:spcPts val="800"/>
              </a:spcBef>
              <a:spcAft>
                <a:spcPts val="0"/>
              </a:spcAft>
              <a:buClr>
                <a:schemeClr val="dk1"/>
              </a:buClr>
              <a:buSzPts val="2100"/>
              <a:buFont typeface="Calibri"/>
              <a:buNone/>
            </a:pPr>
            <a:r>
              <a:t/>
            </a:r>
            <a:endParaRPr/>
          </a:p>
          <a:p>
            <a:pPr indent="-374650" lvl="0" marL="381000" rtl="0" algn="l">
              <a:lnSpc>
                <a:spcPct val="90000"/>
              </a:lnSpc>
              <a:spcBef>
                <a:spcPts val="800"/>
              </a:spcBef>
              <a:spcAft>
                <a:spcPts val="0"/>
              </a:spcAft>
              <a:buClr>
                <a:schemeClr val="dk1"/>
              </a:buClr>
              <a:buSzPts val="2100"/>
              <a:buFont typeface="Calibri"/>
              <a:buAutoNum type="arabicPeriod"/>
            </a:pPr>
            <a:r>
              <a:rPr lang="en"/>
              <a:t>How does a smoothing play a role in fixing the issues in #2?</a:t>
            </a:r>
            <a:endParaRPr/>
          </a:p>
          <a:p>
            <a:pPr indent="-241300" lvl="0" marL="381000" rtl="0" algn="l">
              <a:lnSpc>
                <a:spcPct val="90000"/>
              </a:lnSpc>
              <a:spcBef>
                <a:spcPts val="800"/>
              </a:spcBef>
              <a:spcAft>
                <a:spcPts val="0"/>
              </a:spcAft>
              <a:buClr>
                <a:schemeClr val="dk1"/>
              </a:buClr>
              <a:buSzPts val="2100"/>
              <a:buFont typeface="Calibri"/>
              <a:buNone/>
            </a:pPr>
            <a:r>
              <a:t/>
            </a:r>
            <a:endParaRPr/>
          </a:p>
          <a:p>
            <a:pPr indent="-374650" lvl="0" marL="381000" rtl="0" algn="l">
              <a:lnSpc>
                <a:spcPct val="90000"/>
              </a:lnSpc>
              <a:spcBef>
                <a:spcPts val="800"/>
              </a:spcBef>
              <a:spcAft>
                <a:spcPts val="0"/>
              </a:spcAft>
              <a:buClr>
                <a:schemeClr val="dk1"/>
              </a:buClr>
              <a:buSzPts val="2100"/>
              <a:buFont typeface="Calibri"/>
              <a:buAutoNum type="arabicPeriod"/>
            </a:pPr>
            <a:r>
              <a:rPr lang="en"/>
              <a:t>Repeat the exercise for a larger dataset – </a:t>
            </a:r>
            <a:r>
              <a:rPr lang="en">
                <a:solidFill>
                  <a:srgbClr val="0070C0"/>
                </a:solidFill>
              </a:rPr>
              <a:t>Brown corpus</a:t>
            </a:r>
            <a:endParaRPr/>
          </a:p>
          <a:p>
            <a:pPr indent="-177800" lvl="1" marL="520700" rtl="0" algn="l">
              <a:lnSpc>
                <a:spcPct val="90000"/>
              </a:lnSpc>
              <a:spcBef>
                <a:spcPts val="400"/>
              </a:spcBef>
              <a:spcAft>
                <a:spcPts val="1200"/>
              </a:spcAft>
              <a:buClr>
                <a:schemeClr val="dk1"/>
              </a:buClr>
              <a:buSzPts val="1800"/>
              <a:buChar char="○"/>
            </a:pPr>
            <a:r>
              <a:rPr lang="en"/>
              <a:t>Some more problems</a:t>
            </a:r>
            <a:endParaRPr/>
          </a:p>
        </p:txBody>
      </p:sp>
      <p:pic>
        <p:nvPicPr>
          <p:cNvPr id="567" name="Google Shape;567;p79"/>
          <p:cNvPicPr preferRelativeResize="0"/>
          <p:nvPr/>
        </p:nvPicPr>
        <p:blipFill rotWithShape="1">
          <a:blip r:embed="rId3">
            <a:alphaModFix/>
          </a:blip>
          <a:srcRect b="0" l="0" r="0" t="0"/>
          <a:stretch/>
        </p:blipFill>
        <p:spPr>
          <a:xfrm>
            <a:off x="7391724" y="102394"/>
            <a:ext cx="1578769" cy="1064419"/>
          </a:xfrm>
          <a:prstGeom prst="rect">
            <a:avLst/>
          </a:prstGeom>
          <a:noFill/>
          <a:ln>
            <a:noFill/>
          </a:ln>
          <a:effectLst>
            <a:outerShdw blurRad="142875" rotWithShape="0" algn="tl">
              <a:srgbClr val="000000">
                <a:alpha val="70200"/>
              </a:srgbClr>
            </a:outerShdw>
          </a:effectLst>
        </p:spPr>
      </p:pic>
      <p:pic>
        <p:nvPicPr>
          <p:cNvPr id="568" name="Google Shape;568;p79"/>
          <p:cNvPicPr preferRelativeResize="0"/>
          <p:nvPr/>
        </p:nvPicPr>
        <p:blipFill rotWithShape="1">
          <a:blip r:embed="rId4">
            <a:alphaModFix/>
          </a:blip>
          <a:srcRect b="0" l="0" r="0" t="0"/>
          <a:stretch/>
        </p:blipFill>
        <p:spPr>
          <a:xfrm>
            <a:off x="7154573" y="1963450"/>
            <a:ext cx="1871663" cy="371475"/>
          </a:xfrm>
          <a:prstGeom prst="rect">
            <a:avLst/>
          </a:prstGeom>
          <a:noFill/>
          <a:ln>
            <a:noFill/>
          </a:ln>
          <a:effectLst>
            <a:outerShdw blurRad="219075" rotWithShape="0" algn="tl" dir="2700000" dist="104775">
              <a:srgbClr val="333333">
                <a:alpha val="65100"/>
              </a:srgbClr>
            </a:outerShdw>
          </a:effectLst>
        </p:spPr>
      </p:pic>
      <p:pic>
        <p:nvPicPr>
          <p:cNvPr id="569" name="Google Shape;569;p79"/>
          <p:cNvPicPr preferRelativeResize="0"/>
          <p:nvPr/>
        </p:nvPicPr>
        <p:blipFill rotWithShape="1">
          <a:blip r:embed="rId5">
            <a:alphaModFix/>
          </a:blip>
          <a:srcRect b="0" l="0" r="0" t="0"/>
          <a:stretch/>
        </p:blipFill>
        <p:spPr>
          <a:xfrm>
            <a:off x="6797386" y="2931374"/>
            <a:ext cx="2228850" cy="228600"/>
          </a:xfrm>
          <a:prstGeom prst="rect">
            <a:avLst/>
          </a:prstGeom>
          <a:noFill/>
          <a:ln>
            <a:noFill/>
          </a:ln>
          <a:effectLst>
            <a:outerShdw blurRad="219075" rotWithShape="0" algn="tl" dir="2700000" dist="104775">
              <a:srgbClr val="333333">
                <a:alpha val="65100"/>
              </a:srgbClr>
            </a:outerShdw>
          </a:effectLst>
        </p:spPr>
      </p:pic>
      <p:cxnSp>
        <p:nvCxnSpPr>
          <p:cNvPr id="570" name="Google Shape;570;p79"/>
          <p:cNvCxnSpPr>
            <a:endCxn id="567" idx="1"/>
          </p:cNvCxnSpPr>
          <p:nvPr/>
        </p:nvCxnSpPr>
        <p:spPr>
          <a:xfrm flipH="1" rot="10800000">
            <a:off x="6567024" y="634603"/>
            <a:ext cx="824700" cy="804900"/>
          </a:xfrm>
          <a:prstGeom prst="straightConnector1">
            <a:avLst/>
          </a:prstGeom>
          <a:noFill/>
          <a:ln cap="flat" cmpd="sng" w="7150">
            <a:solidFill>
              <a:schemeClr val="dk1"/>
            </a:solidFill>
            <a:prstDash val="solid"/>
            <a:miter lim="8000"/>
            <a:headEnd len="sm" w="sm" type="none"/>
            <a:tailEnd len="med" w="med" type="triangle"/>
          </a:ln>
        </p:spPr>
      </p:cxnSp>
      <p:cxnSp>
        <p:nvCxnSpPr>
          <p:cNvPr id="571" name="Google Shape;571;p79"/>
          <p:cNvCxnSpPr/>
          <p:nvPr/>
        </p:nvCxnSpPr>
        <p:spPr>
          <a:xfrm>
            <a:off x="5770418" y="2036619"/>
            <a:ext cx="1370400" cy="112500"/>
          </a:xfrm>
          <a:prstGeom prst="straightConnector1">
            <a:avLst/>
          </a:prstGeom>
          <a:noFill/>
          <a:ln cap="flat" cmpd="sng" w="7150">
            <a:solidFill>
              <a:schemeClr val="dk1"/>
            </a:solidFill>
            <a:prstDash val="solid"/>
            <a:miter lim="8000"/>
            <a:headEnd len="sm" w="sm" type="none"/>
            <a:tailEnd len="med" w="med" type="triangle"/>
          </a:ln>
        </p:spPr>
      </p:cxnSp>
      <p:cxnSp>
        <p:nvCxnSpPr>
          <p:cNvPr id="572" name="Google Shape;572;p79"/>
          <p:cNvCxnSpPr/>
          <p:nvPr/>
        </p:nvCxnSpPr>
        <p:spPr>
          <a:xfrm>
            <a:off x="5759162" y="2035756"/>
            <a:ext cx="1003500" cy="1010100"/>
          </a:xfrm>
          <a:prstGeom prst="straightConnector1">
            <a:avLst/>
          </a:prstGeom>
          <a:noFill/>
          <a:ln cap="flat" cmpd="sng" w="7150">
            <a:solidFill>
              <a:schemeClr val="dk1"/>
            </a:solidFill>
            <a:prstDash val="solid"/>
            <a:miter lim="8000"/>
            <a:headEnd len="sm" w="sm" type="none"/>
            <a:tailEnd len="med" w="med" type="triangle"/>
          </a:ln>
        </p:spPr>
      </p:cxnSp>
      <p:sp>
        <p:nvSpPr>
          <p:cNvPr id="573" name="Google Shape;573;p79"/>
          <p:cNvSpPr/>
          <p:nvPr/>
        </p:nvSpPr>
        <p:spPr>
          <a:xfrm>
            <a:off x="7862455" y="2901447"/>
            <a:ext cx="1004400" cy="296400"/>
          </a:xfrm>
          <a:prstGeom prst="ellipse">
            <a:avLst/>
          </a:prstGeom>
          <a:noFill/>
          <a:ln cap="flat" cmpd="sng" w="9525">
            <a:solidFill>
              <a:srgbClr val="FF0000"/>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Methodology</a:t>
            </a:r>
            <a:endParaRPr/>
          </a:p>
        </p:txBody>
      </p:sp>
      <p:sp>
        <p:nvSpPr>
          <p:cNvPr id="579" name="Google Shape;579;p8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Use training set and test set</a:t>
            </a:r>
            <a:endParaRPr/>
          </a:p>
          <a:p>
            <a:pPr indent="-38100" lvl="0" marL="177800" rtl="0" algn="l">
              <a:lnSpc>
                <a:spcPct val="90000"/>
              </a:lnSpc>
              <a:spcBef>
                <a:spcPts val="800"/>
              </a:spcBef>
              <a:spcAft>
                <a:spcPts val="1200"/>
              </a:spcAft>
              <a:buClr>
                <a:schemeClr val="dk1"/>
              </a:buClr>
              <a:buSzPts val="2100"/>
              <a:buNone/>
            </a:pPr>
            <a:r>
              <a:t/>
            </a:r>
            <a:endParaRPr/>
          </a:p>
        </p:txBody>
      </p:sp>
      <p:sp>
        <p:nvSpPr>
          <p:cNvPr id="580" name="Google Shape;580;p80"/>
          <p:cNvSpPr/>
          <p:nvPr/>
        </p:nvSpPr>
        <p:spPr>
          <a:xfrm>
            <a:off x="3699163" y="1970049"/>
            <a:ext cx="984539" cy="913639"/>
          </a:xfrm>
          <a:prstGeom prst="flowChartMagneticDisk">
            <a:avLst/>
          </a:prstGeom>
          <a:solidFill>
            <a:srgbClr val="8B8B8B"/>
          </a:solidFill>
          <a:ln cap="flat" cmpd="sng" w="9525">
            <a:solidFill>
              <a:srgbClr val="CFE2F3"/>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1400" u="none" cap="none" strike="noStrike">
                <a:solidFill>
                  <a:srgbClr val="9900FF"/>
                </a:solidFill>
                <a:latin typeface="Calibri"/>
                <a:ea typeface="Calibri"/>
                <a:cs typeface="Calibri"/>
                <a:sym typeface="Calibri"/>
              </a:rPr>
              <a:t>Language Model</a:t>
            </a:r>
            <a:endParaRPr b="0" i="0" sz="1400" u="none" cap="none" strike="noStrike">
              <a:solidFill>
                <a:srgbClr val="9900FF"/>
              </a:solidFill>
              <a:latin typeface="Calibri"/>
              <a:ea typeface="Calibri"/>
              <a:cs typeface="Calibri"/>
              <a:sym typeface="Calibri"/>
            </a:endParaRPr>
          </a:p>
        </p:txBody>
      </p:sp>
      <p:sp>
        <p:nvSpPr>
          <p:cNvPr id="581" name="Google Shape;581;p80"/>
          <p:cNvSpPr/>
          <p:nvPr/>
        </p:nvSpPr>
        <p:spPr>
          <a:xfrm>
            <a:off x="852056" y="2170940"/>
            <a:ext cx="1690254" cy="1205388"/>
          </a:xfrm>
          <a:prstGeom prst="irregularSeal1">
            <a:avLst/>
          </a:prstGeom>
          <a:solidFill>
            <a:schemeClr val="accent5"/>
          </a:solidFill>
          <a:ln cap="flat" cmpd="sng" w="9525">
            <a:solidFill>
              <a:srgbClr val="42719B"/>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1400" u="none" cap="none" strike="noStrike">
                <a:solidFill>
                  <a:schemeClr val="dk1"/>
                </a:solidFill>
                <a:latin typeface="Calibri"/>
                <a:ea typeface="Calibri"/>
                <a:cs typeface="Calibri"/>
                <a:sym typeface="Calibri"/>
              </a:rPr>
              <a:t>Train data</a:t>
            </a:r>
            <a:endParaRPr b="0" i="0" sz="1400" u="none" cap="none" strike="noStrike">
              <a:solidFill>
                <a:schemeClr val="dk1"/>
              </a:solidFill>
              <a:latin typeface="Calibri"/>
              <a:ea typeface="Calibri"/>
              <a:cs typeface="Calibri"/>
              <a:sym typeface="Calibri"/>
            </a:endParaRPr>
          </a:p>
        </p:txBody>
      </p:sp>
      <p:sp>
        <p:nvSpPr>
          <p:cNvPr id="582" name="Google Shape;582;p80"/>
          <p:cNvSpPr/>
          <p:nvPr/>
        </p:nvSpPr>
        <p:spPr>
          <a:xfrm>
            <a:off x="4683703" y="2984891"/>
            <a:ext cx="1690254" cy="1205388"/>
          </a:xfrm>
          <a:prstGeom prst="irregularSeal1">
            <a:avLst/>
          </a:prstGeom>
          <a:solidFill>
            <a:schemeClr val="accent5"/>
          </a:solidFill>
          <a:ln cap="flat" cmpd="sng" w="9525">
            <a:solidFill>
              <a:srgbClr val="42719B"/>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1400" u="none" cap="none" strike="noStrike">
                <a:solidFill>
                  <a:schemeClr val="dk1"/>
                </a:solidFill>
                <a:latin typeface="Calibri"/>
                <a:ea typeface="Calibri"/>
                <a:cs typeface="Calibri"/>
                <a:sym typeface="Calibri"/>
              </a:rPr>
              <a:t>Test data</a:t>
            </a:r>
            <a:endParaRPr b="0" i="0" sz="1400" u="none" cap="none" strike="noStrike">
              <a:solidFill>
                <a:schemeClr val="dk1"/>
              </a:solidFill>
              <a:latin typeface="Calibri"/>
              <a:ea typeface="Calibri"/>
              <a:cs typeface="Calibri"/>
              <a:sym typeface="Calibri"/>
            </a:endParaRPr>
          </a:p>
        </p:txBody>
      </p:sp>
      <p:sp>
        <p:nvSpPr>
          <p:cNvPr id="583" name="Google Shape;583;p80"/>
          <p:cNvSpPr/>
          <p:nvPr/>
        </p:nvSpPr>
        <p:spPr>
          <a:xfrm>
            <a:off x="7405250" y="3376325"/>
            <a:ext cx="1578600" cy="1648500"/>
          </a:xfrm>
          <a:prstGeom prst="foldedCorner">
            <a:avLst>
              <a:gd fmla="val 16667" name="adj"/>
            </a:avLst>
          </a:prstGeom>
          <a:gradFill>
            <a:gsLst>
              <a:gs pos="0">
                <a:srgbClr val="7FB75F"/>
              </a:gs>
              <a:gs pos="50000">
                <a:srgbClr val="6FB241"/>
              </a:gs>
              <a:gs pos="100000">
                <a:srgbClr val="5FA134"/>
              </a:gs>
            </a:gsLst>
            <a:lin ang="5400012" scaled="0"/>
          </a:gradFill>
          <a:ln>
            <a:noFill/>
          </a:ln>
          <a:effectLst>
            <a:outerShdw blurRad="42863" rotWithShape="0" algn="ctr" dir="5400000" dist="14288">
              <a:srgbClr val="000000">
                <a:alpha val="6314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1400" u="sng" cap="none" strike="noStrike">
                <a:solidFill>
                  <a:srgbClr val="000081"/>
                </a:solidFill>
                <a:latin typeface="Arial"/>
                <a:ea typeface="Arial"/>
                <a:cs typeface="Arial"/>
                <a:sym typeface="Arial"/>
              </a:rPr>
              <a:t>Model Accuracy</a:t>
            </a:r>
            <a:endParaRPr sz="1100"/>
          </a:p>
          <a:p>
            <a:pPr indent="0" lvl="0" marL="0" marR="0" rtl="0" algn="ctr">
              <a:spcBef>
                <a:spcPts val="0"/>
              </a:spcBef>
              <a:spcAft>
                <a:spcPts val="0"/>
              </a:spcAft>
              <a:buNone/>
            </a:pPr>
            <a:r>
              <a:t/>
            </a:r>
            <a:endParaRPr b="0" i="0" sz="1400" u="sng" cap="none" strike="noStrike">
              <a:solidFill>
                <a:srgbClr val="002060"/>
              </a:solidFill>
              <a:latin typeface="Calibri"/>
              <a:ea typeface="Calibri"/>
              <a:cs typeface="Calibri"/>
              <a:sym typeface="Calibri"/>
            </a:endParaRPr>
          </a:p>
          <a:p>
            <a:pPr indent="0" lvl="0" marL="0" marR="0" rtl="0" algn="ctr">
              <a:spcBef>
                <a:spcPts val="0"/>
              </a:spcBef>
              <a:spcAft>
                <a:spcPts val="0"/>
              </a:spcAft>
              <a:buNone/>
            </a:pPr>
            <a:r>
              <a:rPr b="0" i="0" lang="en" sz="1400" u="none" cap="none" strike="noStrike">
                <a:solidFill>
                  <a:srgbClr val="002060"/>
                </a:solidFill>
                <a:latin typeface="Calibri"/>
                <a:ea typeface="Calibri"/>
                <a:cs typeface="Calibri"/>
                <a:sym typeface="Calibri"/>
              </a:rPr>
              <a:t>Likelihood</a:t>
            </a:r>
            <a:endParaRPr sz="1100"/>
          </a:p>
          <a:p>
            <a:pPr indent="0" lvl="0" marL="0" marR="0" rtl="0" algn="ctr">
              <a:spcBef>
                <a:spcPts val="0"/>
              </a:spcBef>
              <a:spcAft>
                <a:spcPts val="0"/>
              </a:spcAft>
              <a:buNone/>
            </a:pPr>
            <a:r>
              <a:rPr b="0" i="0" lang="en" sz="1400" u="none" cap="none" strike="noStrike">
                <a:solidFill>
                  <a:srgbClr val="002060"/>
                </a:solidFill>
                <a:latin typeface="Calibri"/>
                <a:ea typeface="Calibri"/>
                <a:cs typeface="Calibri"/>
                <a:sym typeface="Calibri"/>
              </a:rPr>
              <a:t>Log likelihood</a:t>
            </a:r>
            <a:endParaRPr sz="1100"/>
          </a:p>
          <a:p>
            <a:pPr indent="0" lvl="0" marL="0" marR="0" rtl="0" algn="ctr">
              <a:spcBef>
                <a:spcPts val="0"/>
              </a:spcBef>
              <a:spcAft>
                <a:spcPts val="0"/>
              </a:spcAft>
              <a:buNone/>
            </a:pPr>
            <a:r>
              <a:rPr b="0" i="0" lang="en" sz="1400" u="none" cap="none" strike="noStrike">
                <a:solidFill>
                  <a:srgbClr val="002060"/>
                </a:solidFill>
                <a:latin typeface="Calibri"/>
                <a:ea typeface="Calibri"/>
                <a:cs typeface="Calibri"/>
                <a:sym typeface="Calibri"/>
              </a:rPr>
              <a:t>Perplexity</a:t>
            </a:r>
            <a:endParaRPr b="0" i="0" sz="1400" u="none" cap="none" strike="noStrike">
              <a:solidFill>
                <a:srgbClr val="002060"/>
              </a:solidFill>
              <a:latin typeface="Calibri"/>
              <a:ea typeface="Calibri"/>
              <a:cs typeface="Calibri"/>
              <a:sym typeface="Calibri"/>
            </a:endParaRPr>
          </a:p>
        </p:txBody>
      </p:sp>
      <p:cxnSp>
        <p:nvCxnSpPr>
          <p:cNvPr id="584" name="Google Shape;584;p80"/>
          <p:cNvCxnSpPr>
            <a:stCxn id="581" idx="3"/>
            <a:endCxn id="580" idx="2"/>
          </p:cNvCxnSpPr>
          <p:nvPr/>
        </p:nvCxnSpPr>
        <p:spPr>
          <a:xfrm flipH="1" rot="10800000">
            <a:off x="2542310" y="2426889"/>
            <a:ext cx="1156800" cy="485700"/>
          </a:xfrm>
          <a:prstGeom prst="straightConnector1">
            <a:avLst/>
          </a:prstGeom>
          <a:noFill/>
          <a:ln cap="flat" cmpd="sng" w="7150">
            <a:solidFill>
              <a:schemeClr val="dk1"/>
            </a:solidFill>
            <a:prstDash val="solid"/>
            <a:miter lim="8000"/>
            <a:headEnd len="sm" w="sm" type="none"/>
            <a:tailEnd len="med" w="med" type="triangle"/>
          </a:ln>
        </p:spPr>
      </p:cxnSp>
      <p:cxnSp>
        <p:nvCxnSpPr>
          <p:cNvPr id="585" name="Google Shape;585;p80"/>
          <p:cNvCxnSpPr>
            <a:stCxn id="580" idx="4"/>
          </p:cNvCxnSpPr>
          <p:nvPr/>
        </p:nvCxnSpPr>
        <p:spPr>
          <a:xfrm>
            <a:off x="4683702" y="2426868"/>
            <a:ext cx="636600" cy="669600"/>
          </a:xfrm>
          <a:prstGeom prst="straightConnector1">
            <a:avLst/>
          </a:prstGeom>
          <a:noFill/>
          <a:ln cap="flat" cmpd="sng" w="7150">
            <a:solidFill>
              <a:schemeClr val="dk1"/>
            </a:solidFill>
            <a:prstDash val="solid"/>
            <a:miter lim="8000"/>
            <a:headEnd len="sm" w="sm" type="none"/>
            <a:tailEnd len="med" w="med" type="triangle"/>
          </a:ln>
        </p:spPr>
      </p:cxnSp>
      <p:cxnSp>
        <p:nvCxnSpPr>
          <p:cNvPr id="586" name="Google Shape;586;p80"/>
          <p:cNvCxnSpPr>
            <a:stCxn id="582" idx="3"/>
          </p:cNvCxnSpPr>
          <p:nvPr/>
        </p:nvCxnSpPr>
        <p:spPr>
          <a:xfrm>
            <a:off x="6373957" y="3726540"/>
            <a:ext cx="1031400" cy="536400"/>
          </a:xfrm>
          <a:prstGeom prst="bentConnector3">
            <a:avLst>
              <a:gd fmla="val 49995" name="adj1"/>
            </a:avLst>
          </a:prstGeom>
          <a:noFill/>
          <a:ln cap="flat" cmpd="sng" w="7150">
            <a:solidFill>
              <a:schemeClr val="dk1"/>
            </a:solidFill>
            <a:prstDash val="solid"/>
            <a:miter lim="8000"/>
            <a:headEnd len="sm" w="sm" type="none"/>
            <a:tailEnd len="med" w="med" type="triangle"/>
          </a:ln>
        </p:spPr>
      </p:cxnSp>
      <p:sp>
        <p:nvSpPr>
          <p:cNvPr id="587" name="Google Shape;587;p80"/>
          <p:cNvSpPr/>
          <p:nvPr/>
        </p:nvSpPr>
        <p:spPr>
          <a:xfrm>
            <a:off x="6373957" y="277853"/>
            <a:ext cx="2438400" cy="1350900"/>
          </a:xfrm>
          <a:prstGeom prst="cloudCallout">
            <a:avLst>
              <a:gd fmla="val -20833" name="adj1"/>
              <a:gd fmla="val 62500" name="adj2"/>
            </a:avLst>
          </a:prstGeom>
          <a:gradFill>
            <a:gsLst>
              <a:gs pos="0">
                <a:srgbClr val="6E6E6E"/>
              </a:gs>
              <a:gs pos="48000">
                <a:srgbClr val="A7A7A7"/>
              </a:gs>
              <a:gs pos="100000">
                <a:srgbClr val="C9C9C9"/>
              </a:gs>
            </a:gsLst>
            <a:lin ang="16200038"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1400" u="none" cap="none" strike="noStrike">
                <a:solidFill>
                  <a:srgbClr val="FF0000"/>
                </a:solidFill>
                <a:latin typeface="Arial"/>
                <a:ea typeface="Arial"/>
                <a:cs typeface="Arial"/>
                <a:sym typeface="Arial"/>
              </a:rPr>
              <a:t>Don’t train on the test corpus!</a:t>
            </a:r>
            <a:endParaRPr b="0" i="0" sz="14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1822"/>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Evaluating n-gram models</a:t>
            </a:r>
            <a:endParaRPr/>
          </a:p>
        </p:txBody>
      </p:sp>
      <p:sp>
        <p:nvSpPr>
          <p:cNvPr id="593" name="Google Shape;593;p8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Extrinsic evaluation</a:t>
            </a:r>
            <a:endParaRPr/>
          </a:p>
          <a:p>
            <a:pPr indent="-177800" lvl="1" marL="520700" rtl="0" algn="l">
              <a:lnSpc>
                <a:spcPct val="90000"/>
              </a:lnSpc>
              <a:spcBef>
                <a:spcPts val="400"/>
              </a:spcBef>
              <a:spcAft>
                <a:spcPts val="0"/>
              </a:spcAft>
              <a:buClr>
                <a:schemeClr val="dk1"/>
              </a:buClr>
              <a:buSzPts val="1800"/>
              <a:buChar char="○"/>
            </a:pPr>
            <a:r>
              <a:rPr lang="en"/>
              <a:t>Performance on a application oriented task</a:t>
            </a:r>
            <a:endParaRPr/>
          </a:p>
          <a:p>
            <a:pPr indent="-63500" lvl="1" marL="520700" rtl="0" algn="l">
              <a:lnSpc>
                <a:spcPct val="90000"/>
              </a:lnSpc>
              <a:spcBef>
                <a:spcPts val="400"/>
              </a:spcBef>
              <a:spcAft>
                <a:spcPts val="0"/>
              </a:spcAft>
              <a:buClr>
                <a:schemeClr val="dk1"/>
              </a:buClr>
              <a:buSzPts val="1800"/>
              <a:buNone/>
            </a:pPr>
            <a:r>
              <a:t/>
            </a:r>
            <a:endParaRPr/>
          </a:p>
          <a:p>
            <a:pPr indent="-63500" lvl="1" marL="520700" rtl="0" algn="l">
              <a:lnSpc>
                <a:spcPct val="90000"/>
              </a:lnSpc>
              <a:spcBef>
                <a:spcPts val="400"/>
              </a:spcBef>
              <a:spcAft>
                <a:spcPts val="0"/>
              </a:spcAft>
              <a:buClr>
                <a:schemeClr val="dk1"/>
              </a:buClr>
              <a:buSzPts val="1800"/>
              <a:buNone/>
            </a:pPr>
            <a:r>
              <a:t/>
            </a:r>
            <a:endParaRPr/>
          </a:p>
          <a:p>
            <a:pPr indent="-171450" lvl="0" marL="177800" rtl="0" algn="l">
              <a:lnSpc>
                <a:spcPct val="90000"/>
              </a:lnSpc>
              <a:spcBef>
                <a:spcPts val="800"/>
              </a:spcBef>
              <a:spcAft>
                <a:spcPts val="0"/>
              </a:spcAft>
              <a:buClr>
                <a:schemeClr val="dk1"/>
              </a:buClr>
              <a:buSzPts val="2100"/>
              <a:buChar char="●"/>
            </a:pPr>
            <a:r>
              <a:rPr lang="en"/>
              <a:t>Intrinsic evaluation</a:t>
            </a:r>
            <a:endParaRPr/>
          </a:p>
          <a:p>
            <a:pPr indent="-177800" lvl="1" marL="520700" rtl="0" algn="l">
              <a:lnSpc>
                <a:spcPct val="90000"/>
              </a:lnSpc>
              <a:spcBef>
                <a:spcPts val="400"/>
              </a:spcBef>
              <a:spcAft>
                <a:spcPts val="0"/>
              </a:spcAft>
              <a:buClr>
                <a:schemeClr val="dk1"/>
              </a:buClr>
              <a:buSzPts val="1800"/>
              <a:buChar char="○"/>
            </a:pPr>
            <a:r>
              <a:rPr lang="en"/>
              <a:t>Measure quality independent of any application</a:t>
            </a:r>
            <a:endParaRPr/>
          </a:p>
          <a:p>
            <a:pPr indent="-177800" lvl="1" marL="520700" rtl="0" algn="l">
              <a:lnSpc>
                <a:spcPct val="90000"/>
              </a:lnSpc>
              <a:spcBef>
                <a:spcPts val="400"/>
              </a:spcBef>
              <a:spcAft>
                <a:spcPts val="1200"/>
              </a:spcAft>
              <a:buClr>
                <a:schemeClr val="dk1"/>
              </a:buClr>
              <a:buSzPts val="1800"/>
              <a:buChar char="○"/>
            </a:pPr>
            <a:r>
              <a:rPr lang="en"/>
              <a:t>Perplexity (PP or PPL)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Model Accuracy</a:t>
            </a:r>
            <a:endParaRPr/>
          </a:p>
        </p:txBody>
      </p:sp>
      <p:sp>
        <p:nvSpPr>
          <p:cNvPr id="599" name="Google Shape;599;p8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b="1" lang="en"/>
              <a:t>Likelihood:</a:t>
            </a:r>
            <a:r>
              <a:rPr lang="en"/>
              <a:t> </a:t>
            </a:r>
            <a:r>
              <a:rPr lang="en">
                <a:solidFill>
                  <a:srgbClr val="000000"/>
                </a:solidFill>
              </a:rPr>
              <a:t>T</a:t>
            </a:r>
            <a:r>
              <a:rPr b="0" i="0" lang="en" u="none" strike="noStrike">
                <a:solidFill>
                  <a:srgbClr val="000000"/>
                </a:solidFill>
              </a:rPr>
              <a:t>he </a:t>
            </a:r>
            <a:r>
              <a:rPr b="0" i="0" lang="en" u="none" strike="noStrike">
                <a:solidFill>
                  <a:srgbClr val="000081"/>
                </a:solidFill>
              </a:rPr>
              <a:t>probability of some observed data </a:t>
            </a:r>
            <a:r>
              <a:rPr b="0" i="0" lang="en" u="none" strike="noStrike">
                <a:solidFill>
                  <a:srgbClr val="000000"/>
                </a:solidFill>
              </a:rPr>
              <a:t>(the test set W</a:t>
            </a:r>
            <a:r>
              <a:rPr b="0" baseline="-25000" i="0" lang="en" u="none" strike="noStrike">
                <a:solidFill>
                  <a:srgbClr val="000000"/>
                </a:solidFill>
              </a:rPr>
              <a:t>test</a:t>
            </a:r>
            <a:r>
              <a:rPr b="0" i="0" lang="en" u="none" strike="noStrike">
                <a:solidFill>
                  <a:srgbClr val="000000"/>
                </a:solidFill>
              </a:rPr>
              <a:t>), </a:t>
            </a:r>
            <a:r>
              <a:rPr b="0" i="0" lang="en" u="none" strike="noStrike">
                <a:solidFill>
                  <a:srgbClr val="000081"/>
                </a:solidFill>
              </a:rPr>
              <a:t>given the </a:t>
            </a:r>
            <a:r>
              <a:rPr b="0" i="0" lang="en" u="none" strike="noStrike">
                <a:solidFill>
                  <a:srgbClr val="FF0000"/>
                </a:solidFill>
              </a:rPr>
              <a:t>model M</a:t>
            </a:r>
            <a:endParaRPr/>
          </a:p>
          <a:p>
            <a:pPr indent="-38100" lvl="0" marL="177800" rtl="0" algn="l">
              <a:lnSpc>
                <a:spcPct val="90000"/>
              </a:lnSpc>
              <a:spcBef>
                <a:spcPts val="800"/>
              </a:spcBef>
              <a:spcAft>
                <a:spcPts val="0"/>
              </a:spcAft>
              <a:buClr>
                <a:schemeClr val="dk1"/>
              </a:buClr>
              <a:buSzPts val="2100"/>
              <a:buNone/>
            </a:pPr>
            <a:r>
              <a:t/>
            </a:r>
            <a:endParaRPr b="0" i="0" u="none" strike="noStrike">
              <a:solidFill>
                <a:srgbClr val="000081"/>
              </a:solidFill>
            </a:endParaRPr>
          </a:p>
          <a:p>
            <a:pPr indent="-38100" lvl="0" marL="177800" rtl="0" algn="l">
              <a:lnSpc>
                <a:spcPct val="90000"/>
              </a:lnSpc>
              <a:spcBef>
                <a:spcPts val="800"/>
              </a:spcBef>
              <a:spcAft>
                <a:spcPts val="0"/>
              </a:spcAft>
              <a:buClr>
                <a:schemeClr val="dk1"/>
              </a:buClr>
              <a:buSzPts val="2100"/>
              <a:buNone/>
            </a:pPr>
            <a:r>
              <a:t/>
            </a:r>
            <a:endParaRPr>
              <a:solidFill>
                <a:srgbClr val="000081"/>
              </a:solidFill>
            </a:endParaRPr>
          </a:p>
          <a:p>
            <a:pPr indent="-171450" lvl="0" marL="177800" rtl="0" algn="l">
              <a:lnSpc>
                <a:spcPct val="90000"/>
              </a:lnSpc>
              <a:spcBef>
                <a:spcPts val="800"/>
              </a:spcBef>
              <a:spcAft>
                <a:spcPts val="0"/>
              </a:spcAft>
              <a:buClr>
                <a:schemeClr val="dk1"/>
              </a:buClr>
              <a:buSzPts val="2100"/>
              <a:buChar char="●"/>
            </a:pPr>
            <a:r>
              <a:rPr b="1" i="0" lang="en" u="none" strike="noStrike"/>
              <a:t>Log likelihood:</a:t>
            </a:r>
            <a:r>
              <a:rPr b="0" i="0" lang="en" u="none" strike="noStrike"/>
              <a:t> </a:t>
            </a:r>
            <a:endParaRPr/>
          </a:p>
          <a:p>
            <a:pPr indent="-171450" lvl="1" marL="520700" rtl="0" algn="l">
              <a:lnSpc>
                <a:spcPct val="90000"/>
              </a:lnSpc>
              <a:spcBef>
                <a:spcPts val="400"/>
              </a:spcBef>
              <a:spcAft>
                <a:spcPts val="0"/>
              </a:spcAft>
              <a:buClr>
                <a:srgbClr val="000000"/>
              </a:buClr>
              <a:buSzPts val="1500"/>
              <a:buChar char="○"/>
            </a:pPr>
            <a:r>
              <a:rPr b="0" i="0" lang="en" sz="1500" u="none" strike="noStrike">
                <a:solidFill>
                  <a:srgbClr val="000000"/>
                </a:solidFill>
                <a:latin typeface="Arial"/>
                <a:ea typeface="Arial"/>
                <a:cs typeface="Arial"/>
                <a:sym typeface="Arial"/>
              </a:rPr>
              <a:t>Likelihood uses </a:t>
            </a:r>
            <a:r>
              <a:rPr b="0" i="0" lang="en" sz="1500" u="none" strike="noStrike">
                <a:solidFill>
                  <a:srgbClr val="000081"/>
                </a:solidFill>
                <a:latin typeface="Arial"/>
                <a:ea typeface="Arial"/>
                <a:cs typeface="Arial"/>
                <a:sym typeface="Arial"/>
              </a:rPr>
              <a:t>very small numbers </a:t>
            </a:r>
            <a:r>
              <a:rPr b="0" i="0" lang="en" sz="1500" u="none" strike="noStrike">
                <a:solidFill>
                  <a:srgbClr val="000000"/>
                </a:solidFill>
                <a:latin typeface="Arial"/>
                <a:ea typeface="Arial"/>
                <a:cs typeface="Arial"/>
                <a:sym typeface="Arial"/>
              </a:rPr>
              <a:t>= underflow</a:t>
            </a:r>
            <a:endParaRPr/>
          </a:p>
          <a:p>
            <a:pPr indent="-171450" lvl="1" marL="520700" rtl="0" algn="l">
              <a:lnSpc>
                <a:spcPct val="90000"/>
              </a:lnSpc>
              <a:spcBef>
                <a:spcPts val="400"/>
              </a:spcBef>
              <a:spcAft>
                <a:spcPts val="1200"/>
              </a:spcAft>
              <a:buClr>
                <a:schemeClr val="dk1"/>
              </a:buClr>
              <a:buSzPts val="1500"/>
              <a:buChar char="○"/>
            </a:pPr>
            <a:r>
              <a:rPr b="0" i="0" lang="en" sz="1500" u="none" strike="noStrike">
                <a:latin typeface="Arial"/>
                <a:ea typeface="Arial"/>
                <a:cs typeface="Arial"/>
                <a:sym typeface="Arial"/>
              </a:rPr>
              <a:t>Taking the log resolves this problem</a:t>
            </a:r>
            <a:endParaRPr b="0" i="0" sz="2100" u="none" strike="noStrike">
              <a:solidFill>
                <a:srgbClr val="000081"/>
              </a:solidFill>
            </a:endParaRPr>
          </a:p>
        </p:txBody>
      </p:sp>
      <p:pic>
        <p:nvPicPr>
          <p:cNvPr id="600" name="Google Shape;600;p82"/>
          <p:cNvPicPr preferRelativeResize="0"/>
          <p:nvPr/>
        </p:nvPicPr>
        <p:blipFill rotWithShape="1">
          <a:blip r:embed="rId3">
            <a:alphaModFix/>
          </a:blip>
          <a:srcRect b="0" l="0" r="0" t="0"/>
          <a:stretch/>
        </p:blipFill>
        <p:spPr>
          <a:xfrm>
            <a:off x="2686050" y="2161244"/>
            <a:ext cx="3296517" cy="511168"/>
          </a:xfrm>
          <a:prstGeom prst="rect">
            <a:avLst/>
          </a:prstGeom>
          <a:noFill/>
          <a:ln>
            <a:noFill/>
          </a:ln>
        </p:spPr>
      </p:pic>
      <p:pic>
        <p:nvPicPr>
          <p:cNvPr id="601" name="Google Shape;601;p82"/>
          <p:cNvPicPr preferRelativeResize="0"/>
          <p:nvPr/>
        </p:nvPicPr>
        <p:blipFill rotWithShape="1">
          <a:blip r:embed="rId4">
            <a:alphaModFix/>
          </a:blip>
          <a:srcRect b="0" l="0" r="0" t="0"/>
          <a:stretch/>
        </p:blipFill>
        <p:spPr>
          <a:xfrm>
            <a:off x="2369126" y="3815079"/>
            <a:ext cx="4039466" cy="4528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8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Model Accuracy</a:t>
            </a:r>
            <a:endParaRPr/>
          </a:p>
        </p:txBody>
      </p:sp>
      <p:sp>
        <p:nvSpPr>
          <p:cNvPr id="607" name="Google Shape;607;p83"/>
          <p:cNvSpPr txBox="1"/>
          <p:nvPr>
            <p:ph idx="1" type="body"/>
          </p:nvPr>
        </p:nvSpPr>
        <p:spPr>
          <a:xfrm>
            <a:off x="628650" y="1675600"/>
            <a:ext cx="8252100" cy="3263400"/>
          </a:xfrm>
          <a:prstGeom prst="rect">
            <a:avLst/>
          </a:prstGeom>
          <a:blipFill rotWithShape="1">
            <a:blip r:embed="rId3">
              <a:alphaModFix/>
            </a:blip>
            <a:stretch>
              <a:fillRect b="0" l="-1000" r="0" t="-2240"/>
            </a:stretch>
          </a:blipFill>
          <a:ln>
            <a:noFill/>
          </a:ln>
        </p:spPr>
        <p:txBody>
          <a:bodyPr anchorCtr="0" anchor="t" bIns="34275" lIns="68575" spcFirstLastPara="1" rIns="68575" wrap="square" tIns="34275">
            <a:normAutofit/>
          </a:bodyPr>
          <a:lstStyle/>
          <a:p>
            <a:pPr indent="0" lvl="0" marL="177800" rtl="0" algn="l">
              <a:lnSpc>
                <a:spcPct val="90000"/>
              </a:lnSpc>
              <a:spcBef>
                <a:spcPts val="0"/>
              </a:spcBef>
              <a:spcAft>
                <a:spcPts val="1200"/>
              </a:spcAft>
              <a:buNone/>
            </a:pPr>
            <a:r>
              <a:rPr lang="en"/>
              <a:t> </a:t>
            </a:r>
            <a:endParaRPr/>
          </a:p>
        </p:txBody>
      </p:sp>
      <p:sp>
        <p:nvSpPr>
          <p:cNvPr id="608" name="Google Shape;608;p83"/>
          <p:cNvSpPr/>
          <p:nvPr/>
        </p:nvSpPr>
        <p:spPr>
          <a:xfrm>
            <a:off x="5980125" y="141325"/>
            <a:ext cx="3090900" cy="128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9" name="Google Shape;609;p83"/>
          <p:cNvSpPr txBox="1"/>
          <p:nvPr/>
        </p:nvSpPr>
        <p:spPr>
          <a:xfrm>
            <a:off x="6071000" y="7027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And the perplexity of two language models is only comparable if they use identical vocabularies </a:t>
            </a:r>
            <a:endParaRPr/>
          </a:p>
        </p:txBody>
      </p:sp>
      <p:pic>
        <p:nvPicPr>
          <p:cNvPr id="610" name="Google Shape;610;p83"/>
          <p:cNvPicPr preferRelativeResize="0"/>
          <p:nvPr/>
        </p:nvPicPr>
        <p:blipFill>
          <a:blip r:embed="rId4">
            <a:alphaModFix/>
          </a:blip>
          <a:stretch>
            <a:fillRect/>
          </a:stretch>
        </p:blipFill>
        <p:spPr>
          <a:xfrm>
            <a:off x="6067555" y="826288"/>
            <a:ext cx="2876550" cy="542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Model Performance</a:t>
            </a:r>
            <a:endParaRPr/>
          </a:p>
        </p:txBody>
      </p:sp>
      <p:sp>
        <p:nvSpPr>
          <p:cNvPr id="616" name="Google Shape;616;p8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N-gram model performs well for test corpora that happen to be alike training corpus</a:t>
            </a:r>
            <a:endParaRPr/>
          </a:p>
          <a:p>
            <a:pPr indent="-177800" lvl="1" marL="520700" rtl="0" algn="l">
              <a:lnSpc>
                <a:spcPct val="90000"/>
              </a:lnSpc>
              <a:spcBef>
                <a:spcPts val="400"/>
              </a:spcBef>
              <a:spcAft>
                <a:spcPts val="0"/>
              </a:spcAft>
              <a:buClr>
                <a:srgbClr val="FF0000"/>
              </a:buClr>
              <a:buSzPts val="1800"/>
              <a:buChar char="○"/>
            </a:pPr>
            <a:r>
              <a:rPr lang="en">
                <a:solidFill>
                  <a:srgbClr val="FF0000"/>
                </a:solidFill>
              </a:rPr>
              <a:t>In real life, that’s not the case!</a:t>
            </a:r>
            <a:endParaRPr/>
          </a:p>
          <a:p>
            <a:pPr indent="-38100" lvl="0" marL="177800" rtl="0" algn="l">
              <a:lnSpc>
                <a:spcPct val="90000"/>
              </a:lnSpc>
              <a:spcBef>
                <a:spcPts val="800"/>
              </a:spcBef>
              <a:spcAft>
                <a:spcPts val="0"/>
              </a:spcAft>
              <a:buClr>
                <a:schemeClr val="dk1"/>
              </a:buClr>
              <a:buSzPts val="2100"/>
              <a:buNone/>
            </a:pPr>
            <a:r>
              <a:t/>
            </a:r>
            <a:endParaRPr/>
          </a:p>
          <a:p>
            <a:pPr indent="-171450" lvl="0" marL="177800" rtl="0" algn="l">
              <a:lnSpc>
                <a:spcPct val="90000"/>
              </a:lnSpc>
              <a:spcBef>
                <a:spcPts val="800"/>
              </a:spcBef>
              <a:spcAft>
                <a:spcPts val="0"/>
              </a:spcAft>
              <a:buClr>
                <a:schemeClr val="dk1"/>
              </a:buClr>
              <a:buSzPts val="2100"/>
              <a:buChar char="●"/>
            </a:pPr>
            <a:r>
              <a:rPr b="1" lang="en"/>
              <a:t>Goal --</a:t>
            </a:r>
            <a:r>
              <a:rPr lang="en"/>
              <a:t> Build a robust model that generalizes well</a:t>
            </a:r>
            <a:endParaRPr/>
          </a:p>
          <a:p>
            <a:pPr indent="-38100" lvl="0" marL="177800" rtl="0" algn="l">
              <a:lnSpc>
                <a:spcPct val="90000"/>
              </a:lnSpc>
              <a:spcBef>
                <a:spcPts val="800"/>
              </a:spcBef>
              <a:spcAft>
                <a:spcPts val="0"/>
              </a:spcAft>
              <a:buClr>
                <a:schemeClr val="dk1"/>
              </a:buClr>
              <a:buSzPts val="2100"/>
              <a:buNone/>
            </a:pPr>
            <a:r>
              <a:t/>
            </a:r>
            <a:endParaRPr/>
          </a:p>
          <a:p>
            <a:pPr indent="-171450" lvl="0" marL="177800" rtl="0" algn="l">
              <a:lnSpc>
                <a:spcPct val="90000"/>
              </a:lnSpc>
              <a:spcBef>
                <a:spcPts val="800"/>
              </a:spcBef>
              <a:spcAft>
                <a:spcPts val="1200"/>
              </a:spcAft>
              <a:buClr>
                <a:srgbClr val="FF0000"/>
              </a:buClr>
              <a:buSzPts val="2100"/>
              <a:buChar char="●"/>
            </a:pPr>
            <a:r>
              <a:rPr lang="en">
                <a:solidFill>
                  <a:srgbClr val="FF0000"/>
                </a:solidFill>
              </a:rPr>
              <a:t>Problems of Zeros!</a:t>
            </a:r>
            <a:endParaRPr>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8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Problems of Zeros</a:t>
            </a:r>
            <a:endParaRPr/>
          </a:p>
        </p:txBody>
      </p:sp>
      <p:pic>
        <p:nvPicPr>
          <p:cNvPr id="622" name="Google Shape;622;p85"/>
          <p:cNvPicPr preferRelativeResize="0"/>
          <p:nvPr>
            <p:ph idx="1" type="body"/>
          </p:nvPr>
        </p:nvPicPr>
        <p:blipFill rotWithShape="1">
          <a:blip r:embed="rId3">
            <a:alphaModFix/>
          </a:blip>
          <a:srcRect b="0" l="0" r="0" t="0"/>
          <a:stretch/>
        </p:blipFill>
        <p:spPr>
          <a:xfrm>
            <a:off x="892969" y="1547111"/>
            <a:ext cx="7358100" cy="2686200"/>
          </a:xfrm>
          <a:prstGeom prst="rect">
            <a:avLst/>
          </a:prstGeom>
          <a:noFill/>
          <a:ln>
            <a:noFill/>
          </a:ln>
        </p:spPr>
      </p:pic>
      <p:sp>
        <p:nvSpPr>
          <p:cNvPr id="623" name="Google Shape;623;p85"/>
          <p:cNvSpPr txBox="1"/>
          <p:nvPr/>
        </p:nvSpPr>
        <p:spPr>
          <a:xfrm>
            <a:off x="836762" y="4382500"/>
            <a:ext cx="7795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cap="none" strike="noStrike">
                <a:solidFill>
                  <a:schemeClr val="dk1"/>
                </a:solidFill>
                <a:latin typeface="Calibri"/>
                <a:ea typeface="Calibri"/>
                <a:cs typeface="Calibri"/>
                <a:sym typeface="Calibri"/>
              </a:rPr>
              <a:t>Bigram counts</a:t>
            </a:r>
            <a:r>
              <a:rPr b="0" i="0" lang="en" sz="1400" u="none" cap="none" strike="noStrike">
                <a:solidFill>
                  <a:srgbClr val="002060"/>
                </a:solidFill>
                <a:latin typeface="Calibri"/>
                <a:ea typeface="Calibri"/>
                <a:cs typeface="Calibri"/>
                <a:sym typeface="Calibri"/>
              </a:rPr>
              <a:t> from 9222 sentences </a:t>
            </a:r>
            <a:r>
              <a:rPr b="0" i="0" lang="en" sz="1400" u="none" cap="none" strike="noStrike">
                <a:solidFill>
                  <a:schemeClr val="dk1"/>
                </a:solidFill>
                <a:latin typeface="Arial"/>
                <a:ea typeface="Arial"/>
                <a:cs typeface="Arial"/>
                <a:sym typeface="Arial"/>
              </a:rPr>
              <a:t>from the Berkeley Restaurant Project (Refer Ch-3, SLP Book)</a:t>
            </a:r>
            <a:endParaRPr b="0" i="0" sz="1400" u="none" cap="none" strike="noStrike">
              <a:solidFill>
                <a:srgbClr val="002060"/>
              </a:solidFill>
              <a:latin typeface="Calibri"/>
              <a:ea typeface="Calibri"/>
              <a:cs typeface="Calibri"/>
              <a:sym typeface="Calibri"/>
            </a:endParaRPr>
          </a:p>
        </p:txBody>
      </p:sp>
      <p:sp>
        <p:nvSpPr>
          <p:cNvPr id="624" name="Google Shape;624;p85"/>
          <p:cNvSpPr/>
          <p:nvPr/>
        </p:nvSpPr>
        <p:spPr>
          <a:xfrm>
            <a:off x="6019799" y="197647"/>
            <a:ext cx="2791800" cy="1102200"/>
          </a:xfrm>
          <a:prstGeom prst="cloudCallout">
            <a:avLst>
              <a:gd fmla="val -20833" name="adj1"/>
              <a:gd fmla="val 62500" name="adj2"/>
            </a:avLst>
          </a:prstGeom>
          <a:solidFill>
            <a:srgbClr val="8296B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u="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 sz="1400" u="none" strike="noStrike">
                <a:solidFill>
                  <a:srgbClr val="000000"/>
                </a:solidFill>
                <a:latin typeface="Arial"/>
                <a:ea typeface="Arial"/>
                <a:cs typeface="Arial"/>
                <a:sym typeface="Arial"/>
              </a:rPr>
              <a:t>Steal probability mass to generalize better!</a:t>
            </a:r>
            <a:endParaRPr sz="1100"/>
          </a:p>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500"/>
                                        <p:tgtEl>
                                          <p:spTgt spid="622"/>
                                        </p:tgtEl>
                                      </p:cBhvr>
                                    </p:animEffect>
                                  </p:childTnLst>
                                </p:cTn>
                              </p:par>
                              <p:par>
                                <p:cTn fill="hold" nodeType="withEffect" presetClass="entr" presetID="10" presetSubtype="0">
                                  <p:stCondLst>
                                    <p:cond delay="0"/>
                                  </p:stCondLst>
                                  <p:childTnLst>
                                    <p:set>
                                      <p:cBhvr>
                                        <p:cTn dur="1" fill="hold">
                                          <p:stCondLst>
                                            <p:cond delay="0"/>
                                          </p:stCondLst>
                                        </p:cTn>
                                        <p:tgtEl>
                                          <p:spTgt spid="623"/>
                                        </p:tgtEl>
                                        <p:attrNameLst>
                                          <p:attrName>style.visibility</p:attrName>
                                        </p:attrNameLst>
                                      </p:cBhvr>
                                      <p:to>
                                        <p:strVal val="visible"/>
                                      </p:to>
                                    </p:set>
                                    <p:animEffect filter="fade" transition="in">
                                      <p:cBhvr>
                                        <p:cTn dur="500"/>
                                        <p:tgtEl>
                                          <p:spTgt spid="6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8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Out of vocabulary (OOV) and rare words</a:t>
            </a:r>
            <a:endParaRPr/>
          </a:p>
        </p:txBody>
      </p:sp>
      <p:sp>
        <p:nvSpPr>
          <p:cNvPr id="630" name="Google Shape;630;p8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lnSpcReduction="20000"/>
          </a:bodyPr>
          <a:lstStyle/>
          <a:p>
            <a:pPr indent="-184150" lvl="0" marL="177800" rtl="0" algn="l">
              <a:lnSpc>
                <a:spcPct val="90000"/>
              </a:lnSpc>
              <a:spcBef>
                <a:spcPts val="0"/>
              </a:spcBef>
              <a:spcAft>
                <a:spcPts val="0"/>
              </a:spcAft>
              <a:buClr>
                <a:schemeClr val="dk1"/>
              </a:buClr>
              <a:buSzPts val="2100"/>
              <a:buChar char="●"/>
            </a:pPr>
            <a:r>
              <a:rPr lang="en"/>
              <a:t>Smoothing methods: Ensures </a:t>
            </a:r>
            <a:r>
              <a:rPr lang="en">
                <a:solidFill>
                  <a:srgbClr val="00B050"/>
                </a:solidFill>
              </a:rPr>
              <a:t>better</a:t>
            </a:r>
            <a:r>
              <a:rPr lang="en"/>
              <a:t> performance</a:t>
            </a:r>
            <a:endParaRPr/>
          </a:p>
          <a:p>
            <a:pPr indent="-190500" lvl="1" marL="520700" rtl="0" algn="l">
              <a:lnSpc>
                <a:spcPct val="90000"/>
              </a:lnSpc>
              <a:spcBef>
                <a:spcPts val="400"/>
              </a:spcBef>
              <a:spcAft>
                <a:spcPts val="0"/>
              </a:spcAft>
              <a:buClr>
                <a:schemeClr val="dk1"/>
              </a:buClr>
              <a:buSzPts val="1800"/>
              <a:buChar char="○"/>
            </a:pPr>
            <a:r>
              <a:rPr lang="en"/>
              <a:t>Add-1 or Laplace smoothing</a:t>
            </a:r>
            <a:endParaRPr/>
          </a:p>
          <a:p>
            <a:pPr indent="-190500" lvl="1" marL="520700" rtl="0" algn="l">
              <a:lnSpc>
                <a:spcPct val="90000"/>
              </a:lnSpc>
              <a:spcBef>
                <a:spcPts val="400"/>
              </a:spcBef>
              <a:spcAft>
                <a:spcPts val="0"/>
              </a:spcAft>
              <a:buClr>
                <a:schemeClr val="dk1"/>
              </a:buClr>
              <a:buSzPts val="1800"/>
              <a:buChar char="○"/>
            </a:pPr>
            <a:r>
              <a:rPr lang="en"/>
              <a:t>Absolute discounting</a:t>
            </a:r>
            <a:endParaRPr/>
          </a:p>
          <a:p>
            <a:pPr indent="-190500" lvl="1" marL="520700" rtl="0" algn="l">
              <a:lnSpc>
                <a:spcPct val="90000"/>
              </a:lnSpc>
              <a:spcBef>
                <a:spcPts val="400"/>
              </a:spcBef>
              <a:spcAft>
                <a:spcPts val="0"/>
              </a:spcAft>
              <a:buClr>
                <a:schemeClr val="dk1"/>
              </a:buClr>
              <a:buSzPts val="1800"/>
              <a:buChar char="○"/>
            </a:pPr>
            <a:r>
              <a:rPr lang="en"/>
              <a:t>Good-Turing discounting</a:t>
            </a:r>
            <a:endParaRPr/>
          </a:p>
          <a:p>
            <a:pPr indent="-190500" lvl="1" marL="520700" rtl="0" algn="l">
              <a:lnSpc>
                <a:spcPct val="90000"/>
              </a:lnSpc>
              <a:spcBef>
                <a:spcPts val="400"/>
              </a:spcBef>
              <a:spcAft>
                <a:spcPts val="0"/>
              </a:spcAft>
              <a:buClr>
                <a:schemeClr val="dk1"/>
              </a:buClr>
              <a:buSzPts val="1800"/>
              <a:buChar char="○"/>
            </a:pPr>
            <a:r>
              <a:rPr lang="en"/>
              <a:t>Witten-Bell discounting</a:t>
            </a:r>
            <a:endParaRPr/>
          </a:p>
          <a:p>
            <a:pPr indent="-190500" lvl="1" marL="520700" rtl="0" algn="l">
              <a:lnSpc>
                <a:spcPct val="90000"/>
              </a:lnSpc>
              <a:spcBef>
                <a:spcPts val="400"/>
              </a:spcBef>
              <a:spcAft>
                <a:spcPts val="0"/>
              </a:spcAft>
              <a:buClr>
                <a:schemeClr val="dk1"/>
              </a:buClr>
              <a:buSzPts val="1800"/>
              <a:buChar char="○"/>
            </a:pPr>
            <a:r>
              <a:rPr lang="en"/>
              <a:t>Kneser-Ney smoothing</a:t>
            </a:r>
            <a:endParaRPr/>
          </a:p>
          <a:p>
            <a:pPr indent="-76200" lvl="1" marL="520700" rtl="0" algn="l">
              <a:lnSpc>
                <a:spcPct val="90000"/>
              </a:lnSpc>
              <a:spcBef>
                <a:spcPts val="400"/>
              </a:spcBef>
              <a:spcAft>
                <a:spcPts val="0"/>
              </a:spcAft>
              <a:buClr>
                <a:schemeClr val="dk1"/>
              </a:buClr>
              <a:buSzPts val="1800"/>
              <a:buNone/>
            </a:pPr>
            <a:r>
              <a:t/>
            </a:r>
            <a:endParaRPr/>
          </a:p>
          <a:p>
            <a:pPr indent="-50800" lvl="0" marL="177800" rtl="0" algn="l">
              <a:lnSpc>
                <a:spcPct val="90000"/>
              </a:lnSpc>
              <a:spcBef>
                <a:spcPts val="800"/>
              </a:spcBef>
              <a:spcAft>
                <a:spcPts val="0"/>
              </a:spcAft>
              <a:buClr>
                <a:schemeClr val="dk1"/>
              </a:buClr>
              <a:buSzPts val="2100"/>
              <a:buNone/>
            </a:pPr>
            <a:r>
              <a:t/>
            </a:r>
            <a:endParaRPr/>
          </a:p>
          <a:p>
            <a:pPr indent="-184150" lvl="0" marL="177800" rtl="0" algn="l">
              <a:lnSpc>
                <a:spcPct val="90000"/>
              </a:lnSpc>
              <a:spcBef>
                <a:spcPts val="800"/>
              </a:spcBef>
              <a:spcAft>
                <a:spcPts val="0"/>
              </a:spcAft>
              <a:buClr>
                <a:schemeClr val="dk1"/>
              </a:buClr>
              <a:buSzPts val="2100"/>
              <a:buChar char="●"/>
            </a:pPr>
            <a:r>
              <a:rPr lang="en"/>
              <a:t>Various advance techniques have been developed to improve the language model performance</a:t>
            </a:r>
            <a:endParaRPr/>
          </a:p>
          <a:p>
            <a:pPr indent="-190500" lvl="1" marL="520700" rtl="0" algn="l">
              <a:lnSpc>
                <a:spcPct val="90000"/>
              </a:lnSpc>
              <a:spcBef>
                <a:spcPts val="400"/>
              </a:spcBef>
              <a:spcAft>
                <a:spcPts val="0"/>
              </a:spcAft>
              <a:buClr>
                <a:schemeClr val="dk1"/>
              </a:buClr>
              <a:buSzPts val="1800"/>
              <a:buChar char="○"/>
            </a:pPr>
            <a:r>
              <a:rPr lang="en"/>
              <a:t>Interpolation</a:t>
            </a:r>
            <a:endParaRPr/>
          </a:p>
          <a:p>
            <a:pPr indent="-190500" lvl="1" marL="520700" rtl="0" algn="l">
              <a:lnSpc>
                <a:spcPct val="90000"/>
              </a:lnSpc>
              <a:spcBef>
                <a:spcPts val="400"/>
              </a:spcBef>
              <a:spcAft>
                <a:spcPts val="1200"/>
              </a:spcAft>
              <a:buClr>
                <a:schemeClr val="dk1"/>
              </a:buClr>
              <a:buSzPts val="1800"/>
              <a:buChar char="○"/>
            </a:pPr>
            <a:r>
              <a:rPr lang="en"/>
              <a:t>Backoff</a:t>
            </a:r>
            <a:endParaRPr/>
          </a:p>
        </p:txBody>
      </p:sp>
      <p:pic>
        <p:nvPicPr>
          <p:cNvPr id="631" name="Google Shape;631;p86"/>
          <p:cNvPicPr preferRelativeResize="0"/>
          <p:nvPr/>
        </p:nvPicPr>
        <p:blipFill rotWithShape="1">
          <a:blip r:embed="rId3">
            <a:alphaModFix/>
          </a:blip>
          <a:srcRect b="0" l="0" r="0" t="0"/>
          <a:stretch/>
        </p:blipFill>
        <p:spPr>
          <a:xfrm>
            <a:off x="6553528" y="1053273"/>
            <a:ext cx="2209476" cy="597531"/>
          </a:xfrm>
          <a:prstGeom prst="rect">
            <a:avLst/>
          </a:prstGeom>
          <a:noFill/>
          <a:ln>
            <a:noFill/>
          </a:ln>
        </p:spPr>
      </p:pic>
      <p:pic>
        <p:nvPicPr>
          <p:cNvPr id="632" name="Google Shape;632;p86"/>
          <p:cNvPicPr preferRelativeResize="0"/>
          <p:nvPr/>
        </p:nvPicPr>
        <p:blipFill rotWithShape="1">
          <a:blip r:embed="rId4">
            <a:alphaModFix/>
          </a:blip>
          <a:srcRect b="0" l="0" r="0" t="0"/>
          <a:stretch/>
        </p:blipFill>
        <p:spPr>
          <a:xfrm>
            <a:off x="6443764" y="1724299"/>
            <a:ext cx="2525329" cy="558619"/>
          </a:xfrm>
          <a:prstGeom prst="rect">
            <a:avLst/>
          </a:prstGeom>
          <a:noFill/>
          <a:ln>
            <a:noFill/>
          </a:ln>
        </p:spPr>
      </p:pic>
      <p:pic>
        <p:nvPicPr>
          <p:cNvPr id="633" name="Google Shape;633;p86"/>
          <p:cNvPicPr preferRelativeResize="0"/>
          <p:nvPr/>
        </p:nvPicPr>
        <p:blipFill rotWithShape="1">
          <a:blip r:embed="rId5">
            <a:alphaModFix/>
          </a:blip>
          <a:srcRect b="0" l="0" r="0" t="0"/>
          <a:stretch/>
        </p:blipFill>
        <p:spPr>
          <a:xfrm>
            <a:off x="6367895" y="2326440"/>
            <a:ext cx="2525329" cy="494998"/>
          </a:xfrm>
          <a:prstGeom prst="rect">
            <a:avLst/>
          </a:prstGeom>
          <a:noFill/>
          <a:ln>
            <a:noFill/>
          </a:ln>
        </p:spPr>
      </p:pic>
      <p:pic>
        <p:nvPicPr>
          <p:cNvPr id="634" name="Google Shape;634;p86"/>
          <p:cNvPicPr preferRelativeResize="0"/>
          <p:nvPr/>
        </p:nvPicPr>
        <p:blipFill rotWithShape="1">
          <a:blip r:embed="rId6">
            <a:alphaModFix/>
          </a:blip>
          <a:srcRect b="0" l="0" r="28279" t="0"/>
          <a:stretch/>
        </p:blipFill>
        <p:spPr>
          <a:xfrm>
            <a:off x="6102181" y="2869092"/>
            <a:ext cx="3003378" cy="5458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1000"/>
                                        <p:tgtEl>
                                          <p:spTgt spid="631"/>
                                        </p:tgtEl>
                                      </p:cBhvr>
                                    </p:animEffect>
                                  </p:childTnLst>
                                </p:cTn>
                              </p:par>
                              <p:par>
                                <p:cTn fill="hold" nodeType="with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1000"/>
                                        <p:tgtEl>
                                          <p:spTgt spid="632"/>
                                        </p:tgtEl>
                                      </p:cBhvr>
                                    </p:animEffect>
                                  </p:childTnLst>
                                </p:cTn>
                              </p:par>
                              <p:par>
                                <p:cTn fill="hold" nodeType="with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1000"/>
                                        <p:tgtEl>
                                          <p:spTgt spid="6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1000"/>
                                        <p:tgtEl>
                                          <p:spTgt spid="6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N-gram hierarchy</a:t>
            </a:r>
            <a:endParaRPr/>
          </a:p>
        </p:txBody>
      </p:sp>
      <p:sp>
        <p:nvSpPr>
          <p:cNvPr id="640" name="Google Shape;640;p8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a:p>
            <a:pPr indent="-171450" lvl="0" marL="177800" rtl="0" algn="l">
              <a:lnSpc>
                <a:spcPct val="90000"/>
              </a:lnSpc>
              <a:spcBef>
                <a:spcPts val="800"/>
              </a:spcBef>
              <a:spcAft>
                <a:spcPts val="0"/>
              </a:spcAft>
              <a:buClr>
                <a:schemeClr val="dk1"/>
              </a:buClr>
              <a:buSzPts val="2100"/>
              <a:buChar char="●"/>
            </a:pPr>
            <a:r>
              <a:rPr b="0" i="0" lang="en" u="none" strike="noStrike"/>
              <a:t>If </a:t>
            </a:r>
            <a:r>
              <a:rPr b="0" i="0" lang="en" u="none" strike="noStrike">
                <a:solidFill>
                  <a:srgbClr val="FF0000"/>
                </a:solidFill>
              </a:rPr>
              <a:t>no examples </a:t>
            </a:r>
            <a:r>
              <a:rPr b="0" i="0" lang="en" u="none" strike="noStrike"/>
              <a:t>of the </a:t>
            </a:r>
            <a:r>
              <a:rPr b="0" i="0" lang="en" u="none" strike="noStrike">
                <a:solidFill>
                  <a:srgbClr val="FF0000"/>
                </a:solidFill>
              </a:rPr>
              <a:t>trigram (</a:t>
            </a:r>
            <a:r>
              <a:rPr b="0" i="1" lang="en" u="none" strike="noStrike">
                <a:solidFill>
                  <a:srgbClr val="FF0000"/>
                </a:solidFill>
              </a:rPr>
              <a:t>w</a:t>
            </a:r>
            <a:r>
              <a:rPr b="0" baseline="-25000" i="1" lang="en" u="none" strike="noStrike">
                <a:solidFill>
                  <a:srgbClr val="FF0000"/>
                </a:solidFill>
              </a:rPr>
              <a:t>n-2</a:t>
            </a:r>
            <a:r>
              <a:rPr b="0" i="1" lang="en" u="none" strike="noStrike">
                <a:solidFill>
                  <a:srgbClr val="FF0000"/>
                </a:solidFill>
              </a:rPr>
              <a:t>w</a:t>
            </a:r>
            <a:r>
              <a:rPr b="0" baseline="-25000" i="1" lang="en" u="none" strike="noStrike">
                <a:solidFill>
                  <a:srgbClr val="FF0000"/>
                </a:solidFill>
              </a:rPr>
              <a:t>n-1</a:t>
            </a:r>
            <a:r>
              <a:rPr b="0" i="1" lang="en" u="none" strike="noStrike">
                <a:solidFill>
                  <a:srgbClr val="FF0000"/>
                </a:solidFill>
              </a:rPr>
              <a:t>w</a:t>
            </a:r>
            <a:r>
              <a:rPr b="0" baseline="-25000" i="1" lang="en" u="none" strike="noStrike">
                <a:solidFill>
                  <a:srgbClr val="FF0000"/>
                </a:solidFill>
              </a:rPr>
              <a:t>n </a:t>
            </a:r>
            <a:r>
              <a:rPr b="0" i="0" lang="en" u="none" strike="noStrike">
                <a:solidFill>
                  <a:srgbClr val="FF0000"/>
                </a:solidFill>
              </a:rPr>
              <a:t>)</a:t>
            </a:r>
            <a:r>
              <a:rPr b="0" i="0" lang="en" u="none" strike="noStrike"/>
              <a:t> to compute P(</a:t>
            </a:r>
            <a:r>
              <a:rPr b="0" i="1" lang="en" u="none" strike="noStrike"/>
              <a:t>w</a:t>
            </a:r>
            <a:r>
              <a:rPr b="0" baseline="-25000" i="1" lang="en" u="none" strike="noStrike"/>
              <a:t>n</a:t>
            </a:r>
            <a:r>
              <a:rPr b="0" lang="en" u="none" strike="noStrike"/>
              <a:t>|</a:t>
            </a:r>
            <a:r>
              <a:rPr b="0" i="1" lang="en" u="none" strike="noStrike"/>
              <a:t>w</a:t>
            </a:r>
            <a:r>
              <a:rPr b="0" baseline="-25000" i="1" lang="en" u="none" strike="noStrike"/>
              <a:t>n-2</a:t>
            </a:r>
            <a:r>
              <a:rPr b="0" i="1" lang="en" u="none" strike="noStrike"/>
              <a:t>w</a:t>
            </a:r>
            <a:r>
              <a:rPr b="0" baseline="-25000" i="1" lang="en" u="none" strike="noStrike"/>
              <a:t>n-1</a:t>
            </a:r>
            <a:r>
              <a:rPr b="0" i="0" lang="en" u="none" strike="noStrike"/>
              <a:t>) then </a:t>
            </a:r>
            <a:r>
              <a:rPr b="0" i="0" lang="en" u="none" strike="noStrike">
                <a:solidFill>
                  <a:srgbClr val="0070C0"/>
                </a:solidFill>
              </a:rPr>
              <a:t>estimate</a:t>
            </a:r>
            <a:r>
              <a:rPr b="0" i="0" lang="en" u="none" strike="noStrike"/>
              <a:t> probability using </a:t>
            </a:r>
            <a:r>
              <a:rPr b="0" i="0" lang="en" u="none" strike="noStrike">
                <a:solidFill>
                  <a:srgbClr val="0070C0"/>
                </a:solidFill>
              </a:rPr>
              <a:t>bigram probability P(</a:t>
            </a:r>
            <a:r>
              <a:rPr b="0" i="1" lang="en" u="none" strike="noStrike">
                <a:solidFill>
                  <a:srgbClr val="0070C0"/>
                </a:solidFill>
              </a:rPr>
              <a:t>w</a:t>
            </a:r>
            <a:r>
              <a:rPr b="0" baseline="-25000" i="1" lang="en" u="none" strike="noStrike">
                <a:solidFill>
                  <a:srgbClr val="0070C0"/>
                </a:solidFill>
              </a:rPr>
              <a:t>n</a:t>
            </a:r>
            <a:r>
              <a:rPr b="0" lang="en" u="none" strike="noStrike">
                <a:solidFill>
                  <a:srgbClr val="0070C0"/>
                </a:solidFill>
              </a:rPr>
              <a:t>|</a:t>
            </a:r>
            <a:r>
              <a:rPr b="0" i="1" lang="en" u="none" strike="noStrike">
                <a:solidFill>
                  <a:srgbClr val="0070C0"/>
                </a:solidFill>
              </a:rPr>
              <a:t>w</a:t>
            </a:r>
            <a:r>
              <a:rPr b="0" baseline="-25000" i="1" lang="en" u="none" strike="noStrike">
                <a:solidFill>
                  <a:srgbClr val="0070C0"/>
                </a:solidFill>
              </a:rPr>
              <a:t>n-1</a:t>
            </a:r>
            <a:r>
              <a:rPr i="1" lang="en">
                <a:solidFill>
                  <a:srgbClr val="0070C0"/>
                </a:solidFill>
              </a:rPr>
              <a:t> </a:t>
            </a:r>
            <a:r>
              <a:rPr b="0" i="0" lang="en" u="none" strike="noStrike">
                <a:solidFill>
                  <a:srgbClr val="0070C0"/>
                </a:solidFill>
              </a:rPr>
              <a:t>)</a:t>
            </a:r>
            <a:endParaRPr/>
          </a:p>
          <a:p>
            <a:pPr indent="-38100" lvl="0" marL="177800" rtl="0" algn="l">
              <a:lnSpc>
                <a:spcPct val="90000"/>
              </a:lnSpc>
              <a:spcBef>
                <a:spcPts val="800"/>
              </a:spcBef>
              <a:spcAft>
                <a:spcPts val="0"/>
              </a:spcAft>
              <a:buClr>
                <a:schemeClr val="dk1"/>
              </a:buClr>
              <a:buSzPts val="2100"/>
              <a:buNone/>
            </a:pPr>
            <a:r>
              <a:t/>
            </a:r>
            <a:endParaRPr/>
          </a:p>
          <a:p>
            <a:pPr indent="-171450" lvl="0" marL="177800" rtl="0" algn="l">
              <a:lnSpc>
                <a:spcPct val="90000"/>
              </a:lnSpc>
              <a:spcBef>
                <a:spcPts val="800"/>
              </a:spcBef>
              <a:spcAft>
                <a:spcPts val="1200"/>
              </a:spcAft>
              <a:buClr>
                <a:schemeClr val="dk1"/>
              </a:buClr>
              <a:buSzPts val="2100"/>
              <a:buChar char="●"/>
            </a:pPr>
            <a:r>
              <a:rPr b="0" i="0" lang="en" u="none" strike="noStrike"/>
              <a:t>If </a:t>
            </a:r>
            <a:r>
              <a:rPr b="0" i="0" lang="en" u="none" strike="noStrike">
                <a:solidFill>
                  <a:srgbClr val="FF0000"/>
                </a:solidFill>
              </a:rPr>
              <a:t>no examples</a:t>
            </a:r>
            <a:r>
              <a:rPr b="0" i="0" lang="en" u="none" strike="noStrike"/>
              <a:t> of the </a:t>
            </a:r>
            <a:r>
              <a:rPr b="0" i="0" lang="en" u="none" strike="noStrike">
                <a:solidFill>
                  <a:srgbClr val="FF0000"/>
                </a:solidFill>
              </a:rPr>
              <a:t>bigram</a:t>
            </a:r>
            <a:r>
              <a:rPr b="0" i="0" lang="en" u="none" strike="noStrike"/>
              <a:t> to compute P(</a:t>
            </a:r>
            <a:r>
              <a:rPr b="0" i="1" lang="en" u="none" strike="noStrike"/>
              <a:t>w</a:t>
            </a:r>
            <a:r>
              <a:rPr b="0" baseline="-25000" i="1" lang="en" u="none" strike="noStrike"/>
              <a:t>n</a:t>
            </a:r>
            <a:r>
              <a:rPr b="0" lang="en" u="none" strike="noStrike"/>
              <a:t>|</a:t>
            </a:r>
            <a:r>
              <a:rPr b="0" i="1" lang="en" u="none" strike="noStrike"/>
              <a:t>w</a:t>
            </a:r>
            <a:r>
              <a:rPr b="0" baseline="-25000" i="1" lang="en" u="none" strike="noStrike"/>
              <a:t>n-1</a:t>
            </a:r>
            <a:r>
              <a:rPr b="0" i="0" lang="en" u="none" strike="noStrike"/>
              <a:t>) then utilize </a:t>
            </a:r>
            <a:r>
              <a:rPr b="0" i="0" lang="en" u="none" strike="noStrike">
                <a:solidFill>
                  <a:srgbClr val="0070C0"/>
                </a:solidFill>
              </a:rPr>
              <a:t>unigram probability P(</a:t>
            </a:r>
            <a:r>
              <a:rPr b="0" i="1" lang="en" u="none" strike="noStrike">
                <a:solidFill>
                  <a:srgbClr val="0070C0"/>
                </a:solidFill>
              </a:rPr>
              <a:t>w</a:t>
            </a:r>
            <a:r>
              <a:rPr b="0" baseline="-25000" i="1" lang="en" u="none" strike="noStrike">
                <a:solidFill>
                  <a:srgbClr val="0070C0"/>
                </a:solidFill>
              </a:rPr>
              <a:t>n</a:t>
            </a:r>
            <a:r>
              <a:rPr b="0" i="0" lang="en" u="none" strike="noStrike">
                <a:solidFill>
                  <a:srgbClr val="0070C0"/>
                </a:solidFill>
              </a:rPr>
              <a:t>)</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Backoff </a:t>
            </a:r>
            <a:r>
              <a:rPr b="0" i="0" lang="en" sz="1400" u="none" strike="noStrike">
                <a:latin typeface="Arial"/>
                <a:ea typeface="Arial"/>
                <a:cs typeface="Arial"/>
                <a:sym typeface="Arial"/>
              </a:rPr>
              <a:t>(Katz 1987)</a:t>
            </a:r>
            <a:endParaRPr/>
          </a:p>
        </p:txBody>
      </p:sp>
      <p:sp>
        <p:nvSpPr>
          <p:cNvPr id="646" name="Google Shape;646;p8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7800" lvl="0" marL="177800" rtl="0" algn="l">
              <a:lnSpc>
                <a:spcPct val="90000"/>
              </a:lnSpc>
              <a:spcBef>
                <a:spcPts val="0"/>
              </a:spcBef>
              <a:spcAft>
                <a:spcPts val="1200"/>
              </a:spcAft>
              <a:buClr>
                <a:srgbClr val="0070C0"/>
              </a:buClr>
              <a:buSzPts val="1800"/>
              <a:buChar char="●"/>
            </a:pPr>
            <a:r>
              <a:rPr b="0" i="0" lang="en" sz="1800" u="none" strike="noStrike">
                <a:solidFill>
                  <a:srgbClr val="0070C0"/>
                </a:solidFill>
              </a:rPr>
              <a:t>Non-linear method</a:t>
            </a:r>
            <a:r>
              <a:rPr b="0" i="0" lang="en" sz="1800" u="none" strike="noStrike"/>
              <a:t> -- Estimates for an n-gram is allowed to back off through progressively shorter histories</a:t>
            </a:r>
            <a:endParaRPr/>
          </a:p>
        </p:txBody>
      </p:sp>
      <p:pic>
        <p:nvPicPr>
          <p:cNvPr id="647" name="Google Shape;647;p88"/>
          <p:cNvPicPr preferRelativeResize="0"/>
          <p:nvPr/>
        </p:nvPicPr>
        <p:blipFill rotWithShape="1">
          <a:blip r:embed="rId3">
            <a:alphaModFix/>
          </a:blip>
          <a:srcRect b="0" l="0" r="0" t="0"/>
          <a:stretch/>
        </p:blipFill>
        <p:spPr>
          <a:xfrm>
            <a:off x="1911927" y="2521558"/>
            <a:ext cx="4872361" cy="15958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500"/>
                                        <p:tgtEl>
                                          <p:spTgt spid="6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Problems with Backing-off</a:t>
            </a:r>
            <a:endParaRPr/>
          </a:p>
        </p:txBody>
      </p:sp>
      <p:sp>
        <p:nvSpPr>
          <p:cNvPr id="653" name="Google Shape;653;p8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Let’s say – bigram (w</a:t>
            </a:r>
            <a:r>
              <a:rPr baseline="-25000" lang="en"/>
              <a:t>1</a:t>
            </a:r>
            <a:r>
              <a:rPr lang="en"/>
              <a:t>w</a:t>
            </a:r>
            <a:r>
              <a:rPr baseline="-25000" lang="en"/>
              <a:t>2</a:t>
            </a:r>
            <a:r>
              <a:rPr lang="en"/>
              <a:t>) is frequent but trigram (w</a:t>
            </a:r>
            <a:r>
              <a:rPr baseline="-25000" lang="en"/>
              <a:t>1</a:t>
            </a:r>
            <a:r>
              <a:rPr lang="en"/>
              <a:t>w</a:t>
            </a:r>
            <a:r>
              <a:rPr baseline="-25000" lang="en"/>
              <a:t>2</a:t>
            </a:r>
            <a:r>
              <a:rPr lang="en"/>
              <a:t>w</a:t>
            </a:r>
            <a:r>
              <a:rPr baseline="-25000" lang="en"/>
              <a:t>3</a:t>
            </a:r>
            <a:r>
              <a:rPr lang="en"/>
              <a:t>) is rare</a:t>
            </a:r>
            <a:endParaRPr/>
          </a:p>
          <a:p>
            <a:pPr indent="-177800" lvl="1" marL="520700" rtl="0" algn="l">
              <a:lnSpc>
                <a:spcPct val="90000"/>
              </a:lnSpc>
              <a:spcBef>
                <a:spcPts val="400"/>
              </a:spcBef>
              <a:spcAft>
                <a:spcPts val="0"/>
              </a:spcAft>
              <a:buClr>
                <a:schemeClr val="dk1"/>
              </a:buClr>
              <a:buSzPts val="1800"/>
              <a:buChar char="○"/>
            </a:pPr>
            <a:r>
              <a:rPr lang="en"/>
              <a:t>Might represent a meaningful drop – “</a:t>
            </a:r>
            <a:r>
              <a:rPr lang="en">
                <a:solidFill>
                  <a:srgbClr val="FF0000"/>
                </a:solidFill>
              </a:rPr>
              <a:t>grammatical null</a:t>
            </a:r>
            <a:r>
              <a:rPr lang="en"/>
              <a:t>”</a:t>
            </a:r>
            <a:endParaRPr/>
          </a:p>
          <a:p>
            <a:pPr indent="-177800" lvl="1" marL="520700" rtl="0" algn="l">
              <a:lnSpc>
                <a:spcPct val="90000"/>
              </a:lnSpc>
              <a:spcBef>
                <a:spcPts val="400"/>
              </a:spcBef>
              <a:spcAft>
                <a:spcPts val="0"/>
              </a:spcAft>
              <a:buClr>
                <a:srgbClr val="FF0000"/>
              </a:buClr>
              <a:buSzPts val="1800"/>
              <a:buChar char="○"/>
            </a:pPr>
            <a:r>
              <a:rPr lang="en">
                <a:solidFill>
                  <a:srgbClr val="FF0000"/>
                </a:solidFill>
              </a:rPr>
              <a:t>Not necessarily</a:t>
            </a:r>
            <a:r>
              <a:rPr lang="en">
                <a:solidFill>
                  <a:srgbClr val="0070C0"/>
                </a:solidFill>
              </a:rPr>
              <a:t> represent </a:t>
            </a:r>
            <a:r>
              <a:rPr b="1" lang="en"/>
              <a:t>data sparsity</a:t>
            </a:r>
            <a:r>
              <a:rPr lang="en">
                <a:solidFill>
                  <a:srgbClr val="0070C0"/>
                </a:solidFill>
              </a:rPr>
              <a:t> </a:t>
            </a:r>
            <a:r>
              <a:rPr lang="en"/>
              <a:t>or</a:t>
            </a:r>
            <a:r>
              <a:rPr lang="en">
                <a:solidFill>
                  <a:srgbClr val="0070C0"/>
                </a:solidFill>
              </a:rPr>
              <a:t> appearance </a:t>
            </a:r>
            <a:r>
              <a:rPr lang="en"/>
              <a:t>by chance</a:t>
            </a:r>
            <a:endParaRPr/>
          </a:p>
          <a:p>
            <a:pPr indent="-63500" lvl="1" marL="520700" rtl="0" algn="l">
              <a:lnSpc>
                <a:spcPct val="90000"/>
              </a:lnSpc>
              <a:spcBef>
                <a:spcPts val="400"/>
              </a:spcBef>
              <a:spcAft>
                <a:spcPts val="0"/>
              </a:spcAft>
              <a:buClr>
                <a:schemeClr val="dk1"/>
              </a:buClr>
              <a:buSzPts val="1800"/>
              <a:buNone/>
            </a:pPr>
            <a:r>
              <a:t/>
            </a:r>
            <a:endParaRPr/>
          </a:p>
          <a:p>
            <a:pPr indent="-38100" lvl="0" marL="177800" rtl="0" algn="l">
              <a:lnSpc>
                <a:spcPct val="90000"/>
              </a:lnSpc>
              <a:spcBef>
                <a:spcPts val="800"/>
              </a:spcBef>
              <a:spcAft>
                <a:spcPts val="0"/>
              </a:spcAft>
              <a:buClr>
                <a:schemeClr val="dk1"/>
              </a:buClr>
              <a:buSzPts val="2100"/>
              <a:buNone/>
            </a:pPr>
            <a:r>
              <a:t/>
            </a:r>
            <a:endParaRPr/>
          </a:p>
          <a:p>
            <a:pPr indent="-171450" lvl="0" marL="177800" rtl="0" algn="l">
              <a:lnSpc>
                <a:spcPct val="90000"/>
              </a:lnSpc>
              <a:spcBef>
                <a:spcPts val="800"/>
              </a:spcBef>
              <a:spcAft>
                <a:spcPts val="1200"/>
              </a:spcAft>
              <a:buClr>
                <a:schemeClr val="dk1"/>
              </a:buClr>
              <a:buSzPts val="2100"/>
              <a:buChar char="●"/>
            </a:pPr>
            <a:r>
              <a:rPr lang="en"/>
              <a:t>One may not want to back-off</a:t>
            </a:r>
            <a:endParaRPr/>
          </a:p>
        </p:txBody>
      </p:sp>
      <p:pic>
        <p:nvPicPr>
          <p:cNvPr id="654" name="Google Shape;654;p89"/>
          <p:cNvPicPr preferRelativeResize="0"/>
          <p:nvPr/>
        </p:nvPicPr>
        <p:blipFill>
          <a:blip r:embed="rId3">
            <a:alphaModFix/>
          </a:blip>
          <a:stretch>
            <a:fillRect/>
          </a:stretch>
        </p:blipFill>
        <p:spPr>
          <a:xfrm>
            <a:off x="4850225" y="2898750"/>
            <a:ext cx="3592000" cy="495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9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Simple linear interpolation</a:t>
            </a:r>
            <a:endParaRPr/>
          </a:p>
        </p:txBody>
      </p:sp>
      <p:sp>
        <p:nvSpPr>
          <p:cNvPr id="660" name="Google Shape;660;p9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92500" lnSpcReduction="20000"/>
          </a:bodyPr>
          <a:lstStyle/>
          <a:p>
            <a:pPr indent="-169228" lvl="0" marL="177800" rtl="0" algn="l">
              <a:lnSpc>
                <a:spcPct val="90000"/>
              </a:lnSpc>
              <a:spcBef>
                <a:spcPts val="0"/>
              </a:spcBef>
              <a:spcAft>
                <a:spcPts val="0"/>
              </a:spcAft>
              <a:buClr>
                <a:schemeClr val="dk1"/>
              </a:buClr>
              <a:buSzPct val="100000"/>
              <a:buChar char="●"/>
            </a:pPr>
            <a:r>
              <a:rPr lang="en" sz="1800"/>
              <a:t>Construct a </a:t>
            </a:r>
            <a:r>
              <a:rPr lang="en" sz="1800">
                <a:solidFill>
                  <a:srgbClr val="FF0000"/>
                </a:solidFill>
              </a:rPr>
              <a:t>linear combination</a:t>
            </a:r>
            <a:r>
              <a:rPr lang="en" sz="1800"/>
              <a:t> of the </a:t>
            </a:r>
            <a:r>
              <a:rPr lang="en" sz="1800">
                <a:solidFill>
                  <a:srgbClr val="0070C0"/>
                </a:solidFill>
              </a:rPr>
              <a:t>multiple probability estimates</a:t>
            </a:r>
            <a:endParaRPr/>
          </a:p>
          <a:p>
            <a:pPr indent="0" lvl="0" marL="0" rtl="0" algn="l">
              <a:lnSpc>
                <a:spcPct val="90000"/>
              </a:lnSpc>
              <a:spcBef>
                <a:spcPts val="800"/>
              </a:spcBef>
              <a:spcAft>
                <a:spcPts val="0"/>
              </a:spcAft>
              <a:buClr>
                <a:schemeClr val="dk1"/>
              </a:buClr>
              <a:buSzPct val="100000"/>
              <a:buNone/>
            </a:pPr>
            <a:r>
              <a:t/>
            </a:r>
            <a:endParaRPr sz="1800"/>
          </a:p>
          <a:p>
            <a:pPr indent="-63500" lvl="0" marL="177800" rtl="0" algn="l">
              <a:lnSpc>
                <a:spcPct val="90000"/>
              </a:lnSpc>
              <a:spcBef>
                <a:spcPts val="800"/>
              </a:spcBef>
              <a:spcAft>
                <a:spcPts val="0"/>
              </a:spcAft>
              <a:buClr>
                <a:schemeClr val="dk1"/>
              </a:buClr>
              <a:buSzPct val="100000"/>
              <a:buNone/>
            </a:pPr>
            <a:r>
              <a:t/>
            </a:r>
            <a:endParaRPr sz="1800"/>
          </a:p>
          <a:p>
            <a:pPr indent="0" lvl="0" marL="0" rtl="0" algn="l">
              <a:lnSpc>
                <a:spcPct val="90000"/>
              </a:lnSpc>
              <a:spcBef>
                <a:spcPts val="800"/>
              </a:spcBef>
              <a:spcAft>
                <a:spcPts val="0"/>
              </a:spcAft>
              <a:buClr>
                <a:schemeClr val="dk1"/>
              </a:buClr>
              <a:buSzPct val="100000"/>
              <a:buNone/>
            </a:pPr>
            <a:r>
              <a:t/>
            </a:r>
            <a:endParaRPr i="0" sz="1800">
              <a:solidFill>
                <a:srgbClr val="202122"/>
              </a:solidFill>
            </a:endParaRPr>
          </a:p>
          <a:p>
            <a:pPr indent="0" lvl="0" marL="0" rtl="0" algn="l">
              <a:lnSpc>
                <a:spcPct val="90000"/>
              </a:lnSpc>
              <a:spcBef>
                <a:spcPts val="800"/>
              </a:spcBef>
              <a:spcAft>
                <a:spcPts val="0"/>
              </a:spcAft>
              <a:buClr>
                <a:srgbClr val="202122"/>
              </a:buClr>
              <a:buSzPct val="100000"/>
              <a:buNone/>
            </a:pPr>
            <a:r>
              <a:rPr i="0" lang="en" sz="1800">
                <a:solidFill>
                  <a:srgbClr val="202122"/>
                </a:solidFill>
              </a:rPr>
              <a:t>where λ</a:t>
            </a:r>
            <a:r>
              <a:rPr baseline="-25000" i="0" lang="en" sz="1800">
                <a:solidFill>
                  <a:srgbClr val="202122"/>
                </a:solidFill>
              </a:rPr>
              <a:t>1</a:t>
            </a:r>
            <a:r>
              <a:rPr i="0" lang="en" sz="1800">
                <a:solidFill>
                  <a:srgbClr val="202122"/>
                </a:solidFill>
              </a:rPr>
              <a:t> + λ</a:t>
            </a:r>
            <a:r>
              <a:rPr baseline="-25000" lang="en" sz="1800">
                <a:solidFill>
                  <a:srgbClr val="202122"/>
                </a:solidFill>
              </a:rPr>
              <a:t>2</a:t>
            </a:r>
            <a:r>
              <a:rPr i="0" lang="en" sz="1800">
                <a:solidFill>
                  <a:srgbClr val="202122"/>
                </a:solidFill>
              </a:rPr>
              <a:t> + λ</a:t>
            </a:r>
            <a:r>
              <a:rPr baseline="-25000" lang="en" sz="1800">
                <a:solidFill>
                  <a:srgbClr val="202122"/>
                </a:solidFill>
              </a:rPr>
              <a:t>3 </a:t>
            </a:r>
            <a:r>
              <a:rPr lang="en" sz="1800">
                <a:solidFill>
                  <a:srgbClr val="202122"/>
                </a:solidFill>
              </a:rPr>
              <a:t>= 1</a:t>
            </a:r>
            <a:endParaRPr/>
          </a:p>
          <a:p>
            <a:pPr indent="0" lvl="0" marL="0" rtl="0" algn="l">
              <a:lnSpc>
                <a:spcPct val="90000"/>
              </a:lnSpc>
              <a:spcBef>
                <a:spcPts val="800"/>
              </a:spcBef>
              <a:spcAft>
                <a:spcPts val="0"/>
              </a:spcAft>
              <a:buClr>
                <a:schemeClr val="dk1"/>
              </a:buClr>
              <a:buSzPct val="100000"/>
              <a:buNone/>
            </a:pPr>
            <a:r>
              <a:t/>
            </a:r>
            <a:endParaRPr sz="1800" u="sng">
              <a:solidFill>
                <a:srgbClr val="202122"/>
              </a:solidFill>
            </a:endParaRPr>
          </a:p>
          <a:p>
            <a:pPr indent="-169228" lvl="0" marL="177800" rtl="0" algn="l">
              <a:lnSpc>
                <a:spcPct val="90000"/>
              </a:lnSpc>
              <a:spcBef>
                <a:spcPts val="800"/>
              </a:spcBef>
              <a:spcAft>
                <a:spcPts val="0"/>
              </a:spcAft>
              <a:buClr>
                <a:srgbClr val="0070C0"/>
              </a:buClr>
              <a:buSzPct val="100000"/>
              <a:buChar char="●"/>
            </a:pPr>
            <a:r>
              <a:rPr lang="en" sz="1800">
                <a:solidFill>
                  <a:srgbClr val="0070C0"/>
                </a:solidFill>
              </a:rPr>
              <a:t>Weighted average</a:t>
            </a:r>
            <a:r>
              <a:rPr lang="en" sz="1800"/>
              <a:t> of unigram, bigram, and trigram probabilities</a:t>
            </a:r>
            <a:endParaRPr/>
          </a:p>
          <a:p>
            <a:pPr indent="-164306" lvl="1" marL="520700" rtl="0" algn="l">
              <a:lnSpc>
                <a:spcPct val="90000"/>
              </a:lnSpc>
              <a:spcBef>
                <a:spcPts val="400"/>
              </a:spcBef>
              <a:spcAft>
                <a:spcPts val="0"/>
              </a:spcAft>
              <a:buClr>
                <a:schemeClr val="dk1"/>
              </a:buClr>
              <a:buSzPct val="100000"/>
              <a:buChar char="○"/>
            </a:pPr>
            <a:r>
              <a:rPr lang="en" sz="1500"/>
              <a:t>Results in an another probability function</a:t>
            </a:r>
            <a:endParaRPr/>
          </a:p>
          <a:p>
            <a:pPr indent="-76200" lvl="1" marL="520700" rtl="0" algn="l">
              <a:lnSpc>
                <a:spcPct val="90000"/>
              </a:lnSpc>
              <a:spcBef>
                <a:spcPts val="400"/>
              </a:spcBef>
              <a:spcAft>
                <a:spcPts val="0"/>
              </a:spcAft>
              <a:buClr>
                <a:schemeClr val="dk1"/>
              </a:buClr>
              <a:buSzPct val="100000"/>
              <a:buNone/>
            </a:pPr>
            <a:r>
              <a:t/>
            </a:r>
            <a:endParaRPr sz="1500"/>
          </a:p>
          <a:p>
            <a:pPr indent="-169228" lvl="0" marL="177800" rtl="0" algn="l">
              <a:lnSpc>
                <a:spcPct val="90000"/>
              </a:lnSpc>
              <a:spcBef>
                <a:spcPts val="800"/>
              </a:spcBef>
              <a:spcAft>
                <a:spcPts val="0"/>
              </a:spcAft>
              <a:buClr>
                <a:schemeClr val="dk1"/>
              </a:buClr>
              <a:buSzPct val="100000"/>
              <a:buChar char="●"/>
            </a:pPr>
            <a:r>
              <a:rPr lang="en" sz="1800"/>
              <a:t>Utilizes different</a:t>
            </a:r>
            <a:r>
              <a:rPr lang="en" sz="1800">
                <a:solidFill>
                  <a:srgbClr val="FF0000"/>
                </a:solidFill>
              </a:rPr>
              <a:t> contextual histories </a:t>
            </a:r>
            <a:r>
              <a:rPr lang="en" sz="1800"/>
              <a:t>as appropriated in</a:t>
            </a:r>
            <a:r>
              <a:rPr lang="en" sz="1800">
                <a:solidFill>
                  <a:srgbClr val="FF0000"/>
                </a:solidFill>
              </a:rPr>
              <a:t> n-gram lengths</a:t>
            </a:r>
            <a:endParaRPr/>
          </a:p>
          <a:p>
            <a:pPr indent="-76200" lvl="1" marL="520700" rtl="0" algn="l">
              <a:lnSpc>
                <a:spcPct val="90000"/>
              </a:lnSpc>
              <a:spcBef>
                <a:spcPts val="400"/>
              </a:spcBef>
              <a:spcAft>
                <a:spcPts val="0"/>
              </a:spcAft>
              <a:buClr>
                <a:schemeClr val="dk1"/>
              </a:buClr>
              <a:buSzPct val="100000"/>
              <a:buNone/>
            </a:pPr>
            <a:r>
              <a:t/>
            </a:r>
            <a:endParaRPr sz="1500"/>
          </a:p>
          <a:p>
            <a:pPr indent="0" lvl="0" marL="0" rtl="0" algn="l">
              <a:lnSpc>
                <a:spcPct val="90000"/>
              </a:lnSpc>
              <a:spcBef>
                <a:spcPts val="800"/>
              </a:spcBef>
              <a:spcAft>
                <a:spcPts val="1200"/>
              </a:spcAft>
              <a:buClr>
                <a:schemeClr val="dk1"/>
              </a:buClr>
              <a:buSzPct val="100000"/>
              <a:buNone/>
            </a:pPr>
            <a:r>
              <a:t/>
            </a:r>
            <a:endParaRPr sz="3000" u="sng"/>
          </a:p>
        </p:txBody>
      </p:sp>
      <p:pic>
        <p:nvPicPr>
          <p:cNvPr id="661" name="Google Shape;661;p90"/>
          <p:cNvPicPr preferRelativeResize="0"/>
          <p:nvPr/>
        </p:nvPicPr>
        <p:blipFill rotWithShape="1">
          <a:blip r:embed="rId3">
            <a:alphaModFix/>
          </a:blip>
          <a:srcRect b="0" l="0" r="0" t="0"/>
          <a:stretch/>
        </p:blipFill>
        <p:spPr>
          <a:xfrm>
            <a:off x="1129146" y="1779673"/>
            <a:ext cx="6566513" cy="5987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500"/>
                                        <p:tgtEl>
                                          <p:spTgt spid="6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9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Best approach</a:t>
            </a:r>
            <a:endParaRPr/>
          </a:p>
        </p:txBody>
      </p:sp>
      <p:sp>
        <p:nvSpPr>
          <p:cNvPr id="667" name="Google Shape;667;p9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None/>
            </a:pPr>
            <a:r>
              <a:t/>
            </a:r>
            <a:endParaRPr/>
          </a:p>
          <a:p>
            <a:pPr indent="0" lvl="0" marL="0" rtl="0" algn="l">
              <a:lnSpc>
                <a:spcPct val="90000"/>
              </a:lnSpc>
              <a:spcBef>
                <a:spcPts val="800"/>
              </a:spcBef>
              <a:spcAft>
                <a:spcPts val="0"/>
              </a:spcAft>
              <a:buClr>
                <a:schemeClr val="dk1"/>
              </a:buClr>
              <a:buSzPts val="2100"/>
              <a:buNone/>
            </a:pPr>
            <a:r>
              <a:t/>
            </a:r>
            <a:endParaRPr/>
          </a:p>
          <a:p>
            <a:pPr indent="0" lvl="0" marL="0" rtl="0" algn="ctr">
              <a:lnSpc>
                <a:spcPct val="90000"/>
              </a:lnSpc>
              <a:spcBef>
                <a:spcPts val="800"/>
              </a:spcBef>
              <a:spcAft>
                <a:spcPts val="0"/>
              </a:spcAft>
              <a:buClr>
                <a:schemeClr val="dk1"/>
              </a:buClr>
              <a:buSzPts val="2100"/>
              <a:buNone/>
            </a:pPr>
            <a:r>
              <a:rPr lang="en"/>
              <a:t>Simple linear interpolation of n-grams</a:t>
            </a:r>
            <a:endParaRPr/>
          </a:p>
          <a:p>
            <a:pPr indent="0" lvl="0" marL="0" rtl="0" algn="ctr">
              <a:lnSpc>
                <a:spcPct val="90000"/>
              </a:lnSpc>
              <a:spcBef>
                <a:spcPts val="800"/>
              </a:spcBef>
              <a:spcAft>
                <a:spcPts val="0"/>
              </a:spcAft>
              <a:buClr>
                <a:srgbClr val="FF0000"/>
              </a:buClr>
              <a:buSzPts val="2100"/>
              <a:buNone/>
            </a:pPr>
            <a:r>
              <a:rPr lang="en">
                <a:solidFill>
                  <a:srgbClr val="FF0000"/>
                </a:solidFill>
              </a:rPr>
              <a:t>+</a:t>
            </a:r>
            <a:r>
              <a:rPr lang="en"/>
              <a:t> </a:t>
            </a:r>
            <a:endParaRPr/>
          </a:p>
          <a:p>
            <a:pPr indent="0" lvl="0" marL="0" rtl="0" algn="ctr">
              <a:lnSpc>
                <a:spcPct val="90000"/>
              </a:lnSpc>
              <a:spcBef>
                <a:spcPts val="800"/>
              </a:spcBef>
              <a:spcAft>
                <a:spcPts val="0"/>
              </a:spcAft>
              <a:buClr>
                <a:schemeClr val="dk1"/>
              </a:buClr>
              <a:buSzPts val="2100"/>
              <a:buNone/>
            </a:pPr>
            <a:r>
              <a:rPr lang="en"/>
              <a:t>Smoothed probability for OOV words </a:t>
            </a:r>
            <a:endParaRPr/>
          </a:p>
          <a:p>
            <a:pPr indent="0" lvl="0" marL="0" rtl="0" algn="ctr">
              <a:lnSpc>
                <a:spcPct val="90000"/>
              </a:lnSpc>
              <a:spcBef>
                <a:spcPts val="800"/>
              </a:spcBef>
              <a:spcAft>
                <a:spcPts val="1200"/>
              </a:spcAft>
              <a:buClr>
                <a:schemeClr val="dk1"/>
              </a:buClr>
              <a:buSzPts val="1800"/>
              <a:buNone/>
            </a:pPr>
            <a:r>
              <a:rPr lang="en" sz="1800"/>
              <a:t>(best smoothing technique)</a:t>
            </a:r>
            <a:endParaRPr/>
          </a:p>
        </p:txBody>
      </p:sp>
      <p:sp>
        <p:nvSpPr>
          <p:cNvPr id="668" name="Google Shape;668;p91"/>
          <p:cNvSpPr/>
          <p:nvPr/>
        </p:nvSpPr>
        <p:spPr>
          <a:xfrm>
            <a:off x="6889172" y="955802"/>
            <a:ext cx="1981200" cy="796200"/>
          </a:xfrm>
          <a:prstGeom prst="wedgeEllipseCallout">
            <a:avLst>
              <a:gd fmla="val -35518" name="adj1"/>
              <a:gd fmla="val 113825" name="adj2"/>
            </a:avLst>
          </a:prstGeom>
          <a:gradFill>
            <a:gsLst>
              <a:gs pos="0">
                <a:srgbClr val="AA8000"/>
              </a:gs>
              <a:gs pos="48000">
                <a:srgbClr val="FEC107"/>
              </a:gs>
              <a:gs pos="100000">
                <a:srgbClr val="FFD865"/>
              </a:gs>
            </a:gsLst>
            <a:lin ang="16200038" scaled="0"/>
          </a:gradFill>
          <a:ln cap="flat" cmpd="sng" w="7150">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In Practice</a:t>
            </a:r>
            <a:endParaRPr sz="1400">
              <a:solidFill>
                <a:schemeClr val="dk1"/>
              </a:solidFill>
              <a:latin typeface="Calibri"/>
              <a:ea typeface="Calibri"/>
              <a:cs typeface="Calibri"/>
              <a:sym typeface="Calibri"/>
            </a:endParaRPr>
          </a:p>
        </p:txBody>
      </p:sp>
      <p:sp>
        <p:nvSpPr>
          <p:cNvPr id="669" name="Google Shape;669;p91"/>
          <p:cNvSpPr/>
          <p:nvPr/>
        </p:nvSpPr>
        <p:spPr>
          <a:xfrm>
            <a:off x="6684818" y="1877291"/>
            <a:ext cx="408600" cy="1787100"/>
          </a:xfrm>
          <a:prstGeom prst="rightBrace">
            <a:avLst>
              <a:gd fmla="val 59180" name="adj1"/>
              <a:gd fmla="val 48450" name="adj2"/>
            </a:avLst>
          </a:prstGeom>
          <a:noFill/>
          <a:ln cap="flat" cmpd="sng" w="7150">
            <a:solidFill>
              <a:schemeClr val="dk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92"/>
          <p:cNvSpPr txBox="1"/>
          <p:nvPr>
            <p:ph type="title"/>
          </p:nvPr>
        </p:nvSpPr>
        <p:spPr>
          <a:xfrm>
            <a:off x="214625" y="38325"/>
            <a:ext cx="87411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Calibri"/>
              <a:buNone/>
            </a:pPr>
            <a:r>
              <a:rPr lang="en" sz="2700"/>
              <a:t>Setting smoothing parameters (Hyperparameter tuning)</a:t>
            </a:r>
            <a:endParaRPr sz="2700"/>
          </a:p>
        </p:txBody>
      </p:sp>
      <p:sp>
        <p:nvSpPr>
          <p:cNvPr id="675" name="Google Shape;675;p92"/>
          <p:cNvSpPr txBox="1"/>
          <p:nvPr>
            <p:ph idx="1" type="body"/>
          </p:nvPr>
        </p:nvSpPr>
        <p:spPr>
          <a:xfrm>
            <a:off x="628650" y="1071347"/>
            <a:ext cx="7886700" cy="1044900"/>
          </a:xfrm>
          <a:prstGeom prst="rect">
            <a:avLst/>
          </a:prstGeom>
          <a:noFill/>
          <a:ln>
            <a:noFill/>
          </a:ln>
        </p:spPr>
        <p:txBody>
          <a:bodyPr anchorCtr="0" anchor="t" bIns="34275" lIns="68575" spcFirstLastPara="1" rIns="68575" wrap="square" tIns="34275">
            <a:normAutofit lnSpcReduction="10000"/>
          </a:bodyPr>
          <a:lstStyle/>
          <a:p>
            <a:pPr indent="-171450" lvl="0" marL="177800" rtl="0" algn="l">
              <a:lnSpc>
                <a:spcPct val="90000"/>
              </a:lnSpc>
              <a:spcBef>
                <a:spcPts val="0"/>
              </a:spcBef>
              <a:spcAft>
                <a:spcPts val="0"/>
              </a:spcAft>
              <a:buClr>
                <a:schemeClr val="dk1"/>
              </a:buClr>
              <a:buSzPts val="2100"/>
              <a:buChar char="●"/>
            </a:pPr>
            <a:r>
              <a:rPr b="0" lang="en" u="none" strike="noStrike"/>
              <a:t>How to pick best value for </a:t>
            </a:r>
            <a:r>
              <a:rPr i="0" lang="en" sz="2100">
                <a:solidFill>
                  <a:srgbClr val="202122"/>
                </a:solidFill>
              </a:rPr>
              <a:t>λ</a:t>
            </a:r>
            <a:r>
              <a:rPr b="0" lang="en" u="none" strike="noStrike"/>
              <a:t>?</a:t>
            </a:r>
            <a:endParaRPr/>
          </a:p>
          <a:p>
            <a:pPr indent="-171450" lvl="0" marL="177800" rtl="0" algn="l">
              <a:lnSpc>
                <a:spcPct val="90000"/>
              </a:lnSpc>
              <a:spcBef>
                <a:spcPts val="800"/>
              </a:spcBef>
              <a:spcAft>
                <a:spcPts val="0"/>
              </a:spcAft>
              <a:buClr>
                <a:schemeClr val="dk1"/>
              </a:buClr>
              <a:buSzPts val="2100"/>
              <a:buChar char="●"/>
            </a:pPr>
            <a:r>
              <a:rPr b="0" lang="en" u="none" strike="noStrike"/>
              <a:t>Try many </a:t>
            </a:r>
            <a:r>
              <a:rPr i="0" lang="en" sz="2100">
                <a:solidFill>
                  <a:srgbClr val="202122"/>
                </a:solidFill>
              </a:rPr>
              <a:t>λ</a:t>
            </a:r>
            <a:r>
              <a:rPr b="0" lang="en" u="none" strike="noStrike"/>
              <a:t> values &amp; report the one that gets best results?   </a:t>
            </a:r>
            <a:endParaRPr/>
          </a:p>
          <a:p>
            <a:pPr indent="-38100" lvl="0" marL="177800" rtl="0" algn="l">
              <a:lnSpc>
                <a:spcPct val="90000"/>
              </a:lnSpc>
              <a:spcBef>
                <a:spcPts val="800"/>
              </a:spcBef>
              <a:spcAft>
                <a:spcPts val="1200"/>
              </a:spcAft>
              <a:buClr>
                <a:schemeClr val="dk1"/>
              </a:buClr>
              <a:buSzPts val="2100"/>
              <a:buNone/>
            </a:pPr>
            <a:r>
              <a:t/>
            </a:r>
            <a:endParaRPr/>
          </a:p>
        </p:txBody>
      </p:sp>
      <p:sp>
        <p:nvSpPr>
          <p:cNvPr id="676" name="Google Shape;676;p92"/>
          <p:cNvSpPr/>
          <p:nvPr/>
        </p:nvSpPr>
        <p:spPr>
          <a:xfrm>
            <a:off x="2050474" y="2780838"/>
            <a:ext cx="3380400" cy="616500"/>
          </a:xfrm>
          <a:prstGeom prst="rect">
            <a:avLst/>
          </a:prstGeom>
          <a:gradFill>
            <a:gsLst>
              <a:gs pos="0">
                <a:srgbClr val="5F82CA"/>
              </a:gs>
              <a:gs pos="50000">
                <a:srgbClr val="3D70C9"/>
              </a:gs>
              <a:gs pos="100000">
                <a:srgbClr val="2D60B9"/>
              </a:gs>
            </a:gsLst>
            <a:lin ang="5400012" scaled="0"/>
          </a:gradFill>
          <a:ln cap="flat" cmpd="sng" w="7150">
            <a:solidFill>
              <a:schemeClr val="accent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2100">
                <a:solidFill>
                  <a:schemeClr val="dk1"/>
                </a:solidFill>
                <a:latin typeface="Calibri"/>
                <a:ea typeface="Calibri"/>
                <a:cs typeface="Calibri"/>
                <a:sym typeface="Calibri"/>
              </a:rPr>
              <a:t>Training</a:t>
            </a:r>
            <a:endParaRPr sz="2100">
              <a:solidFill>
                <a:schemeClr val="dk1"/>
              </a:solidFill>
              <a:latin typeface="Calibri"/>
              <a:ea typeface="Calibri"/>
              <a:cs typeface="Calibri"/>
              <a:sym typeface="Calibri"/>
            </a:endParaRPr>
          </a:p>
        </p:txBody>
      </p:sp>
      <p:sp>
        <p:nvSpPr>
          <p:cNvPr id="677" name="Google Shape;677;p92"/>
          <p:cNvSpPr/>
          <p:nvPr/>
        </p:nvSpPr>
        <p:spPr>
          <a:xfrm>
            <a:off x="7349834" y="2708563"/>
            <a:ext cx="1205400" cy="616500"/>
          </a:xfrm>
          <a:prstGeom prst="rect">
            <a:avLst/>
          </a:prstGeom>
          <a:solidFill>
            <a:srgbClr val="00B050"/>
          </a:solidFill>
          <a:ln cap="flat" cmpd="sng" w="9525">
            <a:solidFill>
              <a:srgbClr val="31538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2100">
                <a:solidFill>
                  <a:schemeClr val="dk1"/>
                </a:solidFill>
                <a:latin typeface="Calibri"/>
                <a:ea typeface="Calibri"/>
                <a:cs typeface="Calibri"/>
                <a:sym typeface="Calibri"/>
              </a:rPr>
              <a:t>Test</a:t>
            </a:r>
            <a:endParaRPr sz="2100">
              <a:solidFill>
                <a:schemeClr val="dk1"/>
              </a:solidFill>
              <a:latin typeface="Calibri"/>
              <a:ea typeface="Calibri"/>
              <a:cs typeface="Calibri"/>
              <a:sym typeface="Calibri"/>
            </a:endParaRPr>
          </a:p>
        </p:txBody>
      </p:sp>
      <p:sp>
        <p:nvSpPr>
          <p:cNvPr id="678" name="Google Shape;678;p92"/>
          <p:cNvSpPr/>
          <p:nvPr/>
        </p:nvSpPr>
        <p:spPr>
          <a:xfrm>
            <a:off x="2777839" y="3654135"/>
            <a:ext cx="2628900" cy="616500"/>
          </a:xfrm>
          <a:prstGeom prst="rect">
            <a:avLst/>
          </a:prstGeom>
          <a:gradFill>
            <a:gsLst>
              <a:gs pos="0">
                <a:srgbClr val="5F82CA"/>
              </a:gs>
              <a:gs pos="50000">
                <a:srgbClr val="3D70C9"/>
              </a:gs>
              <a:gs pos="100000">
                <a:srgbClr val="2D60B9"/>
              </a:gs>
            </a:gsLst>
            <a:lin ang="5400012" scaled="0"/>
          </a:gradFill>
          <a:ln cap="flat" cmpd="sng" w="7150">
            <a:solidFill>
              <a:schemeClr val="accent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2100">
                <a:solidFill>
                  <a:schemeClr val="dk1"/>
                </a:solidFill>
                <a:latin typeface="Calibri"/>
                <a:ea typeface="Calibri"/>
                <a:cs typeface="Calibri"/>
                <a:sym typeface="Calibri"/>
              </a:rPr>
              <a:t>Training</a:t>
            </a:r>
            <a:endParaRPr sz="2100">
              <a:solidFill>
                <a:schemeClr val="dk1"/>
              </a:solidFill>
              <a:latin typeface="Calibri"/>
              <a:ea typeface="Calibri"/>
              <a:cs typeface="Calibri"/>
              <a:sym typeface="Calibri"/>
            </a:endParaRPr>
          </a:p>
        </p:txBody>
      </p:sp>
      <p:sp>
        <p:nvSpPr>
          <p:cNvPr id="679" name="Google Shape;679;p92"/>
          <p:cNvSpPr/>
          <p:nvPr/>
        </p:nvSpPr>
        <p:spPr>
          <a:xfrm>
            <a:off x="2057398" y="3654135"/>
            <a:ext cx="679800" cy="616500"/>
          </a:xfrm>
          <a:prstGeom prst="rect">
            <a:avLst/>
          </a:prstGeom>
          <a:solidFill>
            <a:schemeClr val="accent4"/>
          </a:solidFill>
          <a:ln cap="flat" cmpd="sng" w="9525">
            <a:solidFill>
              <a:srgbClr val="BA8C00"/>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2100">
                <a:solidFill>
                  <a:schemeClr val="dk1"/>
                </a:solidFill>
                <a:latin typeface="Calibri"/>
                <a:ea typeface="Calibri"/>
                <a:cs typeface="Calibri"/>
                <a:sym typeface="Calibri"/>
              </a:rPr>
              <a:t>Dev</a:t>
            </a:r>
            <a:endParaRPr sz="2100">
              <a:solidFill>
                <a:schemeClr val="dk1"/>
              </a:solidFill>
              <a:latin typeface="Calibri"/>
              <a:ea typeface="Calibri"/>
              <a:cs typeface="Calibri"/>
              <a:sym typeface="Calibri"/>
            </a:endParaRPr>
          </a:p>
        </p:txBody>
      </p:sp>
      <p:sp>
        <p:nvSpPr>
          <p:cNvPr id="680" name="Google Shape;680;p92"/>
          <p:cNvSpPr txBox="1"/>
          <p:nvPr/>
        </p:nvSpPr>
        <p:spPr>
          <a:xfrm>
            <a:off x="10827" y="3027218"/>
            <a:ext cx="17439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400" u="none" strike="noStrike">
                <a:solidFill>
                  <a:schemeClr val="dk1"/>
                </a:solidFill>
                <a:latin typeface="Arial"/>
                <a:ea typeface="Arial"/>
                <a:cs typeface="Arial"/>
                <a:sym typeface="Arial"/>
              </a:rPr>
              <a:t>Pick </a:t>
            </a:r>
            <a:r>
              <a:rPr i="1" lang="en" sz="1400">
                <a:solidFill>
                  <a:srgbClr val="202122"/>
                </a:solidFill>
                <a:latin typeface="Calibri"/>
                <a:ea typeface="Calibri"/>
                <a:cs typeface="Calibri"/>
                <a:sym typeface="Calibri"/>
              </a:rPr>
              <a:t>λ</a:t>
            </a:r>
            <a:r>
              <a:rPr b="0" i="1" lang="en" sz="1400" u="none" strike="noStrike">
                <a:solidFill>
                  <a:schemeClr val="dk1"/>
                </a:solidFill>
                <a:latin typeface="Arial"/>
                <a:ea typeface="Arial"/>
                <a:cs typeface="Arial"/>
                <a:sym typeface="Arial"/>
              </a:rPr>
              <a:t> that gives the best result on this set (~10-20%)</a:t>
            </a:r>
            <a:endParaRPr i="1" sz="1400">
              <a:solidFill>
                <a:schemeClr val="dk1"/>
              </a:solidFill>
              <a:latin typeface="Calibri"/>
              <a:ea typeface="Calibri"/>
              <a:cs typeface="Calibri"/>
              <a:sym typeface="Calibri"/>
            </a:endParaRPr>
          </a:p>
        </p:txBody>
      </p:sp>
      <p:cxnSp>
        <p:nvCxnSpPr>
          <p:cNvPr id="681" name="Google Shape;681;p92"/>
          <p:cNvCxnSpPr>
            <a:stCxn id="680" idx="2"/>
          </p:cNvCxnSpPr>
          <p:nvPr/>
        </p:nvCxnSpPr>
        <p:spPr>
          <a:xfrm>
            <a:off x="882777" y="3743018"/>
            <a:ext cx="1167900" cy="343500"/>
          </a:xfrm>
          <a:prstGeom prst="straightConnector1">
            <a:avLst/>
          </a:prstGeom>
          <a:noFill/>
          <a:ln cap="flat" cmpd="sng" w="7150">
            <a:solidFill>
              <a:schemeClr val="dk1"/>
            </a:solidFill>
            <a:prstDash val="solid"/>
            <a:miter lim="8000"/>
            <a:headEnd len="sm" w="sm" type="none"/>
            <a:tailEnd len="med" w="med" type="triangle"/>
          </a:ln>
        </p:spPr>
      </p:cxnSp>
      <p:cxnSp>
        <p:nvCxnSpPr>
          <p:cNvPr id="682" name="Google Shape;682;p92"/>
          <p:cNvCxnSpPr/>
          <p:nvPr/>
        </p:nvCxnSpPr>
        <p:spPr>
          <a:xfrm>
            <a:off x="3394362" y="3654135"/>
            <a:ext cx="0" cy="616500"/>
          </a:xfrm>
          <a:prstGeom prst="straightConnector1">
            <a:avLst/>
          </a:prstGeom>
          <a:noFill/>
          <a:ln cap="flat" cmpd="sng" w="7150">
            <a:solidFill>
              <a:schemeClr val="dk1"/>
            </a:solidFill>
            <a:prstDash val="solid"/>
            <a:miter lim="8000"/>
            <a:headEnd len="sm" w="sm" type="none"/>
            <a:tailEnd len="sm" w="sm" type="none"/>
          </a:ln>
        </p:spPr>
      </p:cxnSp>
      <p:cxnSp>
        <p:nvCxnSpPr>
          <p:cNvPr id="683" name="Google Shape;683;p92"/>
          <p:cNvCxnSpPr/>
          <p:nvPr/>
        </p:nvCxnSpPr>
        <p:spPr>
          <a:xfrm>
            <a:off x="4769427" y="3657603"/>
            <a:ext cx="0" cy="616500"/>
          </a:xfrm>
          <a:prstGeom prst="straightConnector1">
            <a:avLst/>
          </a:prstGeom>
          <a:noFill/>
          <a:ln cap="flat" cmpd="sng" w="7150">
            <a:solidFill>
              <a:schemeClr val="dk1"/>
            </a:solidFill>
            <a:prstDash val="solid"/>
            <a:miter lim="8000"/>
            <a:headEnd len="sm" w="sm" type="none"/>
            <a:tailEnd len="sm" w="sm" type="none"/>
          </a:ln>
        </p:spPr>
      </p:cxnSp>
      <p:cxnSp>
        <p:nvCxnSpPr>
          <p:cNvPr id="684" name="Google Shape;684;p92"/>
          <p:cNvCxnSpPr/>
          <p:nvPr/>
        </p:nvCxnSpPr>
        <p:spPr>
          <a:xfrm>
            <a:off x="4111334" y="3650676"/>
            <a:ext cx="0" cy="616500"/>
          </a:xfrm>
          <a:prstGeom prst="straightConnector1">
            <a:avLst/>
          </a:prstGeom>
          <a:noFill/>
          <a:ln cap="flat" cmpd="sng" w="7150">
            <a:solidFill>
              <a:schemeClr val="dk1"/>
            </a:solidFill>
            <a:prstDash val="solid"/>
            <a:miter lim="8000"/>
            <a:headEnd len="sm" w="sm" type="none"/>
            <a:tailEnd len="sm" w="sm" type="none"/>
          </a:ln>
        </p:spPr>
      </p:cxnSp>
      <p:sp>
        <p:nvSpPr>
          <p:cNvPr id="685" name="Google Shape;685;p92"/>
          <p:cNvSpPr txBox="1"/>
          <p:nvPr/>
        </p:nvSpPr>
        <p:spPr>
          <a:xfrm>
            <a:off x="5806787" y="4215244"/>
            <a:ext cx="17439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n" sz="1400">
                <a:solidFill>
                  <a:schemeClr val="dk1"/>
                </a:solidFill>
                <a:latin typeface="Arial"/>
                <a:ea typeface="Arial"/>
                <a:cs typeface="Arial"/>
                <a:sym typeface="Arial"/>
              </a:rPr>
              <a:t>Use</a:t>
            </a:r>
            <a:r>
              <a:rPr b="0" i="1" lang="en" sz="1400" u="none" strike="noStrike">
                <a:solidFill>
                  <a:schemeClr val="dk1"/>
                </a:solidFill>
                <a:latin typeface="Arial"/>
                <a:ea typeface="Arial"/>
                <a:cs typeface="Arial"/>
                <a:sym typeface="Arial"/>
              </a:rPr>
              <a:t> that </a:t>
            </a:r>
            <a:r>
              <a:rPr i="1" lang="en" sz="1400">
                <a:solidFill>
                  <a:srgbClr val="202122"/>
                </a:solidFill>
                <a:latin typeface="Calibri"/>
                <a:ea typeface="Calibri"/>
                <a:cs typeface="Calibri"/>
                <a:sym typeface="Calibri"/>
              </a:rPr>
              <a:t>λ to get the smoothed count</a:t>
            </a:r>
            <a:endParaRPr i="1" sz="1400">
              <a:solidFill>
                <a:schemeClr val="dk1"/>
              </a:solidFill>
              <a:latin typeface="Calibri"/>
              <a:ea typeface="Calibri"/>
              <a:cs typeface="Calibri"/>
              <a:sym typeface="Calibri"/>
            </a:endParaRPr>
          </a:p>
        </p:txBody>
      </p:sp>
      <p:sp>
        <p:nvSpPr>
          <p:cNvPr id="686" name="Google Shape;686;p92"/>
          <p:cNvSpPr txBox="1"/>
          <p:nvPr/>
        </p:nvSpPr>
        <p:spPr>
          <a:xfrm>
            <a:off x="7723907" y="3833261"/>
            <a:ext cx="1310100" cy="931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400" u="none" strike="noStrike">
                <a:solidFill>
                  <a:schemeClr val="dk1"/>
                </a:solidFill>
                <a:latin typeface="Calibri"/>
                <a:ea typeface="Calibri"/>
                <a:cs typeface="Calibri"/>
                <a:sym typeface="Calibri"/>
              </a:rPr>
              <a:t>… and report results of that final model on test data</a:t>
            </a:r>
            <a:endParaRPr sz="1400">
              <a:solidFill>
                <a:schemeClr val="dk1"/>
              </a:solidFill>
              <a:latin typeface="Calibri"/>
              <a:ea typeface="Calibri"/>
              <a:cs typeface="Calibri"/>
              <a:sym typeface="Calibri"/>
            </a:endParaRPr>
          </a:p>
        </p:txBody>
      </p:sp>
      <p:cxnSp>
        <p:nvCxnSpPr>
          <p:cNvPr id="687" name="Google Shape;687;p92"/>
          <p:cNvCxnSpPr>
            <a:stCxn id="677" idx="2"/>
            <a:endCxn id="686" idx="0"/>
          </p:cNvCxnSpPr>
          <p:nvPr/>
        </p:nvCxnSpPr>
        <p:spPr>
          <a:xfrm>
            <a:off x="7952534" y="3325063"/>
            <a:ext cx="426300" cy="508200"/>
          </a:xfrm>
          <a:prstGeom prst="straightConnector1">
            <a:avLst/>
          </a:prstGeom>
          <a:noFill/>
          <a:ln cap="flat" cmpd="sng" w="7150">
            <a:solidFill>
              <a:schemeClr val="dk1"/>
            </a:solidFill>
            <a:prstDash val="solid"/>
            <a:miter lim="8000"/>
            <a:headEnd len="sm" w="sm" type="none"/>
            <a:tailEnd len="med" w="med" type="triangle"/>
          </a:ln>
        </p:spPr>
      </p:cxnSp>
      <p:sp>
        <p:nvSpPr>
          <p:cNvPr id="688" name="Google Shape;688;p92"/>
          <p:cNvSpPr/>
          <p:nvPr/>
        </p:nvSpPr>
        <p:spPr>
          <a:xfrm>
            <a:off x="5822116" y="1885359"/>
            <a:ext cx="856642" cy="726381"/>
          </a:xfrm>
          <a:prstGeom prst="flowChartMagneticDisk">
            <a:avLst/>
          </a:prstGeom>
          <a:solidFill>
            <a:schemeClr val="accent2"/>
          </a:solidFill>
          <a:ln cap="flat" cmpd="sng" w="9525">
            <a:solidFill>
              <a:srgbClr val="AC5B23"/>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accent6"/>
                </a:solidFill>
                <a:latin typeface="Calibri"/>
                <a:ea typeface="Calibri"/>
                <a:cs typeface="Calibri"/>
                <a:sym typeface="Calibri"/>
              </a:rPr>
              <a:t>Language Model</a:t>
            </a:r>
            <a:endParaRPr sz="1400">
              <a:solidFill>
                <a:schemeClr val="accent6"/>
              </a:solidFill>
              <a:latin typeface="Calibri"/>
              <a:ea typeface="Calibri"/>
              <a:cs typeface="Calibri"/>
              <a:sym typeface="Calibri"/>
            </a:endParaRPr>
          </a:p>
        </p:txBody>
      </p:sp>
      <p:cxnSp>
        <p:nvCxnSpPr>
          <p:cNvPr id="689" name="Google Shape;689;p92"/>
          <p:cNvCxnSpPr>
            <a:stCxn id="676" idx="3"/>
            <a:endCxn id="688" idx="3"/>
          </p:cNvCxnSpPr>
          <p:nvPr/>
        </p:nvCxnSpPr>
        <p:spPr>
          <a:xfrm flipH="1" rot="10800000">
            <a:off x="5430875" y="2611788"/>
            <a:ext cx="819600" cy="477300"/>
          </a:xfrm>
          <a:prstGeom prst="straightConnector1">
            <a:avLst/>
          </a:prstGeom>
          <a:noFill/>
          <a:ln cap="flat" cmpd="sng" w="7150">
            <a:solidFill>
              <a:schemeClr val="dk1"/>
            </a:solidFill>
            <a:prstDash val="solid"/>
            <a:miter lim="8000"/>
            <a:headEnd len="sm" w="sm" type="none"/>
            <a:tailEnd len="med" w="med" type="triangle"/>
          </a:ln>
        </p:spPr>
      </p:cxnSp>
      <p:cxnSp>
        <p:nvCxnSpPr>
          <p:cNvPr id="690" name="Google Shape;690;p92"/>
          <p:cNvCxnSpPr>
            <a:endCxn id="677" idx="0"/>
          </p:cNvCxnSpPr>
          <p:nvPr/>
        </p:nvCxnSpPr>
        <p:spPr>
          <a:xfrm>
            <a:off x="6678734" y="2265163"/>
            <a:ext cx="1273800" cy="443400"/>
          </a:xfrm>
          <a:prstGeom prst="straightConnector1">
            <a:avLst/>
          </a:prstGeom>
          <a:noFill/>
          <a:ln cap="flat" cmpd="sng" w="7150">
            <a:solidFill>
              <a:schemeClr val="dk1"/>
            </a:solidFill>
            <a:prstDash val="solid"/>
            <a:miter lim="8000"/>
            <a:headEnd len="sm" w="sm" type="none"/>
            <a:tailEnd len="med" w="med" type="triangle"/>
          </a:ln>
        </p:spPr>
      </p:cxnSp>
      <p:cxnSp>
        <p:nvCxnSpPr>
          <p:cNvPr id="691" name="Google Shape;691;p92"/>
          <p:cNvCxnSpPr>
            <a:stCxn id="685" idx="0"/>
            <a:endCxn id="676" idx="3"/>
          </p:cNvCxnSpPr>
          <p:nvPr/>
        </p:nvCxnSpPr>
        <p:spPr>
          <a:xfrm rot="10800000">
            <a:off x="5430737" y="3089044"/>
            <a:ext cx="1248000" cy="1126200"/>
          </a:xfrm>
          <a:prstGeom prst="straightConnector1">
            <a:avLst/>
          </a:prstGeom>
          <a:noFill/>
          <a:ln cap="flat" cmpd="sng" w="7150">
            <a:solidFill>
              <a:schemeClr val="dk1"/>
            </a:solidFill>
            <a:prstDash val="solid"/>
            <a:miter lim="8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500"/>
                                        <p:tgtEl>
                                          <p:spTgt spid="6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9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SRILM - The SRI Language Modeling Toolkit</a:t>
            </a:r>
            <a:endParaRPr/>
          </a:p>
        </p:txBody>
      </p:sp>
      <p:sp>
        <p:nvSpPr>
          <p:cNvPr id="697" name="Google Shape;697;p93"/>
          <p:cNvSpPr txBox="1"/>
          <p:nvPr>
            <p:ph idx="1" type="body"/>
          </p:nvPr>
        </p:nvSpPr>
        <p:spPr>
          <a:xfrm>
            <a:off x="455472" y="1369219"/>
            <a:ext cx="8404500" cy="3263400"/>
          </a:xfrm>
          <a:prstGeom prst="rect">
            <a:avLst/>
          </a:prstGeom>
          <a:noFill/>
          <a:ln>
            <a:noFill/>
          </a:ln>
        </p:spPr>
        <p:txBody>
          <a:bodyPr anchorCtr="0" anchor="t" bIns="34275" lIns="68575" spcFirstLastPara="1" rIns="68575" wrap="square" tIns="34275">
            <a:normAutofit lnSpcReduction="10000"/>
          </a:bodyPr>
          <a:lstStyle/>
          <a:p>
            <a:pPr indent="-177800" lvl="0" marL="177800" rtl="0" algn="l">
              <a:lnSpc>
                <a:spcPct val="90000"/>
              </a:lnSpc>
              <a:spcBef>
                <a:spcPts val="0"/>
              </a:spcBef>
              <a:spcAft>
                <a:spcPts val="0"/>
              </a:spcAft>
              <a:buClr>
                <a:srgbClr val="000000"/>
              </a:buClr>
              <a:buSzPts val="1800"/>
              <a:buChar char="●"/>
            </a:pPr>
            <a:r>
              <a:rPr lang="en" sz="1800">
                <a:solidFill>
                  <a:srgbClr val="000000"/>
                </a:solidFill>
              </a:rPr>
              <a:t>F</a:t>
            </a:r>
            <a:r>
              <a:rPr b="0" i="0" lang="en" sz="1800">
                <a:solidFill>
                  <a:srgbClr val="000000"/>
                </a:solidFill>
              </a:rPr>
              <a:t>or building and applying statistical language models (LMs), primarily for use in:</a:t>
            </a:r>
            <a:endParaRPr/>
          </a:p>
          <a:p>
            <a:pPr indent="-171450" lvl="1" marL="520700" rtl="0" algn="l">
              <a:lnSpc>
                <a:spcPct val="90000"/>
              </a:lnSpc>
              <a:spcBef>
                <a:spcPts val="400"/>
              </a:spcBef>
              <a:spcAft>
                <a:spcPts val="0"/>
              </a:spcAft>
              <a:buClr>
                <a:srgbClr val="000000"/>
              </a:buClr>
              <a:buSzPts val="1500"/>
              <a:buChar char="○"/>
            </a:pPr>
            <a:r>
              <a:rPr lang="en" sz="1500">
                <a:solidFill>
                  <a:srgbClr val="000000"/>
                </a:solidFill>
              </a:rPr>
              <a:t>S</a:t>
            </a:r>
            <a:r>
              <a:rPr b="0" i="0" lang="en" sz="1500">
                <a:solidFill>
                  <a:srgbClr val="000000"/>
                </a:solidFill>
              </a:rPr>
              <a:t>peech recognition</a:t>
            </a:r>
            <a:endParaRPr/>
          </a:p>
          <a:p>
            <a:pPr indent="-171450" lvl="1" marL="520700" rtl="0" algn="l">
              <a:lnSpc>
                <a:spcPct val="90000"/>
              </a:lnSpc>
              <a:spcBef>
                <a:spcPts val="400"/>
              </a:spcBef>
              <a:spcAft>
                <a:spcPts val="0"/>
              </a:spcAft>
              <a:buClr>
                <a:srgbClr val="000000"/>
              </a:buClr>
              <a:buSzPts val="1500"/>
              <a:buChar char="○"/>
            </a:pPr>
            <a:r>
              <a:rPr lang="en" sz="1500">
                <a:solidFill>
                  <a:srgbClr val="000000"/>
                </a:solidFill>
              </a:rPr>
              <a:t>S</a:t>
            </a:r>
            <a:r>
              <a:rPr b="0" i="0" lang="en" sz="1500">
                <a:solidFill>
                  <a:srgbClr val="000000"/>
                </a:solidFill>
              </a:rPr>
              <a:t>tatistical tagging</a:t>
            </a:r>
            <a:endParaRPr/>
          </a:p>
          <a:p>
            <a:pPr indent="-171450" lvl="1" marL="520700" rtl="0" algn="l">
              <a:lnSpc>
                <a:spcPct val="90000"/>
              </a:lnSpc>
              <a:spcBef>
                <a:spcPts val="400"/>
              </a:spcBef>
              <a:spcAft>
                <a:spcPts val="0"/>
              </a:spcAft>
              <a:buClr>
                <a:srgbClr val="000000"/>
              </a:buClr>
              <a:buSzPts val="1500"/>
              <a:buChar char="○"/>
            </a:pPr>
            <a:r>
              <a:rPr b="0" i="0" lang="en" sz="1500">
                <a:solidFill>
                  <a:srgbClr val="000000"/>
                </a:solidFill>
              </a:rPr>
              <a:t>Segmentation</a:t>
            </a:r>
            <a:endParaRPr/>
          </a:p>
          <a:p>
            <a:pPr indent="-171450" lvl="1" marL="520700" rtl="0" algn="l">
              <a:lnSpc>
                <a:spcPct val="90000"/>
              </a:lnSpc>
              <a:spcBef>
                <a:spcPts val="400"/>
              </a:spcBef>
              <a:spcAft>
                <a:spcPts val="0"/>
              </a:spcAft>
              <a:buClr>
                <a:srgbClr val="000000"/>
              </a:buClr>
              <a:buSzPts val="1500"/>
              <a:buChar char="○"/>
            </a:pPr>
            <a:r>
              <a:rPr lang="en" sz="1500">
                <a:solidFill>
                  <a:srgbClr val="000000"/>
                </a:solidFill>
              </a:rPr>
              <a:t>M</a:t>
            </a:r>
            <a:r>
              <a:rPr b="0" i="0" lang="en" sz="1500">
                <a:solidFill>
                  <a:srgbClr val="000000"/>
                </a:solidFill>
              </a:rPr>
              <a:t>achine translation</a:t>
            </a:r>
            <a:endParaRPr/>
          </a:p>
          <a:p>
            <a:pPr indent="-76200" lvl="1" marL="520700" rtl="0" algn="l">
              <a:lnSpc>
                <a:spcPct val="90000"/>
              </a:lnSpc>
              <a:spcBef>
                <a:spcPts val="400"/>
              </a:spcBef>
              <a:spcAft>
                <a:spcPts val="0"/>
              </a:spcAft>
              <a:buClr>
                <a:schemeClr val="dk1"/>
              </a:buClr>
              <a:buSzPts val="1500"/>
              <a:buNone/>
            </a:pPr>
            <a:r>
              <a:t/>
            </a:r>
            <a:endParaRPr b="0" i="0" sz="1500">
              <a:solidFill>
                <a:srgbClr val="000000"/>
              </a:solidFill>
            </a:endParaRPr>
          </a:p>
          <a:p>
            <a:pPr indent="-177800" lvl="0" marL="177800" rtl="0" algn="l">
              <a:lnSpc>
                <a:spcPct val="90000"/>
              </a:lnSpc>
              <a:spcBef>
                <a:spcPts val="800"/>
              </a:spcBef>
              <a:spcAft>
                <a:spcPts val="0"/>
              </a:spcAft>
              <a:buClr>
                <a:srgbClr val="000000"/>
              </a:buClr>
              <a:buSzPts val="1800"/>
              <a:buChar char="●"/>
            </a:pPr>
            <a:r>
              <a:rPr b="0" i="0" lang="en" sz="1800">
                <a:solidFill>
                  <a:srgbClr val="000000"/>
                </a:solidFill>
              </a:rPr>
              <a:t>SRILM consists of the following components:</a:t>
            </a:r>
            <a:endParaRPr b="0" i="0" sz="1200">
              <a:solidFill>
                <a:srgbClr val="000000"/>
              </a:solidFill>
            </a:endParaRPr>
          </a:p>
          <a:p>
            <a:pPr indent="-171450" lvl="1" marL="520700" rtl="0" algn="l">
              <a:lnSpc>
                <a:spcPct val="90000"/>
              </a:lnSpc>
              <a:spcBef>
                <a:spcPts val="400"/>
              </a:spcBef>
              <a:spcAft>
                <a:spcPts val="0"/>
              </a:spcAft>
              <a:buClr>
                <a:srgbClr val="000000"/>
              </a:buClr>
              <a:buSzPts val="1500"/>
              <a:buChar char="○"/>
            </a:pPr>
            <a:r>
              <a:rPr b="0" i="0" lang="en" sz="1500">
                <a:solidFill>
                  <a:srgbClr val="000000"/>
                </a:solidFill>
              </a:rPr>
              <a:t>A set of </a:t>
            </a:r>
            <a:r>
              <a:rPr b="1" i="0" lang="en" sz="1500">
                <a:solidFill>
                  <a:srgbClr val="FF0000"/>
                </a:solidFill>
              </a:rPr>
              <a:t>C++</a:t>
            </a:r>
            <a:r>
              <a:rPr b="0" i="0" lang="en" sz="1500">
                <a:solidFill>
                  <a:srgbClr val="000000"/>
                </a:solidFill>
              </a:rPr>
              <a:t> class libraries implementing </a:t>
            </a:r>
            <a:r>
              <a:rPr b="0" i="1" lang="en" sz="1500">
                <a:solidFill>
                  <a:srgbClr val="0070C0"/>
                </a:solidFill>
              </a:rPr>
              <a:t>language models</a:t>
            </a:r>
            <a:r>
              <a:rPr b="0" i="0" lang="en" sz="1500">
                <a:solidFill>
                  <a:srgbClr val="0070C0"/>
                </a:solidFill>
              </a:rPr>
              <a:t>, </a:t>
            </a:r>
            <a:r>
              <a:rPr b="0" lang="en" sz="1500"/>
              <a:t>supporting</a:t>
            </a:r>
            <a:r>
              <a:rPr b="0" i="1" lang="en" sz="1500">
                <a:solidFill>
                  <a:srgbClr val="0070C0"/>
                </a:solidFill>
              </a:rPr>
              <a:t> data structures</a:t>
            </a:r>
            <a:r>
              <a:rPr b="0" i="0" lang="en" sz="1500">
                <a:solidFill>
                  <a:srgbClr val="0070C0"/>
                </a:solidFill>
              </a:rPr>
              <a:t> </a:t>
            </a:r>
            <a:r>
              <a:rPr b="0" i="0" lang="en" sz="1500"/>
              <a:t>and</a:t>
            </a:r>
            <a:r>
              <a:rPr b="0" i="0" lang="en" sz="1500">
                <a:solidFill>
                  <a:srgbClr val="0070C0"/>
                </a:solidFill>
              </a:rPr>
              <a:t> </a:t>
            </a:r>
            <a:r>
              <a:rPr b="0" lang="en" sz="1500"/>
              <a:t>miscellaneous</a:t>
            </a:r>
            <a:r>
              <a:rPr b="0" i="1" lang="en" sz="1500">
                <a:solidFill>
                  <a:srgbClr val="0070C0"/>
                </a:solidFill>
              </a:rPr>
              <a:t> utility functions</a:t>
            </a:r>
            <a:endParaRPr/>
          </a:p>
          <a:p>
            <a:pPr indent="-171450" lvl="1" marL="520700" rtl="0" algn="l">
              <a:lnSpc>
                <a:spcPct val="90000"/>
              </a:lnSpc>
              <a:spcBef>
                <a:spcPts val="400"/>
              </a:spcBef>
              <a:spcAft>
                <a:spcPts val="0"/>
              </a:spcAft>
              <a:buClr>
                <a:srgbClr val="000000"/>
              </a:buClr>
              <a:buSzPts val="1500"/>
              <a:buChar char="○"/>
            </a:pPr>
            <a:r>
              <a:rPr b="0" i="0" lang="en" sz="1500">
                <a:solidFill>
                  <a:srgbClr val="000000"/>
                </a:solidFill>
              </a:rPr>
              <a:t>A set of </a:t>
            </a:r>
            <a:r>
              <a:rPr b="0" i="0" lang="en" sz="1500">
                <a:solidFill>
                  <a:srgbClr val="FF0000"/>
                </a:solidFill>
              </a:rPr>
              <a:t>executable programs </a:t>
            </a:r>
            <a:r>
              <a:rPr b="0" i="0" lang="en" sz="1500">
                <a:solidFill>
                  <a:srgbClr val="000000"/>
                </a:solidFill>
              </a:rPr>
              <a:t>built on top of these libraries -- </a:t>
            </a:r>
            <a:r>
              <a:rPr b="0" i="1" lang="en" sz="1500">
                <a:solidFill>
                  <a:srgbClr val="0070C0"/>
                </a:solidFill>
              </a:rPr>
              <a:t>training LMs,</a:t>
            </a:r>
            <a:r>
              <a:rPr b="0" i="0" lang="en" sz="1500">
                <a:solidFill>
                  <a:srgbClr val="0070C0"/>
                </a:solidFill>
              </a:rPr>
              <a:t> </a:t>
            </a:r>
            <a:r>
              <a:rPr b="0" i="1" lang="en" sz="1500">
                <a:solidFill>
                  <a:srgbClr val="0070C0"/>
                </a:solidFill>
              </a:rPr>
              <a:t>testing</a:t>
            </a:r>
            <a:r>
              <a:rPr b="0" i="0" lang="en" sz="1500">
                <a:solidFill>
                  <a:srgbClr val="0070C0"/>
                </a:solidFill>
              </a:rPr>
              <a:t>, </a:t>
            </a:r>
            <a:r>
              <a:rPr b="0" i="1" lang="en" sz="1500">
                <a:solidFill>
                  <a:srgbClr val="0070C0"/>
                </a:solidFill>
              </a:rPr>
              <a:t>tagging</a:t>
            </a:r>
            <a:r>
              <a:rPr b="0" lang="en" sz="1500"/>
              <a:t> or </a:t>
            </a:r>
            <a:r>
              <a:rPr b="0" i="1" lang="en" sz="1500">
                <a:solidFill>
                  <a:srgbClr val="0070C0"/>
                </a:solidFill>
              </a:rPr>
              <a:t>segmenting text, etc.</a:t>
            </a:r>
            <a:endParaRPr/>
          </a:p>
          <a:p>
            <a:pPr indent="-101600" lvl="1" marL="520700" rtl="0" algn="l">
              <a:lnSpc>
                <a:spcPct val="90000"/>
              </a:lnSpc>
              <a:spcBef>
                <a:spcPts val="400"/>
              </a:spcBef>
              <a:spcAft>
                <a:spcPts val="0"/>
              </a:spcAft>
              <a:buClr>
                <a:schemeClr val="dk1"/>
              </a:buClr>
              <a:buSzPts val="1200"/>
              <a:buNone/>
            </a:pPr>
            <a:r>
              <a:t/>
            </a:r>
            <a:endParaRPr b="0" i="0" sz="1200">
              <a:solidFill>
                <a:srgbClr val="000000"/>
              </a:solidFill>
            </a:endParaRPr>
          </a:p>
          <a:p>
            <a:pPr indent="-177800" lvl="0" marL="177800" rtl="0" algn="l">
              <a:lnSpc>
                <a:spcPct val="90000"/>
              </a:lnSpc>
              <a:spcBef>
                <a:spcPts val="800"/>
              </a:spcBef>
              <a:spcAft>
                <a:spcPts val="1200"/>
              </a:spcAft>
              <a:buClr>
                <a:srgbClr val="000000"/>
              </a:buClr>
              <a:buSzPts val="1800"/>
              <a:buChar char="●"/>
            </a:pPr>
            <a:r>
              <a:rPr b="0" i="0" lang="en" sz="1800">
                <a:solidFill>
                  <a:srgbClr val="000000"/>
                </a:solidFill>
              </a:rPr>
              <a:t>SRILM runs on UNIX and Windows platforms</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9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SRI Language Modeling</a:t>
            </a:r>
            <a:endParaRPr/>
          </a:p>
        </p:txBody>
      </p:sp>
      <p:pic>
        <p:nvPicPr>
          <p:cNvPr id="703" name="Google Shape;703;p94"/>
          <p:cNvPicPr preferRelativeResize="0"/>
          <p:nvPr>
            <p:ph idx="1" type="body"/>
          </p:nvPr>
        </p:nvPicPr>
        <p:blipFill rotWithShape="1">
          <a:blip r:embed="rId3">
            <a:alphaModFix/>
          </a:blip>
          <a:srcRect b="0" l="0" r="0" t="0"/>
          <a:stretch/>
        </p:blipFill>
        <p:spPr>
          <a:xfrm>
            <a:off x="1674689" y="1369219"/>
            <a:ext cx="5850000" cy="3263400"/>
          </a:xfrm>
          <a:prstGeom prst="rect">
            <a:avLst/>
          </a:prstGeom>
          <a:noFill/>
          <a:ln>
            <a:noFill/>
          </a:ln>
        </p:spPr>
      </p:pic>
      <p:sp>
        <p:nvSpPr>
          <p:cNvPr id="704" name="Google Shape;704;p94"/>
          <p:cNvSpPr/>
          <p:nvPr/>
        </p:nvSpPr>
        <p:spPr>
          <a:xfrm>
            <a:off x="1646981" y="1362292"/>
            <a:ext cx="5917500" cy="1284000"/>
          </a:xfrm>
          <a:prstGeom prst="rect">
            <a:avLst/>
          </a:prstGeom>
          <a:noFill/>
          <a:ln cap="flat" cmpd="sng" w="9525">
            <a:solidFill>
              <a:srgbClr val="31538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500"/>
                                        <p:tgtEl>
                                          <p:spTgt spid="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9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Components of SRILM training command</a:t>
            </a:r>
            <a:endParaRPr/>
          </a:p>
        </p:txBody>
      </p:sp>
      <p:sp>
        <p:nvSpPr>
          <p:cNvPr id="710" name="Google Shape;710;p9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90000"/>
              </a:lnSpc>
              <a:spcBef>
                <a:spcPts val="0"/>
              </a:spcBef>
              <a:spcAft>
                <a:spcPts val="0"/>
              </a:spcAft>
              <a:buClr>
                <a:srgbClr val="0070C0"/>
              </a:buClr>
              <a:buSzPts val="2100"/>
              <a:buNone/>
            </a:pPr>
            <a:r>
              <a:rPr b="1" lang="en">
                <a:solidFill>
                  <a:srgbClr val="0070C0"/>
                </a:solidFill>
              </a:rPr>
              <a:t>#Training</a:t>
            </a:r>
            <a:endParaRPr/>
          </a:p>
          <a:p>
            <a:pPr indent="0" lvl="0" marL="0" rtl="0" algn="l">
              <a:lnSpc>
                <a:spcPct val="90000"/>
              </a:lnSpc>
              <a:spcBef>
                <a:spcPts val="800"/>
              </a:spcBef>
              <a:spcAft>
                <a:spcPts val="0"/>
              </a:spcAft>
              <a:buClr>
                <a:schemeClr val="dk1"/>
              </a:buClr>
              <a:buSzPts val="2100"/>
              <a:buNone/>
            </a:pPr>
            <a:r>
              <a:t/>
            </a:r>
            <a:endParaRPr/>
          </a:p>
          <a:p>
            <a:pPr indent="-184150" lvl="0" marL="177800" rtl="0" algn="l">
              <a:lnSpc>
                <a:spcPct val="90000"/>
              </a:lnSpc>
              <a:spcBef>
                <a:spcPts val="800"/>
              </a:spcBef>
              <a:spcAft>
                <a:spcPts val="0"/>
              </a:spcAft>
              <a:buClr>
                <a:schemeClr val="dk1"/>
              </a:buClr>
              <a:buSzPts val="2100"/>
              <a:buChar char="●"/>
            </a:pPr>
            <a:r>
              <a:rPr lang="en"/>
              <a:t>Executable binary = </a:t>
            </a:r>
            <a:r>
              <a:rPr lang="en">
                <a:solidFill>
                  <a:srgbClr val="7030A0"/>
                </a:solidFill>
              </a:rPr>
              <a:t>{ngram-count}</a:t>
            </a:r>
            <a:endParaRPr/>
          </a:p>
          <a:p>
            <a:pPr indent="-184150" lvl="0" marL="177800" rtl="0" algn="l">
              <a:lnSpc>
                <a:spcPct val="90000"/>
              </a:lnSpc>
              <a:spcBef>
                <a:spcPts val="800"/>
              </a:spcBef>
              <a:spcAft>
                <a:spcPts val="0"/>
              </a:spcAft>
              <a:buClr>
                <a:schemeClr val="dk1"/>
              </a:buClr>
              <a:buSzPts val="2100"/>
              <a:buChar char="●"/>
            </a:pPr>
            <a:r>
              <a:rPr lang="en"/>
              <a:t>Train data </a:t>
            </a:r>
            <a:r>
              <a:rPr lang="en">
                <a:solidFill>
                  <a:srgbClr val="7030A0"/>
                </a:solidFill>
              </a:rPr>
              <a:t>(-text filename)</a:t>
            </a:r>
            <a:endParaRPr/>
          </a:p>
          <a:p>
            <a:pPr indent="-184150" lvl="0" marL="177800" rtl="0" algn="l">
              <a:lnSpc>
                <a:spcPct val="90000"/>
              </a:lnSpc>
              <a:spcBef>
                <a:spcPts val="800"/>
              </a:spcBef>
              <a:spcAft>
                <a:spcPts val="0"/>
              </a:spcAft>
              <a:buClr>
                <a:schemeClr val="dk1"/>
              </a:buClr>
              <a:buSzPts val="2100"/>
              <a:buChar char="●"/>
            </a:pPr>
            <a:r>
              <a:rPr lang="en"/>
              <a:t>Specify value of order </a:t>
            </a:r>
            <a:r>
              <a:rPr b="1" lang="en">
                <a:solidFill>
                  <a:srgbClr val="FF0000"/>
                </a:solidFill>
              </a:rPr>
              <a:t>n</a:t>
            </a:r>
            <a:r>
              <a:rPr lang="en"/>
              <a:t> in n-gram LM </a:t>
            </a:r>
            <a:r>
              <a:rPr lang="en">
                <a:solidFill>
                  <a:srgbClr val="7030A0"/>
                </a:solidFill>
              </a:rPr>
              <a:t>(-order)</a:t>
            </a:r>
            <a:endParaRPr/>
          </a:p>
          <a:p>
            <a:pPr indent="-190500" lvl="1" marL="520700" rtl="0" algn="l">
              <a:lnSpc>
                <a:spcPct val="90000"/>
              </a:lnSpc>
              <a:spcBef>
                <a:spcPts val="400"/>
              </a:spcBef>
              <a:spcAft>
                <a:spcPts val="0"/>
              </a:spcAft>
              <a:buClr>
                <a:schemeClr val="dk1"/>
              </a:buClr>
              <a:buSzPts val="1800"/>
              <a:buChar char="○"/>
            </a:pPr>
            <a:r>
              <a:rPr lang="en"/>
              <a:t>{Unigram (n=1), Bigram (n=2), Trigram (n=3)}</a:t>
            </a:r>
            <a:endParaRPr/>
          </a:p>
          <a:p>
            <a:pPr indent="-184150" lvl="0" marL="177800" rtl="0" algn="l">
              <a:lnSpc>
                <a:spcPct val="90000"/>
              </a:lnSpc>
              <a:spcBef>
                <a:spcPts val="800"/>
              </a:spcBef>
              <a:spcAft>
                <a:spcPts val="0"/>
              </a:spcAft>
              <a:buClr>
                <a:schemeClr val="dk1"/>
              </a:buClr>
              <a:buSzPts val="2100"/>
              <a:buChar char="●"/>
            </a:pPr>
            <a:r>
              <a:rPr lang="en"/>
              <a:t>Specifying the name for language model </a:t>
            </a:r>
            <a:r>
              <a:rPr lang="en">
                <a:solidFill>
                  <a:srgbClr val="7030A0"/>
                </a:solidFill>
              </a:rPr>
              <a:t>(-lm)</a:t>
            </a:r>
            <a:endParaRPr/>
          </a:p>
          <a:p>
            <a:pPr indent="-184150" lvl="0" marL="177800" rtl="0" algn="l">
              <a:lnSpc>
                <a:spcPct val="90000"/>
              </a:lnSpc>
              <a:spcBef>
                <a:spcPts val="800"/>
              </a:spcBef>
              <a:spcAft>
                <a:spcPts val="0"/>
              </a:spcAft>
              <a:buClr>
                <a:schemeClr val="dk1"/>
              </a:buClr>
              <a:buSzPts val="2100"/>
              <a:buChar char="●"/>
            </a:pPr>
            <a:r>
              <a:rPr lang="en"/>
              <a:t>Handling OOV words:</a:t>
            </a:r>
            <a:endParaRPr/>
          </a:p>
          <a:p>
            <a:pPr indent="-190500" lvl="1" marL="520700" rtl="0" algn="l">
              <a:lnSpc>
                <a:spcPct val="90000"/>
              </a:lnSpc>
              <a:spcBef>
                <a:spcPts val="400"/>
              </a:spcBef>
              <a:spcAft>
                <a:spcPts val="0"/>
              </a:spcAft>
              <a:buClr>
                <a:schemeClr val="dk1"/>
              </a:buClr>
              <a:buSzPts val="1800"/>
              <a:buChar char="○"/>
            </a:pPr>
            <a:r>
              <a:rPr lang="en"/>
              <a:t>UNK tag </a:t>
            </a:r>
            <a:r>
              <a:rPr lang="en">
                <a:solidFill>
                  <a:srgbClr val="7030A0"/>
                </a:solidFill>
              </a:rPr>
              <a:t>(-UNK)</a:t>
            </a:r>
            <a:endParaRPr/>
          </a:p>
          <a:p>
            <a:pPr indent="-190500" lvl="1" marL="520700" rtl="0" algn="l">
              <a:lnSpc>
                <a:spcPct val="90000"/>
              </a:lnSpc>
              <a:spcBef>
                <a:spcPts val="400"/>
              </a:spcBef>
              <a:spcAft>
                <a:spcPts val="1200"/>
              </a:spcAft>
              <a:buClr>
                <a:schemeClr val="dk1"/>
              </a:buClr>
              <a:buSzPts val="1800"/>
              <a:buChar char="○"/>
            </a:pPr>
            <a:r>
              <a:rPr lang="en"/>
              <a:t>Smoothing arguments </a:t>
            </a:r>
            <a:r>
              <a:rPr lang="en">
                <a:solidFill>
                  <a:srgbClr val="7030A0"/>
                </a:solidFill>
              </a:rPr>
              <a:t>(-addsmooth #num)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6"/>
          <p:cNvSpPr txBox="1"/>
          <p:nvPr>
            <p:ph type="title"/>
          </p:nvPr>
        </p:nvSpPr>
        <p:spPr>
          <a:xfrm>
            <a:off x="628650" y="66028"/>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Format of N-gram count and lm file</a:t>
            </a:r>
            <a:endParaRPr/>
          </a:p>
        </p:txBody>
      </p:sp>
      <p:pic>
        <p:nvPicPr>
          <p:cNvPr id="716" name="Google Shape;716;p96"/>
          <p:cNvPicPr preferRelativeResize="0"/>
          <p:nvPr>
            <p:ph idx="1" type="body"/>
          </p:nvPr>
        </p:nvPicPr>
        <p:blipFill rotWithShape="1">
          <a:blip r:embed="rId3">
            <a:alphaModFix/>
          </a:blip>
          <a:srcRect b="0" l="0" r="0" t="0"/>
          <a:stretch/>
        </p:blipFill>
        <p:spPr>
          <a:xfrm>
            <a:off x="5992091" y="1079282"/>
            <a:ext cx="1891200" cy="3840300"/>
          </a:xfrm>
          <a:prstGeom prst="rect">
            <a:avLst/>
          </a:prstGeom>
          <a:solidFill>
            <a:schemeClr val="lt1"/>
          </a:solidFill>
          <a:ln cap="flat" cmpd="sng" w="9525">
            <a:solidFill>
              <a:schemeClr val="dk1"/>
            </a:solidFill>
            <a:prstDash val="solid"/>
            <a:miter lim="8000"/>
            <a:headEnd len="sm" w="sm" type="none"/>
            <a:tailEnd len="sm" w="sm" type="none"/>
          </a:ln>
        </p:spPr>
      </p:pic>
      <p:pic>
        <p:nvPicPr>
          <p:cNvPr id="717" name="Google Shape;717;p96"/>
          <p:cNvPicPr preferRelativeResize="0"/>
          <p:nvPr/>
        </p:nvPicPr>
        <p:blipFill rotWithShape="1">
          <a:blip r:embed="rId4">
            <a:alphaModFix/>
          </a:blip>
          <a:srcRect b="0" l="0" r="0" t="0"/>
          <a:stretch/>
        </p:blipFill>
        <p:spPr>
          <a:xfrm>
            <a:off x="1879239" y="1248966"/>
            <a:ext cx="1438923" cy="3656280"/>
          </a:xfrm>
          <a:prstGeom prst="rect">
            <a:avLst/>
          </a:prstGeom>
          <a:solidFill>
            <a:schemeClr val="lt1"/>
          </a:solidFill>
          <a:ln cap="flat" cmpd="sng" w="9525">
            <a:solidFill>
              <a:schemeClr val="dk1"/>
            </a:solidFill>
            <a:prstDash val="solid"/>
            <a:miter lim="8000"/>
            <a:headEnd len="sm" w="sm" type="none"/>
            <a:tailEnd len="sm" w="sm" type="none"/>
          </a:ln>
        </p:spPr>
      </p:pic>
      <p:sp>
        <p:nvSpPr>
          <p:cNvPr id="718" name="Google Shape;718;p96"/>
          <p:cNvSpPr/>
          <p:nvPr/>
        </p:nvSpPr>
        <p:spPr>
          <a:xfrm rot="5400000">
            <a:off x="3592653" y="1199675"/>
            <a:ext cx="638700" cy="896700"/>
          </a:xfrm>
          <a:prstGeom prst="wedgeRoundRectCallout">
            <a:avLst>
              <a:gd fmla="val 43409" name="adj1"/>
              <a:gd fmla="val 102072" name="adj2"/>
              <a:gd fmla="val 16667" name="adj3"/>
            </a:avLst>
          </a:prstGeom>
          <a:solidFill>
            <a:srgbClr val="FFFF00"/>
          </a:solidFill>
          <a:ln cap="flat" cmpd="sng" w="9525">
            <a:solidFill>
              <a:srgbClr val="31538F"/>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9" name="Google Shape;719;p96"/>
          <p:cNvSpPr txBox="1"/>
          <p:nvPr/>
        </p:nvSpPr>
        <p:spPr>
          <a:xfrm>
            <a:off x="3491701" y="1341825"/>
            <a:ext cx="714000" cy="571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n-gram</a:t>
            </a:r>
            <a:endParaRPr sz="1100"/>
          </a:p>
          <a:p>
            <a:pPr indent="0" lvl="0" marL="0" marR="0" rtl="0" algn="ctr">
              <a:spcBef>
                <a:spcPts val="0"/>
              </a:spcBef>
              <a:spcAft>
                <a:spcPts val="0"/>
              </a:spcAft>
              <a:buNone/>
            </a:pPr>
            <a:r>
              <a:rPr lang="en" sz="1400">
                <a:solidFill>
                  <a:schemeClr val="dk1"/>
                </a:solidFill>
                <a:latin typeface="Calibri"/>
                <a:ea typeface="Calibri"/>
                <a:cs typeface="Calibri"/>
                <a:sym typeface="Calibri"/>
              </a:rPr>
              <a:t>counts</a:t>
            </a:r>
            <a:endParaRPr sz="1400">
              <a:solidFill>
                <a:schemeClr val="dk1"/>
              </a:solidFill>
              <a:latin typeface="Calibri"/>
              <a:ea typeface="Calibri"/>
              <a:cs typeface="Calibri"/>
              <a:sym typeface="Calibri"/>
            </a:endParaRPr>
          </a:p>
        </p:txBody>
      </p:sp>
      <p:sp>
        <p:nvSpPr>
          <p:cNvPr id="720" name="Google Shape;720;p96"/>
          <p:cNvSpPr/>
          <p:nvPr/>
        </p:nvSpPr>
        <p:spPr>
          <a:xfrm>
            <a:off x="7365446" y="1268015"/>
            <a:ext cx="1425300" cy="597600"/>
          </a:xfrm>
          <a:prstGeom prst="wedgeRoundRectCallout">
            <a:avLst>
              <a:gd fmla="val -32984" name="adj1"/>
              <a:gd fmla="val 83822" name="adj2"/>
              <a:gd fmla="val 16667" name="adj3"/>
            </a:avLst>
          </a:prstGeom>
          <a:solidFill>
            <a:srgbClr val="FFFF00"/>
          </a:solidFill>
          <a:ln cap="flat" cmpd="sng" w="9525">
            <a:solidFill>
              <a:srgbClr val="31538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Log of backoff weight (base 10)</a:t>
            </a:r>
            <a:endParaRPr sz="1400">
              <a:solidFill>
                <a:schemeClr val="dk1"/>
              </a:solidFill>
              <a:latin typeface="Calibri"/>
              <a:ea typeface="Calibri"/>
              <a:cs typeface="Calibri"/>
              <a:sym typeface="Calibri"/>
            </a:endParaRPr>
          </a:p>
        </p:txBody>
      </p:sp>
      <p:sp>
        <p:nvSpPr>
          <p:cNvPr id="721" name="Google Shape;721;p96"/>
          <p:cNvSpPr/>
          <p:nvPr/>
        </p:nvSpPr>
        <p:spPr>
          <a:xfrm>
            <a:off x="4386850" y="2340500"/>
            <a:ext cx="1438800" cy="736800"/>
          </a:xfrm>
          <a:prstGeom prst="wedgeRoundRectCallout">
            <a:avLst>
              <a:gd fmla="val 65562" name="adj1"/>
              <a:gd fmla="val 135833" name="adj2"/>
              <a:gd fmla="val 16667" name="adj3"/>
            </a:avLst>
          </a:prstGeom>
          <a:solidFill>
            <a:srgbClr val="FFFF00"/>
          </a:solidFill>
          <a:ln cap="flat" cmpd="sng" w="9525">
            <a:solidFill>
              <a:srgbClr val="31538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Log probability (base 10)</a:t>
            </a:r>
            <a:endParaRPr sz="1400">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9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Components of SRILM testing command</a:t>
            </a:r>
            <a:endParaRPr/>
          </a:p>
        </p:txBody>
      </p:sp>
      <p:sp>
        <p:nvSpPr>
          <p:cNvPr id="727" name="Google Shape;727;p9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0070C0"/>
              </a:buClr>
              <a:buSzPts val="2100"/>
              <a:buNone/>
            </a:pPr>
            <a:r>
              <a:rPr lang="en">
                <a:solidFill>
                  <a:srgbClr val="0070C0"/>
                </a:solidFill>
              </a:rPr>
              <a:t>#Testing</a:t>
            </a:r>
            <a:endParaRPr/>
          </a:p>
          <a:p>
            <a:pPr indent="0" lvl="0" marL="0" rtl="0" algn="l">
              <a:lnSpc>
                <a:spcPct val="90000"/>
              </a:lnSpc>
              <a:spcBef>
                <a:spcPts val="800"/>
              </a:spcBef>
              <a:spcAft>
                <a:spcPts val="0"/>
              </a:spcAft>
              <a:buClr>
                <a:schemeClr val="dk1"/>
              </a:buClr>
              <a:buSzPts val="2100"/>
              <a:buNone/>
            </a:pPr>
            <a:r>
              <a:t/>
            </a:r>
            <a:endParaRPr/>
          </a:p>
          <a:p>
            <a:pPr indent="-171450" lvl="0" marL="177800" rtl="0" algn="l">
              <a:lnSpc>
                <a:spcPct val="90000"/>
              </a:lnSpc>
              <a:spcBef>
                <a:spcPts val="800"/>
              </a:spcBef>
              <a:spcAft>
                <a:spcPts val="0"/>
              </a:spcAft>
              <a:buClr>
                <a:schemeClr val="dk1"/>
              </a:buClr>
              <a:buSzPts val="2100"/>
              <a:buChar char="●"/>
            </a:pPr>
            <a:r>
              <a:rPr lang="en"/>
              <a:t>Executable binary = </a:t>
            </a:r>
            <a:r>
              <a:rPr lang="en">
                <a:solidFill>
                  <a:srgbClr val="7030A0"/>
                </a:solidFill>
              </a:rPr>
              <a:t>{ngram}</a:t>
            </a:r>
            <a:endParaRPr/>
          </a:p>
          <a:p>
            <a:pPr indent="-171450" lvl="0" marL="177800" rtl="0" algn="l">
              <a:lnSpc>
                <a:spcPct val="90000"/>
              </a:lnSpc>
              <a:spcBef>
                <a:spcPts val="800"/>
              </a:spcBef>
              <a:spcAft>
                <a:spcPts val="0"/>
              </a:spcAft>
              <a:buClr>
                <a:schemeClr val="dk1"/>
              </a:buClr>
              <a:buSzPts val="2100"/>
              <a:buChar char="●"/>
            </a:pPr>
            <a:r>
              <a:rPr lang="en"/>
              <a:t>Test data (filename)</a:t>
            </a:r>
            <a:endParaRPr/>
          </a:p>
          <a:p>
            <a:pPr indent="-171450" lvl="0" marL="177800" rtl="0" algn="l">
              <a:lnSpc>
                <a:spcPct val="90000"/>
              </a:lnSpc>
              <a:spcBef>
                <a:spcPts val="800"/>
              </a:spcBef>
              <a:spcAft>
                <a:spcPts val="0"/>
              </a:spcAft>
              <a:buClr>
                <a:schemeClr val="dk1"/>
              </a:buClr>
              <a:buSzPts val="2100"/>
              <a:buChar char="●"/>
            </a:pPr>
            <a:r>
              <a:rPr lang="en"/>
              <a:t>Specifying the trained language model </a:t>
            </a:r>
            <a:r>
              <a:rPr lang="en">
                <a:solidFill>
                  <a:srgbClr val="7030A0"/>
                </a:solidFill>
              </a:rPr>
              <a:t>(-lm)</a:t>
            </a:r>
            <a:endParaRPr/>
          </a:p>
          <a:p>
            <a:pPr indent="-171450" lvl="0" marL="177800" rtl="0" algn="l">
              <a:lnSpc>
                <a:spcPct val="90000"/>
              </a:lnSpc>
              <a:spcBef>
                <a:spcPts val="800"/>
              </a:spcBef>
              <a:spcAft>
                <a:spcPts val="0"/>
              </a:spcAft>
              <a:buClr>
                <a:schemeClr val="dk1"/>
              </a:buClr>
              <a:buSzPts val="2100"/>
              <a:buChar char="●"/>
            </a:pPr>
            <a:r>
              <a:rPr lang="en"/>
              <a:t>Arguments for estimating different metrics</a:t>
            </a:r>
            <a:endParaRPr/>
          </a:p>
          <a:p>
            <a:pPr indent="-177800" lvl="1" marL="520700" rtl="0" algn="l">
              <a:lnSpc>
                <a:spcPct val="90000"/>
              </a:lnSpc>
              <a:spcBef>
                <a:spcPts val="400"/>
              </a:spcBef>
              <a:spcAft>
                <a:spcPts val="0"/>
              </a:spcAft>
              <a:buClr>
                <a:schemeClr val="dk1"/>
              </a:buClr>
              <a:buSzPts val="1800"/>
              <a:buChar char="○"/>
            </a:pPr>
            <a:r>
              <a:rPr lang="en"/>
              <a:t>Perplexity </a:t>
            </a:r>
            <a:r>
              <a:rPr lang="en">
                <a:solidFill>
                  <a:srgbClr val="7030A0"/>
                </a:solidFill>
              </a:rPr>
              <a:t>(-ppl)</a:t>
            </a:r>
            <a:endParaRPr/>
          </a:p>
          <a:p>
            <a:pPr indent="-177800" lvl="1" marL="520700" rtl="0" algn="l">
              <a:lnSpc>
                <a:spcPct val="90000"/>
              </a:lnSpc>
              <a:spcBef>
                <a:spcPts val="400"/>
              </a:spcBef>
              <a:spcAft>
                <a:spcPts val="0"/>
              </a:spcAft>
              <a:buClr>
                <a:schemeClr val="dk1"/>
              </a:buClr>
              <a:buSzPts val="1800"/>
              <a:buChar char="○"/>
            </a:pPr>
            <a:r>
              <a:rPr lang="en"/>
              <a:t>Per word probability </a:t>
            </a:r>
            <a:r>
              <a:rPr lang="en">
                <a:solidFill>
                  <a:srgbClr val="7030A0"/>
                </a:solidFill>
              </a:rPr>
              <a:t>(-debug 2)</a:t>
            </a:r>
            <a:endParaRPr/>
          </a:p>
          <a:p>
            <a:pPr indent="-38100" lvl="0" marL="177800" rtl="0" algn="l">
              <a:lnSpc>
                <a:spcPct val="90000"/>
              </a:lnSpc>
              <a:spcBef>
                <a:spcPts val="800"/>
              </a:spcBef>
              <a:spcAft>
                <a:spcPts val="1200"/>
              </a:spcAft>
              <a:buClr>
                <a:schemeClr val="dk1"/>
              </a:buClr>
              <a:buSzPts val="2100"/>
              <a:buNone/>
            </a:pPr>
            <a:r>
              <a:t/>
            </a:r>
            <a:endParaRPr/>
          </a:p>
        </p:txBody>
      </p:sp>
      <p:pic>
        <p:nvPicPr>
          <p:cNvPr id="728" name="Google Shape;728;p97"/>
          <p:cNvPicPr preferRelativeResize="0"/>
          <p:nvPr/>
        </p:nvPicPr>
        <p:blipFill rotWithShape="1">
          <a:blip r:embed="rId3">
            <a:alphaModFix/>
          </a:blip>
          <a:srcRect b="0" l="0" r="0" t="0"/>
          <a:stretch/>
        </p:blipFill>
        <p:spPr>
          <a:xfrm>
            <a:off x="4709354" y="1515016"/>
            <a:ext cx="3964781" cy="478631"/>
          </a:xfrm>
          <a:prstGeom prst="rect">
            <a:avLst/>
          </a:prstGeom>
          <a:solidFill>
            <a:schemeClr val="lt1"/>
          </a:solidFill>
          <a:ln cap="flat" cmpd="sng" w="9525">
            <a:solidFill>
              <a:schemeClr val="dk1"/>
            </a:solidFill>
            <a:prstDash val="solid"/>
            <a:miter lim="8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9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Format of testing results</a:t>
            </a:r>
            <a:endParaRPr/>
          </a:p>
        </p:txBody>
      </p:sp>
      <p:pic>
        <p:nvPicPr>
          <p:cNvPr id="734" name="Google Shape;734;p98"/>
          <p:cNvPicPr preferRelativeResize="0"/>
          <p:nvPr>
            <p:ph idx="1" type="body"/>
          </p:nvPr>
        </p:nvPicPr>
        <p:blipFill rotWithShape="1">
          <a:blip r:embed="rId3">
            <a:alphaModFix/>
          </a:blip>
          <a:srcRect b="0" l="0" r="0" t="0"/>
          <a:stretch/>
        </p:blipFill>
        <p:spPr>
          <a:xfrm>
            <a:off x="4691096" y="1254162"/>
            <a:ext cx="4285200" cy="3006000"/>
          </a:xfrm>
          <a:prstGeom prst="rect">
            <a:avLst/>
          </a:prstGeom>
          <a:noFill/>
          <a:ln cap="sq" cmpd="sng" w="28575">
            <a:solidFill>
              <a:srgbClr val="000000"/>
            </a:solidFill>
            <a:prstDash val="solid"/>
            <a:miter lim="8000"/>
            <a:headEnd len="sm" w="sm" type="none"/>
            <a:tailEnd len="sm" w="sm" type="none"/>
          </a:ln>
          <a:effectLst>
            <a:outerShdw blurRad="38100" rotWithShape="0" algn="tl" dir="2700000" dist="28575">
              <a:srgbClr val="000000">
                <a:alpha val="43140"/>
              </a:srgbClr>
            </a:outerShdw>
          </a:effectLst>
        </p:spPr>
      </p:pic>
      <p:pic>
        <p:nvPicPr>
          <p:cNvPr id="735" name="Google Shape;735;p98"/>
          <p:cNvPicPr preferRelativeResize="0"/>
          <p:nvPr/>
        </p:nvPicPr>
        <p:blipFill rotWithShape="1">
          <a:blip r:embed="rId4">
            <a:alphaModFix/>
          </a:blip>
          <a:srcRect b="18800" l="3624" r="0" t="-2133"/>
          <a:stretch/>
        </p:blipFill>
        <p:spPr>
          <a:xfrm>
            <a:off x="188612" y="2381243"/>
            <a:ext cx="4378747" cy="381001"/>
          </a:xfrm>
          <a:prstGeom prst="rect">
            <a:avLst/>
          </a:prstGeom>
          <a:noFill/>
          <a:ln cap="sq" cmpd="sng" w="28575">
            <a:solidFill>
              <a:srgbClr val="000000"/>
            </a:solidFill>
            <a:prstDash val="solid"/>
            <a:miter lim="8000"/>
            <a:headEnd len="sm" w="sm" type="none"/>
            <a:tailEnd len="sm" w="sm" type="none"/>
          </a:ln>
          <a:effectLst>
            <a:outerShdw blurRad="38100" rotWithShape="0" algn="tl" dir="2700000" dist="28575">
              <a:srgbClr val="000000">
                <a:alpha val="43140"/>
              </a:srgbClr>
            </a:outerShdw>
          </a:effectLst>
        </p:spPr>
      </p:pic>
      <p:sp>
        <p:nvSpPr>
          <p:cNvPr id="736" name="Google Shape;736;p98"/>
          <p:cNvSpPr/>
          <p:nvPr/>
        </p:nvSpPr>
        <p:spPr>
          <a:xfrm>
            <a:off x="727363" y="3273035"/>
            <a:ext cx="1447800" cy="381000"/>
          </a:xfrm>
          <a:prstGeom prst="wedgeRoundRectCallout">
            <a:avLst>
              <a:gd fmla="val 64813" name="adj1"/>
              <a:gd fmla="val -180731" name="adj2"/>
              <a:gd fmla="val 16667" name="adj3"/>
            </a:avLst>
          </a:prstGeom>
          <a:solidFill>
            <a:srgbClr val="FFFF00"/>
          </a:solidFill>
          <a:ln cap="flat" cmpd="sng" w="9525">
            <a:solidFill>
              <a:srgbClr val="31538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200">
                <a:solidFill>
                  <a:schemeClr val="dk1"/>
                </a:solidFill>
                <a:latin typeface="Calibri"/>
                <a:ea typeface="Calibri"/>
                <a:cs typeface="Calibri"/>
                <a:sym typeface="Calibri"/>
              </a:rPr>
              <a:t>N = #words + #&lt;/s&gt;</a:t>
            </a:r>
            <a:endParaRPr sz="1200">
              <a:solidFill>
                <a:schemeClr val="dk1"/>
              </a:solidFill>
              <a:latin typeface="Calibri"/>
              <a:ea typeface="Calibri"/>
              <a:cs typeface="Calibri"/>
              <a:sym typeface="Calibri"/>
            </a:endParaRPr>
          </a:p>
        </p:txBody>
      </p:sp>
      <p:sp>
        <p:nvSpPr>
          <p:cNvPr id="737" name="Google Shape;737;p98"/>
          <p:cNvSpPr/>
          <p:nvPr/>
        </p:nvSpPr>
        <p:spPr>
          <a:xfrm>
            <a:off x="2686050" y="3273035"/>
            <a:ext cx="1045800" cy="381000"/>
          </a:xfrm>
          <a:prstGeom prst="wedgeRoundRectCallout">
            <a:avLst>
              <a:gd fmla="val 37565" name="adj1"/>
              <a:gd fmla="val -184388" name="adj2"/>
              <a:gd fmla="val 16667" name="adj3"/>
            </a:avLst>
          </a:prstGeom>
          <a:solidFill>
            <a:srgbClr val="FFFF00"/>
          </a:solidFill>
          <a:ln cap="flat" cmpd="sng" w="9525">
            <a:solidFill>
              <a:srgbClr val="31538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200">
                <a:solidFill>
                  <a:schemeClr val="dk1"/>
                </a:solidFill>
                <a:latin typeface="Calibri"/>
                <a:ea typeface="Calibri"/>
                <a:cs typeface="Calibri"/>
                <a:sym typeface="Calibri"/>
              </a:rPr>
              <a:t>N = #words</a:t>
            </a:r>
            <a:endParaRPr sz="1200">
              <a:solidFill>
                <a:schemeClr val="dk1"/>
              </a:solidFill>
              <a:latin typeface="Calibri"/>
              <a:ea typeface="Calibri"/>
              <a:cs typeface="Calibri"/>
              <a:sym typeface="Calibri"/>
            </a:endParaRPr>
          </a:p>
        </p:txBody>
      </p:sp>
      <p:sp>
        <p:nvSpPr>
          <p:cNvPr id="738" name="Google Shape;738;p98"/>
          <p:cNvSpPr/>
          <p:nvPr/>
        </p:nvSpPr>
        <p:spPr>
          <a:xfrm>
            <a:off x="588948" y="1131917"/>
            <a:ext cx="1447800" cy="519900"/>
          </a:xfrm>
          <a:prstGeom prst="wedgeRoundRectCallout">
            <a:avLst>
              <a:gd fmla="val 9083" name="adj1"/>
              <a:gd fmla="val 239248" name="adj2"/>
              <a:gd fmla="val 16667" name="adj3"/>
            </a:avLst>
          </a:prstGeom>
          <a:solidFill>
            <a:srgbClr val="FFFF00"/>
          </a:solidFill>
          <a:ln cap="flat" cmpd="sng" w="9525">
            <a:solidFill>
              <a:srgbClr val="31538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200">
                <a:solidFill>
                  <a:schemeClr val="dk1"/>
                </a:solidFill>
                <a:latin typeface="Calibri"/>
                <a:ea typeface="Calibri"/>
                <a:cs typeface="Calibri"/>
                <a:sym typeface="Calibri"/>
              </a:rPr>
              <a:t>Total probability (log base 10)</a:t>
            </a:r>
            <a:endParaRPr sz="1200">
              <a:solidFill>
                <a:schemeClr val="dk1"/>
              </a:solidFill>
              <a:latin typeface="Calibri"/>
              <a:ea typeface="Calibri"/>
              <a:cs typeface="Calibri"/>
              <a:sym typeface="Calibri"/>
            </a:endParaRPr>
          </a:p>
        </p:txBody>
      </p:sp>
      <p:pic>
        <p:nvPicPr>
          <p:cNvPr id="739" name="Google Shape;739;p98"/>
          <p:cNvPicPr preferRelativeResize="0"/>
          <p:nvPr/>
        </p:nvPicPr>
        <p:blipFill rotWithShape="1">
          <a:blip r:embed="rId5">
            <a:alphaModFix/>
          </a:blip>
          <a:srcRect b="0" l="0" r="0" t="0"/>
          <a:stretch/>
        </p:blipFill>
        <p:spPr>
          <a:xfrm>
            <a:off x="1320313" y="3909916"/>
            <a:ext cx="2057400" cy="995123"/>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9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SRILM Documentation</a:t>
            </a:r>
            <a:endParaRPr/>
          </a:p>
        </p:txBody>
      </p:sp>
      <p:sp>
        <p:nvSpPr>
          <p:cNvPr id="745" name="Google Shape;745;p9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None/>
            </a:pPr>
            <a:r>
              <a:t/>
            </a:r>
            <a:endParaRPr/>
          </a:p>
          <a:p>
            <a:pPr indent="0" lvl="0" marL="0" rtl="0" algn="l">
              <a:lnSpc>
                <a:spcPct val="90000"/>
              </a:lnSpc>
              <a:spcBef>
                <a:spcPts val="800"/>
              </a:spcBef>
              <a:spcAft>
                <a:spcPts val="0"/>
              </a:spcAft>
              <a:buClr>
                <a:schemeClr val="dk1"/>
              </a:buClr>
              <a:buSzPts val="2100"/>
              <a:buNone/>
            </a:pPr>
            <a:r>
              <a:rPr lang="en"/>
              <a:t>Know more –  </a:t>
            </a:r>
            <a:endParaRPr/>
          </a:p>
          <a:p>
            <a:pPr indent="0" lvl="0" marL="0" rtl="0" algn="l">
              <a:lnSpc>
                <a:spcPct val="90000"/>
              </a:lnSpc>
              <a:spcBef>
                <a:spcPts val="800"/>
              </a:spcBef>
              <a:spcAft>
                <a:spcPts val="0"/>
              </a:spcAft>
              <a:buClr>
                <a:schemeClr val="dk1"/>
              </a:buClr>
              <a:buSzPts val="2100"/>
              <a:buNone/>
            </a:pPr>
            <a:r>
              <a:t/>
            </a:r>
            <a:endParaRPr/>
          </a:p>
          <a:p>
            <a:pPr indent="0" lvl="0" marL="0" rtl="0" algn="l">
              <a:lnSpc>
                <a:spcPct val="90000"/>
              </a:lnSpc>
              <a:spcBef>
                <a:spcPts val="800"/>
              </a:spcBef>
              <a:spcAft>
                <a:spcPts val="0"/>
              </a:spcAft>
              <a:buClr>
                <a:schemeClr val="dk1"/>
              </a:buClr>
              <a:buSzPts val="2100"/>
              <a:buNone/>
            </a:pPr>
            <a:r>
              <a:t/>
            </a:r>
            <a:endParaRPr/>
          </a:p>
          <a:p>
            <a:pPr indent="-171450" lvl="0" marL="177800" rtl="0" algn="l">
              <a:lnSpc>
                <a:spcPct val="90000"/>
              </a:lnSpc>
              <a:spcBef>
                <a:spcPts val="800"/>
              </a:spcBef>
              <a:spcAft>
                <a:spcPts val="0"/>
              </a:spcAft>
              <a:buClr>
                <a:schemeClr val="dk1"/>
              </a:buClr>
              <a:buSzPts val="2100"/>
              <a:buFont typeface="Noto Sans Symbols"/>
              <a:buChar char="❖"/>
            </a:pPr>
            <a:r>
              <a:rPr lang="en"/>
              <a:t> Link: </a:t>
            </a:r>
            <a:r>
              <a:rPr lang="en" u="sng">
                <a:solidFill>
                  <a:schemeClr val="hlink"/>
                </a:solidFill>
                <a:hlinkClick r:id="rId3"/>
              </a:rPr>
              <a:t>http://www.speech.sri.com/projects/srilm/manpages/</a:t>
            </a:r>
            <a:endParaRPr/>
          </a:p>
          <a:p>
            <a:pPr indent="0" lvl="0" marL="0" rtl="0" algn="l">
              <a:lnSpc>
                <a:spcPct val="90000"/>
              </a:lnSpc>
              <a:spcBef>
                <a:spcPts val="800"/>
              </a:spcBef>
              <a:spcAft>
                <a:spcPts val="1200"/>
              </a:spcAft>
              <a:buClr>
                <a:schemeClr val="dk1"/>
              </a:buClr>
              <a:buSzPts val="2100"/>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0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Instructions from In-Class Tutorial</a:t>
            </a:r>
            <a:endParaRPr/>
          </a:p>
        </p:txBody>
      </p:sp>
      <p:sp>
        <p:nvSpPr>
          <p:cNvPr id="751" name="Google Shape;751;p10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lnSpcReduction="10000"/>
          </a:bodyPr>
          <a:lstStyle/>
          <a:p>
            <a:pPr indent="-50800" lvl="0" marL="177800" rtl="0" algn="l">
              <a:lnSpc>
                <a:spcPct val="90000"/>
              </a:lnSpc>
              <a:spcBef>
                <a:spcPts val="0"/>
              </a:spcBef>
              <a:spcAft>
                <a:spcPts val="0"/>
              </a:spcAft>
              <a:buClr>
                <a:schemeClr val="dk1"/>
              </a:buClr>
              <a:buSzPts val="2100"/>
              <a:buNone/>
            </a:pPr>
            <a:r>
              <a:t/>
            </a:r>
            <a:endParaRPr/>
          </a:p>
          <a:p>
            <a:pPr indent="-184150" lvl="0" marL="177800" rtl="0" algn="l">
              <a:lnSpc>
                <a:spcPct val="90000"/>
              </a:lnSpc>
              <a:spcBef>
                <a:spcPts val="800"/>
              </a:spcBef>
              <a:spcAft>
                <a:spcPts val="0"/>
              </a:spcAft>
              <a:buClr>
                <a:srgbClr val="0070C0"/>
              </a:buClr>
              <a:buSzPts val="2100"/>
              <a:buChar char="●"/>
            </a:pPr>
            <a:r>
              <a:rPr lang="en">
                <a:solidFill>
                  <a:srgbClr val="0070C0"/>
                </a:solidFill>
              </a:rPr>
              <a:t>Executable binary files</a:t>
            </a:r>
            <a:r>
              <a:rPr lang="en"/>
              <a:t> – {ngram-count, ngram}</a:t>
            </a:r>
            <a:endParaRPr/>
          </a:p>
          <a:p>
            <a:pPr indent="-50800" lvl="0" marL="177800" rtl="0" algn="l">
              <a:lnSpc>
                <a:spcPct val="90000"/>
              </a:lnSpc>
              <a:spcBef>
                <a:spcPts val="800"/>
              </a:spcBef>
              <a:spcAft>
                <a:spcPts val="0"/>
              </a:spcAft>
              <a:buClr>
                <a:schemeClr val="dk1"/>
              </a:buClr>
              <a:buSzPts val="2100"/>
              <a:buNone/>
            </a:pPr>
            <a:r>
              <a:t/>
            </a:r>
            <a:endParaRPr/>
          </a:p>
          <a:p>
            <a:pPr indent="-184150" lvl="0" marL="177800" rtl="0" algn="l">
              <a:lnSpc>
                <a:spcPct val="90000"/>
              </a:lnSpc>
              <a:spcBef>
                <a:spcPts val="800"/>
              </a:spcBef>
              <a:spcAft>
                <a:spcPts val="0"/>
              </a:spcAft>
              <a:buClr>
                <a:srgbClr val="0070C0"/>
              </a:buClr>
              <a:buSzPts val="2100"/>
              <a:buChar char="●"/>
            </a:pPr>
            <a:r>
              <a:rPr lang="en">
                <a:solidFill>
                  <a:srgbClr val="0070C0"/>
                </a:solidFill>
              </a:rPr>
              <a:t>Dataset</a:t>
            </a:r>
            <a:r>
              <a:rPr lang="en"/>
              <a:t> – </a:t>
            </a:r>
            <a:endParaRPr/>
          </a:p>
          <a:p>
            <a:pPr indent="-190500" lvl="1" marL="520700" rtl="0" algn="l">
              <a:lnSpc>
                <a:spcPct val="90000"/>
              </a:lnSpc>
              <a:spcBef>
                <a:spcPts val="400"/>
              </a:spcBef>
              <a:spcAft>
                <a:spcPts val="0"/>
              </a:spcAft>
              <a:buClr>
                <a:schemeClr val="dk1"/>
              </a:buClr>
              <a:buSzPts val="1800"/>
              <a:buChar char="○"/>
            </a:pPr>
            <a:r>
              <a:rPr lang="en"/>
              <a:t>Toy dataset</a:t>
            </a:r>
            <a:endParaRPr/>
          </a:p>
          <a:p>
            <a:pPr indent="-190500" lvl="1" marL="520700" rtl="0" algn="l">
              <a:lnSpc>
                <a:spcPct val="90000"/>
              </a:lnSpc>
              <a:spcBef>
                <a:spcPts val="400"/>
              </a:spcBef>
              <a:spcAft>
                <a:spcPts val="0"/>
              </a:spcAft>
              <a:buClr>
                <a:schemeClr val="dk1"/>
              </a:buClr>
              <a:buSzPts val="1800"/>
              <a:buChar char="○"/>
            </a:pPr>
            <a:r>
              <a:rPr lang="en"/>
              <a:t>Brown corpus {</a:t>
            </a:r>
            <a:r>
              <a:rPr b="0" i="0" lang="en" sz="1500" u="none" strike="noStrike">
                <a:latin typeface="Arial"/>
                <a:ea typeface="Arial"/>
                <a:cs typeface="Arial"/>
                <a:sym typeface="Arial"/>
              </a:rPr>
              <a:t>brown-train, brown-dev, brown-test</a:t>
            </a:r>
            <a:r>
              <a:rPr lang="en"/>
              <a:t>}</a:t>
            </a:r>
            <a:endParaRPr/>
          </a:p>
          <a:p>
            <a:pPr indent="-50800" lvl="0" marL="177800" rtl="0" algn="l">
              <a:lnSpc>
                <a:spcPct val="90000"/>
              </a:lnSpc>
              <a:spcBef>
                <a:spcPts val="800"/>
              </a:spcBef>
              <a:spcAft>
                <a:spcPts val="0"/>
              </a:spcAft>
              <a:buClr>
                <a:schemeClr val="dk1"/>
              </a:buClr>
              <a:buSzPts val="2100"/>
              <a:buNone/>
            </a:pPr>
            <a:r>
              <a:t/>
            </a:r>
            <a:endParaRPr/>
          </a:p>
          <a:p>
            <a:pPr indent="-184150" lvl="0" marL="177800" rtl="0" algn="l">
              <a:lnSpc>
                <a:spcPct val="90000"/>
              </a:lnSpc>
              <a:spcBef>
                <a:spcPts val="800"/>
              </a:spcBef>
              <a:spcAft>
                <a:spcPts val="0"/>
              </a:spcAft>
              <a:buClr>
                <a:srgbClr val="0070C0"/>
              </a:buClr>
              <a:buSzPts val="2100"/>
              <a:buChar char="●"/>
            </a:pPr>
            <a:r>
              <a:rPr lang="en">
                <a:solidFill>
                  <a:srgbClr val="0070C0"/>
                </a:solidFill>
              </a:rPr>
              <a:t>Navigate</a:t>
            </a:r>
            <a:r>
              <a:rPr lang="en"/>
              <a:t> </a:t>
            </a:r>
            <a:r>
              <a:rPr lang="en">
                <a:solidFill>
                  <a:srgbClr val="0070C0"/>
                </a:solidFill>
              </a:rPr>
              <a:t>your terminal </a:t>
            </a:r>
            <a:r>
              <a:rPr lang="en"/>
              <a:t>to the working directory </a:t>
            </a:r>
            <a:r>
              <a:rPr lang="en">
                <a:solidFill>
                  <a:srgbClr val="FF0000"/>
                </a:solidFill>
              </a:rPr>
              <a:t>containing above files</a:t>
            </a:r>
            <a:endParaRPr/>
          </a:p>
          <a:p>
            <a:pPr indent="-50800" lvl="0" marL="177800" rtl="0" algn="l">
              <a:lnSpc>
                <a:spcPct val="90000"/>
              </a:lnSpc>
              <a:spcBef>
                <a:spcPts val="800"/>
              </a:spcBef>
              <a:spcAft>
                <a:spcPts val="0"/>
              </a:spcAft>
              <a:buClr>
                <a:schemeClr val="dk1"/>
              </a:buClr>
              <a:buSzPts val="2100"/>
              <a:buNone/>
            </a:pPr>
            <a:r>
              <a:t/>
            </a:r>
            <a:endParaRPr/>
          </a:p>
          <a:p>
            <a:pPr indent="-184150" lvl="0" marL="177800" rtl="0" algn="l">
              <a:lnSpc>
                <a:spcPct val="90000"/>
              </a:lnSpc>
              <a:spcBef>
                <a:spcPts val="800"/>
              </a:spcBef>
              <a:spcAft>
                <a:spcPts val="1200"/>
              </a:spcAft>
              <a:buClr>
                <a:srgbClr val="0070C0"/>
              </a:buClr>
              <a:buSzPts val="2100"/>
              <a:buChar char="●"/>
            </a:pPr>
            <a:r>
              <a:rPr lang="en">
                <a:solidFill>
                  <a:srgbClr val="0070C0"/>
                </a:solidFill>
              </a:rPr>
              <a:t>Run SRILM commands </a:t>
            </a:r>
            <a:r>
              <a:rPr lang="en"/>
              <a:t>from the In-Class tutorial</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01"/>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4500"/>
              <a:buFont typeface="Calibri"/>
              <a:buNone/>
            </a:pPr>
            <a:r>
              <a:rPr lang="en"/>
              <a:t>Let’s solve some problems…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02"/>
          <p:cNvSpPr txBox="1"/>
          <p:nvPr>
            <p:ph idx="1" type="body"/>
          </p:nvPr>
        </p:nvSpPr>
        <p:spPr>
          <a:xfrm>
            <a:off x="311700" y="2661050"/>
            <a:ext cx="8520600" cy="1907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400">
                <a:solidFill>
                  <a:srgbClr val="202122"/>
                </a:solidFill>
              </a:rPr>
              <a:t>Appendix</a:t>
            </a:r>
            <a:endParaRPr b="1" sz="2400">
              <a:solidFill>
                <a:srgbClr val="202122"/>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03"/>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Shannon’s Noisy Channel Model</a:t>
            </a:r>
            <a:endParaRPr b="0" sz="3300" strike="noStrike">
              <a:solidFill>
                <a:srgbClr val="000000"/>
              </a:solidFill>
              <a:latin typeface="Calibri"/>
              <a:ea typeface="Calibri"/>
              <a:cs typeface="Calibri"/>
              <a:sym typeface="Calibri"/>
            </a:endParaRPr>
          </a:p>
        </p:txBody>
      </p:sp>
      <p:sp>
        <p:nvSpPr>
          <p:cNvPr id="767" name="Google Shape;767;p103"/>
          <p:cNvSpPr txBox="1"/>
          <p:nvPr>
            <p:ph idx="4294967295" type="body"/>
          </p:nvPr>
        </p:nvSpPr>
        <p:spPr>
          <a:xfrm>
            <a:off x="628560" y="1369170"/>
            <a:ext cx="80823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1" i="0" lang="en" sz="2100" u="none" cap="none" strike="noStrike">
                <a:solidFill>
                  <a:srgbClr val="000000"/>
                </a:solidFill>
                <a:latin typeface="Calibri"/>
                <a:ea typeface="Calibri"/>
                <a:cs typeface="Calibri"/>
                <a:sym typeface="Calibri"/>
              </a:rPr>
              <a:t>Aim:</a:t>
            </a:r>
            <a:r>
              <a:rPr b="0" i="0" lang="en" sz="2100" u="none" cap="none" strike="noStrike">
                <a:solidFill>
                  <a:srgbClr val="000000"/>
                </a:solidFill>
                <a:latin typeface="Calibri"/>
                <a:ea typeface="Calibri"/>
                <a:cs typeface="Calibri"/>
                <a:sym typeface="Calibri"/>
              </a:rPr>
              <a:t> </a:t>
            </a:r>
            <a:r>
              <a:rPr b="0" i="0" lang="en" sz="2100" u="none" cap="none" strike="noStrike">
                <a:solidFill>
                  <a:srgbClr val="0070C0"/>
                </a:solidFill>
                <a:latin typeface="Calibri"/>
                <a:ea typeface="Calibri"/>
                <a:cs typeface="Calibri"/>
                <a:sym typeface="Calibri"/>
              </a:rPr>
              <a:t>Optimize</a:t>
            </a:r>
            <a:r>
              <a:rPr b="0" i="0" lang="en" sz="2100" u="none" cap="none" strike="noStrike">
                <a:solidFill>
                  <a:srgbClr val="FF0000"/>
                </a:solidFill>
                <a:latin typeface="Calibri"/>
                <a:ea typeface="Calibri"/>
                <a:cs typeface="Calibri"/>
                <a:sym typeface="Calibri"/>
              </a:rPr>
              <a:t> </a:t>
            </a:r>
            <a:r>
              <a:rPr b="0" i="0" lang="en" sz="2100" u="none" cap="none" strike="noStrike">
                <a:solidFill>
                  <a:srgbClr val="000000"/>
                </a:solidFill>
                <a:latin typeface="Calibri"/>
                <a:ea typeface="Calibri"/>
                <a:cs typeface="Calibri"/>
                <a:sym typeface="Calibri"/>
              </a:rPr>
              <a:t>in terms of </a:t>
            </a:r>
            <a:r>
              <a:rPr b="0" i="0" lang="en" sz="2100" u="none" cap="none" strike="noStrike">
                <a:solidFill>
                  <a:srgbClr val="FF0000"/>
                </a:solidFill>
                <a:latin typeface="Calibri"/>
                <a:ea typeface="Calibri"/>
                <a:cs typeface="Calibri"/>
                <a:sym typeface="Calibri"/>
              </a:rPr>
              <a:t>throughput </a:t>
            </a:r>
            <a:r>
              <a:rPr b="0" i="0" lang="en" sz="2100" u="none" cap="none" strike="noStrike">
                <a:solidFill>
                  <a:srgbClr val="000000"/>
                </a:solidFill>
                <a:latin typeface="Calibri"/>
                <a:ea typeface="Calibri"/>
                <a:cs typeface="Calibri"/>
                <a:sym typeface="Calibri"/>
              </a:rPr>
              <a:t>and</a:t>
            </a:r>
            <a:r>
              <a:rPr b="0" i="0" lang="en" sz="2100" u="none" cap="none" strike="noStrike">
                <a:solidFill>
                  <a:srgbClr val="FF0000"/>
                </a:solidFill>
                <a:latin typeface="Calibri"/>
                <a:ea typeface="Calibri"/>
                <a:cs typeface="Calibri"/>
                <a:sym typeface="Calibri"/>
              </a:rPr>
              <a:t> accuracy</a:t>
            </a:r>
            <a:r>
              <a:rPr b="0" i="0" lang="en" sz="2100" u="none" cap="none" strike="noStrike">
                <a:solidFill>
                  <a:srgbClr val="000000"/>
                </a:solidFill>
                <a:latin typeface="Calibri"/>
                <a:ea typeface="Calibri"/>
                <a:cs typeface="Calibri"/>
                <a:sym typeface="Calibri"/>
              </a:rPr>
              <a:t> while communicating messages in the </a:t>
            </a:r>
            <a:r>
              <a:rPr b="0" i="0" lang="en" sz="2100" u="none" cap="none" strike="noStrike">
                <a:solidFill>
                  <a:srgbClr val="FF0000"/>
                </a:solidFill>
                <a:latin typeface="Calibri"/>
                <a:ea typeface="Calibri"/>
                <a:cs typeface="Calibri"/>
                <a:sym typeface="Calibri"/>
              </a:rPr>
              <a:t>presence of noise </a:t>
            </a:r>
            <a:r>
              <a:rPr b="0" i="0" lang="en" sz="2100" u="none" cap="none" strike="noStrike">
                <a:solidFill>
                  <a:srgbClr val="000000"/>
                </a:solidFill>
                <a:latin typeface="Calibri"/>
                <a:ea typeface="Calibri"/>
                <a:cs typeface="Calibri"/>
                <a:sym typeface="Calibri"/>
              </a:rPr>
              <a:t>in the channel</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70C0"/>
              </a:buClr>
              <a:buSzPts val="2100"/>
              <a:buFont typeface="Arial"/>
              <a:buChar char="•"/>
            </a:pPr>
            <a:r>
              <a:rPr b="0" i="0" lang="en" sz="2100" u="none" cap="none" strike="noStrike">
                <a:solidFill>
                  <a:srgbClr val="0070C0"/>
                </a:solidFill>
                <a:latin typeface="Calibri"/>
                <a:ea typeface="Calibri"/>
                <a:cs typeface="Calibri"/>
                <a:sym typeface="Calibri"/>
              </a:rPr>
              <a:t>Duality</a:t>
            </a:r>
            <a:r>
              <a:rPr b="0" i="0" lang="en" sz="2100" u="none" cap="none" strike="noStrike">
                <a:solidFill>
                  <a:srgbClr val="FF0000"/>
                </a:solidFill>
                <a:latin typeface="Calibri"/>
                <a:ea typeface="Calibri"/>
                <a:cs typeface="Calibri"/>
                <a:sym typeface="Calibri"/>
              </a:rPr>
              <a:t> </a:t>
            </a:r>
            <a:r>
              <a:rPr b="0" i="0" lang="en" sz="2100" u="none" cap="none" strike="noStrike">
                <a:solidFill>
                  <a:srgbClr val="000000"/>
                </a:solidFill>
                <a:latin typeface="Calibri"/>
                <a:ea typeface="Calibri"/>
                <a:cs typeface="Calibri"/>
                <a:sym typeface="Calibri"/>
              </a:rPr>
              <a:t>between</a:t>
            </a:r>
            <a:r>
              <a:rPr b="0" i="0" lang="en" sz="2100" u="none" cap="none" strike="noStrike">
                <a:solidFill>
                  <a:srgbClr val="FF0000"/>
                </a:solidFill>
                <a:latin typeface="Calibri"/>
                <a:ea typeface="Calibri"/>
                <a:cs typeface="Calibri"/>
                <a:sym typeface="Calibri"/>
              </a:rPr>
              <a:t> compression</a:t>
            </a:r>
            <a:r>
              <a:rPr b="0" i="0" lang="en" sz="2100" u="none" cap="none" strike="noStrike">
                <a:solidFill>
                  <a:srgbClr val="000000"/>
                </a:solidFill>
                <a:latin typeface="Calibri"/>
                <a:ea typeface="Calibri"/>
                <a:cs typeface="Calibri"/>
                <a:sym typeface="Calibri"/>
              </a:rPr>
              <a:t> (achieved by </a:t>
            </a:r>
            <a:r>
              <a:rPr b="0" i="0" lang="en" sz="2100" u="none" cap="none" strike="noStrike">
                <a:solidFill>
                  <a:srgbClr val="7030A0"/>
                </a:solidFill>
                <a:latin typeface="Calibri"/>
                <a:ea typeface="Calibri"/>
                <a:cs typeface="Calibri"/>
                <a:sym typeface="Calibri"/>
              </a:rPr>
              <a:t>removing</a:t>
            </a:r>
            <a:r>
              <a:rPr b="0" i="0" lang="en" sz="2100" u="none" cap="none" strike="noStrike">
                <a:solidFill>
                  <a:srgbClr val="000000"/>
                </a:solidFill>
                <a:latin typeface="Calibri"/>
                <a:ea typeface="Calibri"/>
                <a:cs typeface="Calibri"/>
                <a:sym typeface="Calibri"/>
              </a:rPr>
              <a:t> all </a:t>
            </a:r>
            <a:r>
              <a:rPr b="0" i="0" lang="en" sz="2100" u="none" cap="none" strike="noStrike">
                <a:solidFill>
                  <a:srgbClr val="7030A0"/>
                </a:solidFill>
                <a:latin typeface="Calibri"/>
                <a:ea typeface="Calibri"/>
                <a:cs typeface="Calibri"/>
                <a:sym typeface="Calibri"/>
              </a:rPr>
              <a:t>redundancy</a:t>
            </a:r>
            <a:r>
              <a:rPr b="0" i="0" lang="en" sz="2100" u="none" cap="none" strike="noStrike">
                <a:solidFill>
                  <a:srgbClr val="000000"/>
                </a:solidFill>
                <a:latin typeface="Calibri"/>
                <a:ea typeface="Calibri"/>
                <a:cs typeface="Calibri"/>
                <a:sym typeface="Calibri"/>
              </a:rPr>
              <a:t>)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FF0000"/>
              </a:buClr>
              <a:buSzPts val="2100"/>
              <a:buFont typeface="Calibri"/>
              <a:buNone/>
            </a:pPr>
            <a:r>
              <a:rPr b="0" i="0" lang="en" sz="2100" u="none" cap="none" strike="noStrike">
                <a:solidFill>
                  <a:srgbClr val="FF0000"/>
                </a:solidFill>
                <a:latin typeface="Calibri"/>
                <a:ea typeface="Calibri"/>
                <a:cs typeface="Calibri"/>
                <a:sym typeface="Calibri"/>
              </a:rPr>
              <a:t>   </a:t>
            </a:r>
            <a:r>
              <a:rPr b="0" i="0" lang="en" sz="2100" u="none" cap="none" strike="noStrike">
                <a:solidFill>
                  <a:srgbClr val="000000"/>
                </a:solidFill>
                <a:latin typeface="Calibri"/>
                <a:ea typeface="Calibri"/>
                <a:cs typeface="Calibri"/>
                <a:sym typeface="Calibri"/>
              </a:rPr>
              <a:t>and</a:t>
            </a:r>
            <a:r>
              <a:rPr b="0" i="0" lang="en" sz="2100" u="none" cap="none" strike="noStrike">
                <a:solidFill>
                  <a:srgbClr val="FF0000"/>
                </a:solidFill>
                <a:latin typeface="Calibri"/>
                <a:ea typeface="Calibri"/>
                <a:cs typeface="Calibri"/>
                <a:sym typeface="Calibri"/>
              </a:rPr>
              <a:t> transmission accuracy</a:t>
            </a:r>
            <a:r>
              <a:rPr b="0" i="0" lang="en" sz="2100" u="none" cap="none" strike="noStrike">
                <a:solidFill>
                  <a:srgbClr val="000000"/>
                </a:solidFill>
                <a:latin typeface="Calibri"/>
                <a:ea typeface="Calibri"/>
                <a:cs typeface="Calibri"/>
                <a:sym typeface="Calibri"/>
              </a:rPr>
              <a:t> (achieved by </a:t>
            </a:r>
            <a:r>
              <a:rPr b="0" i="0" lang="en" sz="2100" u="none" cap="none" strike="noStrike">
                <a:solidFill>
                  <a:srgbClr val="7030A0"/>
                </a:solidFill>
                <a:latin typeface="Calibri"/>
                <a:ea typeface="Calibri"/>
                <a:cs typeface="Calibri"/>
                <a:sym typeface="Calibri"/>
              </a:rPr>
              <a:t>adding</a:t>
            </a:r>
            <a:r>
              <a:rPr b="0" i="0" lang="en" sz="2100" u="none" cap="none" strike="noStrike">
                <a:solidFill>
                  <a:srgbClr val="000000"/>
                </a:solidFill>
                <a:latin typeface="Calibri"/>
                <a:ea typeface="Calibri"/>
                <a:cs typeface="Calibri"/>
                <a:sym typeface="Calibri"/>
              </a:rPr>
              <a:t> controlled </a:t>
            </a:r>
            <a:r>
              <a:rPr b="0" i="0" lang="en" sz="2100" u="none" cap="none" strike="noStrike">
                <a:solidFill>
                  <a:srgbClr val="7030A0"/>
                </a:solidFill>
                <a:latin typeface="Calibri"/>
                <a:ea typeface="Calibri"/>
                <a:cs typeface="Calibri"/>
                <a:sym typeface="Calibri"/>
              </a:rPr>
              <a:t>redundancy</a:t>
            </a:r>
            <a:r>
              <a:rPr b="0" i="0" lang="en" sz="2100" u="none" cap="none" strike="noStrike">
                <a:solidFill>
                  <a:srgbClr val="000000"/>
                </a:solidFill>
                <a:latin typeface="Calibri"/>
                <a:ea typeface="Calibri"/>
                <a:cs typeface="Calibri"/>
                <a:sym typeface="Calibri"/>
              </a:rPr>
              <a:t>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   so that the input can be recovered in the presence of noise)</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SzPts val="2100"/>
              <a:buFont typeface="Arial"/>
              <a:buNone/>
            </a:pPr>
            <a:r>
              <a:t/>
            </a:r>
            <a:endParaRPr b="0" i="0" sz="2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04"/>
          <p:cNvSpPr/>
          <p:nvPr/>
        </p:nvSpPr>
        <p:spPr>
          <a:xfrm>
            <a:off x="5581710" y="3066930"/>
            <a:ext cx="857100" cy="399900"/>
          </a:xfrm>
          <a:prstGeom prst="rect">
            <a:avLst/>
          </a:prstGeom>
          <a:solidFill>
            <a:schemeClr val="lt1"/>
          </a:solidFill>
          <a:ln cap="flat" cmpd="sng" w="7150">
            <a:solidFill>
              <a:srgbClr val="00000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3" name="Google Shape;773;p104"/>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Shannon’s Noisy Channel Model</a:t>
            </a:r>
            <a:endParaRPr b="0" sz="3300" strike="noStrike">
              <a:solidFill>
                <a:srgbClr val="000000"/>
              </a:solidFill>
              <a:latin typeface="Calibri"/>
              <a:ea typeface="Calibri"/>
              <a:cs typeface="Calibri"/>
              <a:sym typeface="Calibri"/>
            </a:endParaRPr>
          </a:p>
        </p:txBody>
      </p:sp>
      <p:sp>
        <p:nvSpPr>
          <p:cNvPr id="774" name="Google Shape;774;p104"/>
          <p:cNvSpPr txBox="1"/>
          <p:nvPr>
            <p:ph idx="4294967295" type="body"/>
          </p:nvPr>
        </p:nvSpPr>
        <p:spPr>
          <a:xfrm>
            <a:off x="628560" y="1369170"/>
            <a:ext cx="78864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1200"/>
              </a:spcAft>
              <a:buClr>
                <a:srgbClr val="000000"/>
              </a:buClr>
              <a:buSzPts val="2100"/>
              <a:buFont typeface="Arial"/>
              <a:buChar char="•"/>
            </a:pPr>
            <a:r>
              <a:rPr b="1" i="0" lang="en" sz="2100" u="none" cap="none" strike="noStrike">
                <a:solidFill>
                  <a:srgbClr val="000000"/>
                </a:solidFill>
                <a:latin typeface="Calibri"/>
                <a:ea typeface="Calibri"/>
                <a:cs typeface="Calibri"/>
                <a:sym typeface="Calibri"/>
              </a:rPr>
              <a:t>Goal:</a:t>
            </a:r>
            <a:r>
              <a:rPr b="0" i="0" lang="en" sz="2100" u="none" cap="none" strike="noStrike">
                <a:solidFill>
                  <a:srgbClr val="000000"/>
                </a:solidFill>
                <a:latin typeface="Calibri"/>
                <a:ea typeface="Calibri"/>
                <a:cs typeface="Calibri"/>
                <a:sym typeface="Calibri"/>
              </a:rPr>
              <a:t> To </a:t>
            </a:r>
            <a:r>
              <a:rPr b="0" i="0" lang="en" sz="2100" u="none" cap="none" strike="noStrike">
                <a:solidFill>
                  <a:srgbClr val="0070C0"/>
                </a:solidFill>
                <a:latin typeface="Calibri"/>
                <a:ea typeface="Calibri"/>
                <a:cs typeface="Calibri"/>
                <a:sym typeface="Calibri"/>
              </a:rPr>
              <a:t>encode the message</a:t>
            </a:r>
            <a:r>
              <a:rPr b="0" i="0" lang="en" sz="2100" u="none" cap="none" strike="noStrike">
                <a:solidFill>
                  <a:srgbClr val="000000"/>
                </a:solidFill>
                <a:latin typeface="Calibri"/>
                <a:ea typeface="Calibri"/>
                <a:cs typeface="Calibri"/>
                <a:sym typeface="Calibri"/>
              </a:rPr>
              <a:t> in such a way that it </a:t>
            </a:r>
            <a:r>
              <a:rPr b="0" i="0" lang="en" sz="2100" u="none" cap="none" strike="noStrike">
                <a:solidFill>
                  <a:srgbClr val="FF0000"/>
                </a:solidFill>
                <a:latin typeface="Calibri"/>
                <a:ea typeface="Calibri"/>
                <a:cs typeface="Calibri"/>
                <a:sym typeface="Calibri"/>
              </a:rPr>
              <a:t>occupies minimal space</a:t>
            </a:r>
            <a:r>
              <a:rPr b="0" i="0" lang="en" sz="2100" u="none" cap="none" strike="noStrike">
                <a:solidFill>
                  <a:srgbClr val="000000"/>
                </a:solidFill>
                <a:latin typeface="Calibri"/>
                <a:ea typeface="Calibri"/>
                <a:cs typeface="Calibri"/>
                <a:sym typeface="Calibri"/>
              </a:rPr>
              <a:t> while still </a:t>
            </a:r>
            <a:r>
              <a:rPr b="0" i="1" lang="en" sz="2100" u="none" cap="none" strike="noStrike">
                <a:solidFill>
                  <a:srgbClr val="7030A0"/>
                </a:solidFill>
                <a:latin typeface="Calibri"/>
                <a:ea typeface="Calibri"/>
                <a:cs typeface="Calibri"/>
                <a:sym typeface="Calibri"/>
              </a:rPr>
              <a:t>containing enough redundancy</a:t>
            </a:r>
            <a:r>
              <a:rPr b="0" i="0" lang="en" sz="2100" u="none" cap="none" strike="noStrike">
                <a:solidFill>
                  <a:srgbClr val="000000"/>
                </a:solidFill>
                <a:latin typeface="Calibri"/>
                <a:ea typeface="Calibri"/>
                <a:cs typeface="Calibri"/>
                <a:sym typeface="Calibri"/>
              </a:rPr>
              <a:t> to be able to detect and correct errors</a:t>
            </a:r>
            <a:endParaRPr b="0" i="0" sz="2100" u="none" cap="none" strike="noStrike">
              <a:solidFill>
                <a:srgbClr val="000000"/>
              </a:solidFill>
              <a:latin typeface="Calibri"/>
              <a:ea typeface="Calibri"/>
              <a:cs typeface="Calibri"/>
              <a:sym typeface="Calibri"/>
            </a:endParaRPr>
          </a:p>
        </p:txBody>
      </p:sp>
      <p:cxnSp>
        <p:nvCxnSpPr>
          <p:cNvPr id="775" name="Google Shape;775;p104"/>
          <p:cNvCxnSpPr/>
          <p:nvPr/>
        </p:nvCxnSpPr>
        <p:spPr>
          <a:xfrm>
            <a:off x="1987740" y="3295350"/>
            <a:ext cx="514500" cy="1500"/>
          </a:xfrm>
          <a:prstGeom prst="straightConnector1">
            <a:avLst/>
          </a:prstGeom>
          <a:noFill/>
          <a:ln cap="flat" cmpd="sng" w="7150">
            <a:solidFill>
              <a:srgbClr val="000000"/>
            </a:solidFill>
            <a:prstDash val="solid"/>
            <a:miter lim="8000"/>
            <a:headEnd len="sm" w="sm" type="none"/>
            <a:tailEnd len="med" w="med" type="triangle"/>
          </a:ln>
        </p:spPr>
      </p:cxnSp>
      <p:cxnSp>
        <p:nvCxnSpPr>
          <p:cNvPr id="776" name="Google Shape;776;p104"/>
          <p:cNvCxnSpPr/>
          <p:nvPr/>
        </p:nvCxnSpPr>
        <p:spPr>
          <a:xfrm>
            <a:off x="6445440" y="3238380"/>
            <a:ext cx="514500" cy="1200"/>
          </a:xfrm>
          <a:prstGeom prst="straightConnector1">
            <a:avLst/>
          </a:prstGeom>
          <a:noFill/>
          <a:ln cap="flat" cmpd="sng" w="7150">
            <a:solidFill>
              <a:srgbClr val="000000"/>
            </a:solidFill>
            <a:prstDash val="solid"/>
            <a:miter lim="8000"/>
            <a:headEnd len="sm" w="sm" type="none"/>
            <a:tailEnd len="med" w="med" type="triangle"/>
          </a:ln>
        </p:spPr>
      </p:cxnSp>
      <p:cxnSp>
        <p:nvCxnSpPr>
          <p:cNvPr id="777" name="Google Shape;777;p104"/>
          <p:cNvCxnSpPr/>
          <p:nvPr/>
        </p:nvCxnSpPr>
        <p:spPr>
          <a:xfrm>
            <a:off x="3359340" y="3295350"/>
            <a:ext cx="514500" cy="1500"/>
          </a:xfrm>
          <a:prstGeom prst="straightConnector1">
            <a:avLst/>
          </a:prstGeom>
          <a:noFill/>
          <a:ln cap="flat" cmpd="sng" w="7150">
            <a:solidFill>
              <a:srgbClr val="000000"/>
            </a:solidFill>
            <a:prstDash val="solid"/>
            <a:miter lim="8000"/>
            <a:headEnd len="sm" w="sm" type="none"/>
            <a:tailEnd len="med" w="med" type="triangle"/>
          </a:ln>
        </p:spPr>
      </p:cxnSp>
      <p:cxnSp>
        <p:nvCxnSpPr>
          <p:cNvPr id="778" name="Google Shape;778;p104"/>
          <p:cNvCxnSpPr/>
          <p:nvPr/>
        </p:nvCxnSpPr>
        <p:spPr>
          <a:xfrm>
            <a:off x="5073840" y="3295350"/>
            <a:ext cx="514500" cy="1500"/>
          </a:xfrm>
          <a:prstGeom prst="straightConnector1">
            <a:avLst/>
          </a:prstGeom>
          <a:noFill/>
          <a:ln cap="flat" cmpd="sng" w="7150">
            <a:solidFill>
              <a:srgbClr val="000000"/>
            </a:solidFill>
            <a:prstDash val="solid"/>
            <a:miter lim="8000"/>
            <a:headEnd len="sm" w="sm" type="none"/>
            <a:tailEnd len="med" w="med" type="triangle"/>
          </a:ln>
        </p:spPr>
      </p:cxnSp>
      <p:sp>
        <p:nvSpPr>
          <p:cNvPr id="779" name="Google Shape;779;p104"/>
          <p:cNvSpPr/>
          <p:nvPr/>
        </p:nvSpPr>
        <p:spPr>
          <a:xfrm>
            <a:off x="2502360" y="3124170"/>
            <a:ext cx="857100" cy="399900"/>
          </a:xfrm>
          <a:prstGeom prst="rect">
            <a:avLst/>
          </a:prstGeom>
          <a:solidFill>
            <a:schemeClr val="lt1"/>
          </a:solidFill>
          <a:ln cap="flat" cmpd="sng" w="7150">
            <a:solidFill>
              <a:srgbClr val="00000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0" name="Google Shape;780;p104"/>
          <p:cNvSpPr/>
          <p:nvPr/>
        </p:nvSpPr>
        <p:spPr>
          <a:xfrm>
            <a:off x="3873960" y="2895480"/>
            <a:ext cx="1200000" cy="799800"/>
          </a:xfrm>
          <a:prstGeom prst="rect">
            <a:avLst/>
          </a:prstGeom>
          <a:solidFill>
            <a:schemeClr val="lt1"/>
          </a:solidFill>
          <a:ln cap="flat" cmpd="sng" w="7150">
            <a:solidFill>
              <a:srgbClr val="00000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1" name="Google Shape;781;p104"/>
          <p:cNvSpPr/>
          <p:nvPr/>
        </p:nvSpPr>
        <p:spPr>
          <a:xfrm>
            <a:off x="2068470" y="2872800"/>
            <a:ext cx="305100" cy="2730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W</a:t>
            </a:r>
            <a:endParaRPr b="0" i="0" sz="1400" u="none" cap="none" strike="noStrike">
              <a:latin typeface="Arial"/>
              <a:ea typeface="Arial"/>
              <a:cs typeface="Arial"/>
              <a:sym typeface="Arial"/>
            </a:endParaRPr>
          </a:p>
        </p:txBody>
      </p:sp>
      <p:sp>
        <p:nvSpPr>
          <p:cNvPr id="782" name="Google Shape;782;p104"/>
          <p:cNvSpPr/>
          <p:nvPr/>
        </p:nvSpPr>
        <p:spPr>
          <a:xfrm>
            <a:off x="3441690" y="2838240"/>
            <a:ext cx="253500" cy="2730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X</a:t>
            </a:r>
            <a:endParaRPr b="0" i="0" sz="1400" u="none" cap="none" strike="noStrike">
              <a:latin typeface="Arial"/>
              <a:ea typeface="Arial"/>
              <a:cs typeface="Arial"/>
              <a:sym typeface="Arial"/>
            </a:endParaRPr>
          </a:p>
        </p:txBody>
      </p:sp>
      <p:sp>
        <p:nvSpPr>
          <p:cNvPr id="783" name="Google Shape;783;p104"/>
          <p:cNvSpPr/>
          <p:nvPr/>
        </p:nvSpPr>
        <p:spPr>
          <a:xfrm>
            <a:off x="6556140" y="2838240"/>
            <a:ext cx="390600" cy="2730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W*</a:t>
            </a:r>
            <a:endParaRPr b="0" i="0" sz="1400" u="none" cap="none" strike="noStrike">
              <a:latin typeface="Arial"/>
              <a:ea typeface="Arial"/>
              <a:cs typeface="Arial"/>
              <a:sym typeface="Arial"/>
            </a:endParaRPr>
          </a:p>
        </p:txBody>
      </p:sp>
      <p:sp>
        <p:nvSpPr>
          <p:cNvPr id="784" name="Google Shape;784;p104"/>
          <p:cNvSpPr/>
          <p:nvPr/>
        </p:nvSpPr>
        <p:spPr>
          <a:xfrm>
            <a:off x="5131350" y="2838240"/>
            <a:ext cx="354600" cy="2730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Y</a:t>
            </a:r>
            <a:endParaRPr b="0" i="0" sz="1400" u="none" cap="none" strike="noStrike">
              <a:latin typeface="Arial"/>
              <a:ea typeface="Arial"/>
              <a:cs typeface="Arial"/>
              <a:sym typeface="Arial"/>
            </a:endParaRPr>
          </a:p>
        </p:txBody>
      </p:sp>
      <p:sp>
        <p:nvSpPr>
          <p:cNvPr id="785" name="Google Shape;785;p104"/>
          <p:cNvSpPr/>
          <p:nvPr/>
        </p:nvSpPr>
        <p:spPr>
          <a:xfrm>
            <a:off x="5562270" y="3124170"/>
            <a:ext cx="913200" cy="295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500"/>
              <a:buFont typeface="Calibri"/>
              <a:buNone/>
            </a:pPr>
            <a:r>
              <a:rPr b="0" i="0" lang="en" sz="1500" u="none" cap="none" strike="noStrike">
                <a:solidFill>
                  <a:srgbClr val="000000"/>
                </a:solidFill>
                <a:latin typeface="Calibri"/>
                <a:ea typeface="Calibri"/>
                <a:cs typeface="Calibri"/>
                <a:sym typeface="Calibri"/>
              </a:rPr>
              <a:t>decoder</a:t>
            </a:r>
            <a:endParaRPr b="0" i="0" sz="1500" u="none" cap="none" strike="noStrike">
              <a:latin typeface="Arial"/>
              <a:ea typeface="Arial"/>
              <a:cs typeface="Arial"/>
              <a:sym typeface="Arial"/>
            </a:endParaRPr>
          </a:p>
        </p:txBody>
      </p:sp>
      <p:sp>
        <p:nvSpPr>
          <p:cNvPr id="786" name="Google Shape;786;p104"/>
          <p:cNvSpPr/>
          <p:nvPr/>
        </p:nvSpPr>
        <p:spPr>
          <a:xfrm>
            <a:off x="1474200" y="3352590"/>
            <a:ext cx="993300" cy="295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500"/>
              <a:buFont typeface="Calibri"/>
              <a:buNone/>
            </a:pPr>
            <a:r>
              <a:rPr b="0" i="0" lang="en" sz="1500" u="none" cap="none" strike="noStrike">
                <a:solidFill>
                  <a:srgbClr val="000000"/>
                </a:solidFill>
                <a:latin typeface="Calibri"/>
                <a:ea typeface="Calibri"/>
                <a:cs typeface="Calibri"/>
                <a:sym typeface="Calibri"/>
              </a:rPr>
              <a:t>message</a:t>
            </a:r>
            <a:endParaRPr b="0" i="0" sz="1500" u="none" cap="none" strike="noStrike">
              <a:latin typeface="Arial"/>
              <a:ea typeface="Arial"/>
              <a:cs typeface="Arial"/>
              <a:sym typeface="Arial"/>
            </a:endParaRPr>
          </a:p>
        </p:txBody>
      </p:sp>
      <p:sp>
        <p:nvSpPr>
          <p:cNvPr id="787" name="Google Shape;787;p104"/>
          <p:cNvSpPr/>
          <p:nvPr/>
        </p:nvSpPr>
        <p:spPr>
          <a:xfrm>
            <a:off x="3105270" y="3638520"/>
            <a:ext cx="937200" cy="5247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500"/>
              <a:buFont typeface="Calibri"/>
              <a:buNone/>
            </a:pPr>
            <a:r>
              <a:rPr b="0" i="0" lang="en" sz="1500" u="none" cap="none" strike="noStrike">
                <a:solidFill>
                  <a:srgbClr val="000000"/>
                </a:solidFill>
                <a:latin typeface="Calibri"/>
                <a:ea typeface="Calibri"/>
                <a:cs typeface="Calibri"/>
                <a:sym typeface="Calibri"/>
              </a:rPr>
              <a:t>input to </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Calibri"/>
              <a:buNone/>
            </a:pPr>
            <a:r>
              <a:rPr b="0" i="0" lang="en" sz="1500" u="none" cap="none" strike="noStrike">
                <a:solidFill>
                  <a:srgbClr val="000000"/>
                </a:solidFill>
                <a:latin typeface="Calibri"/>
                <a:ea typeface="Calibri"/>
                <a:cs typeface="Calibri"/>
                <a:sym typeface="Calibri"/>
              </a:rPr>
              <a:t>channel</a:t>
            </a:r>
            <a:endParaRPr b="0" i="0" sz="1500" u="none" cap="none" strike="noStrike">
              <a:latin typeface="Arial"/>
              <a:ea typeface="Arial"/>
              <a:cs typeface="Arial"/>
              <a:sym typeface="Arial"/>
            </a:endParaRPr>
          </a:p>
        </p:txBody>
      </p:sp>
      <p:sp>
        <p:nvSpPr>
          <p:cNvPr id="788" name="Google Shape;788;p104"/>
          <p:cNvSpPr/>
          <p:nvPr/>
        </p:nvSpPr>
        <p:spPr>
          <a:xfrm>
            <a:off x="4882680" y="3695490"/>
            <a:ext cx="1301700" cy="5247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500"/>
              <a:buFont typeface="Calibri"/>
              <a:buNone/>
            </a:pPr>
            <a:r>
              <a:rPr b="0" i="0" lang="en" sz="1500" u="none" cap="none" strike="noStrike">
                <a:solidFill>
                  <a:srgbClr val="000000"/>
                </a:solidFill>
                <a:latin typeface="Calibri"/>
                <a:ea typeface="Calibri"/>
                <a:cs typeface="Calibri"/>
                <a:sym typeface="Calibri"/>
              </a:rPr>
              <a:t>Output from</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Calibri"/>
              <a:buNone/>
            </a:pPr>
            <a:r>
              <a:rPr b="0" i="0" lang="en" sz="1500" u="none" cap="none" strike="noStrike">
                <a:solidFill>
                  <a:srgbClr val="000000"/>
                </a:solidFill>
                <a:latin typeface="Calibri"/>
                <a:ea typeface="Calibri"/>
                <a:cs typeface="Calibri"/>
                <a:sym typeface="Calibri"/>
              </a:rPr>
              <a:t>channel</a:t>
            </a:r>
            <a:endParaRPr b="0" i="0" sz="1500" u="none" cap="none" strike="noStrike">
              <a:latin typeface="Arial"/>
              <a:ea typeface="Arial"/>
              <a:cs typeface="Arial"/>
              <a:sym typeface="Arial"/>
            </a:endParaRPr>
          </a:p>
        </p:txBody>
      </p:sp>
      <p:sp>
        <p:nvSpPr>
          <p:cNvPr id="789" name="Google Shape;789;p104"/>
          <p:cNvSpPr/>
          <p:nvPr/>
        </p:nvSpPr>
        <p:spPr>
          <a:xfrm>
            <a:off x="6319350" y="3558600"/>
            <a:ext cx="1257000" cy="10959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Attempt to </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reconstruct </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message based </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on output</a:t>
            </a:r>
            <a:endParaRPr b="0" i="0" sz="1400" u="none" cap="none" strike="noStrike">
              <a:latin typeface="Arial"/>
              <a:ea typeface="Arial"/>
              <a:cs typeface="Arial"/>
              <a:sym typeface="Arial"/>
            </a:endParaRPr>
          </a:p>
        </p:txBody>
      </p:sp>
      <p:sp>
        <p:nvSpPr>
          <p:cNvPr id="790" name="Google Shape;790;p104"/>
          <p:cNvSpPr/>
          <p:nvPr/>
        </p:nvSpPr>
        <p:spPr>
          <a:xfrm>
            <a:off x="2522880" y="3154950"/>
            <a:ext cx="913200" cy="295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500"/>
              <a:buFont typeface="Calibri"/>
              <a:buNone/>
            </a:pPr>
            <a:r>
              <a:rPr b="0" i="0" lang="en" sz="1500" u="none" cap="none" strike="noStrike">
                <a:solidFill>
                  <a:srgbClr val="000000"/>
                </a:solidFill>
                <a:latin typeface="Calibri"/>
                <a:ea typeface="Calibri"/>
                <a:cs typeface="Calibri"/>
                <a:sym typeface="Calibri"/>
              </a:rPr>
              <a:t>encoder</a:t>
            </a:r>
            <a:endParaRPr b="0" i="0" sz="1500" u="none" cap="none" strike="noStrike">
              <a:latin typeface="Arial"/>
              <a:ea typeface="Arial"/>
              <a:cs typeface="Arial"/>
              <a:sym typeface="Arial"/>
            </a:endParaRPr>
          </a:p>
        </p:txBody>
      </p:sp>
      <p:sp>
        <p:nvSpPr>
          <p:cNvPr id="791" name="Google Shape;791;p104"/>
          <p:cNvSpPr/>
          <p:nvPr/>
        </p:nvSpPr>
        <p:spPr>
          <a:xfrm>
            <a:off x="4183380" y="3022920"/>
            <a:ext cx="840000" cy="4788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Channel</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 p(y|x)</a:t>
            </a:r>
            <a:endParaRPr b="0" i="0" sz="1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4">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105"/>
          <p:cNvSpPr txBox="1"/>
          <p:nvPr>
            <p:ph idx="4294967295" type="title"/>
          </p:nvPr>
        </p:nvSpPr>
        <p:spPr>
          <a:xfrm>
            <a:off x="628560" y="27378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Shannon’s Noisy Channel Model</a:t>
            </a:r>
            <a:endParaRPr b="0" sz="3300" strike="noStrike">
              <a:solidFill>
                <a:srgbClr val="000000"/>
              </a:solidFill>
              <a:latin typeface="Calibri"/>
              <a:ea typeface="Calibri"/>
              <a:cs typeface="Calibri"/>
              <a:sym typeface="Calibri"/>
            </a:endParaRPr>
          </a:p>
        </p:txBody>
      </p:sp>
      <p:sp>
        <p:nvSpPr>
          <p:cNvPr id="797" name="Google Shape;797;p105"/>
          <p:cNvSpPr txBox="1"/>
          <p:nvPr>
            <p:ph idx="4294967295" type="body"/>
          </p:nvPr>
        </p:nvSpPr>
        <p:spPr>
          <a:xfrm>
            <a:off x="628560" y="1369170"/>
            <a:ext cx="8082300" cy="3263100"/>
          </a:xfrm>
          <a:prstGeom prst="rect">
            <a:avLst/>
          </a:prstGeom>
          <a:noFill/>
          <a:ln>
            <a:noFill/>
          </a:ln>
        </p:spPr>
        <p:txBody>
          <a:bodyPr anchorCtr="0" anchor="t" bIns="34275" lIns="68575" spcFirstLastPara="1" rIns="68575" wrap="square" tIns="34275">
            <a:noAutofit/>
          </a:bodyPr>
          <a:lstStyle/>
          <a:p>
            <a:pPr indent="-171450" lvl="0" marL="177800" marR="0" rtl="0" algn="l">
              <a:lnSpc>
                <a:spcPct val="90000"/>
              </a:lnSpc>
              <a:spcBef>
                <a:spcPts val="0"/>
              </a:spcBef>
              <a:spcAft>
                <a:spcPts val="0"/>
              </a:spcAft>
              <a:buClr>
                <a:srgbClr val="000000"/>
              </a:buClr>
              <a:buSzPts val="2100"/>
              <a:buFont typeface="Arial"/>
              <a:buChar char="•"/>
            </a:pPr>
            <a:r>
              <a:rPr b="1" i="0" lang="en" sz="2100" u="none" cap="none" strike="noStrike">
                <a:solidFill>
                  <a:srgbClr val="000000"/>
                </a:solidFill>
                <a:latin typeface="Calibri"/>
                <a:ea typeface="Calibri"/>
                <a:cs typeface="Calibri"/>
                <a:sym typeface="Calibri"/>
              </a:rPr>
              <a:t>Channel</a:t>
            </a:r>
            <a:r>
              <a:rPr b="0" i="0" lang="en" sz="2100" u="none" cap="none" strike="noStrike">
                <a:solidFill>
                  <a:srgbClr val="000000"/>
                </a:solidFill>
                <a:latin typeface="Calibri"/>
                <a:ea typeface="Calibri"/>
                <a:cs typeface="Calibri"/>
                <a:sym typeface="Calibri"/>
              </a:rPr>
              <a:t> </a:t>
            </a:r>
            <a:r>
              <a:rPr b="1" i="0" lang="en" sz="2100" u="none" cap="none" strike="noStrike">
                <a:solidFill>
                  <a:srgbClr val="000000"/>
                </a:solidFill>
                <a:latin typeface="Calibri"/>
                <a:ea typeface="Calibri"/>
                <a:cs typeface="Calibri"/>
                <a:sym typeface="Calibri"/>
              </a:rPr>
              <a:t>capacity</a:t>
            </a:r>
            <a:r>
              <a:rPr b="0" i="0" lang="en" sz="2100" u="none" cap="none" strike="noStrike">
                <a:solidFill>
                  <a:srgbClr val="000000"/>
                </a:solidFill>
                <a:latin typeface="Calibri"/>
                <a:ea typeface="Calibri"/>
                <a:cs typeface="Calibri"/>
                <a:sym typeface="Calibri"/>
              </a:rPr>
              <a:t>: The </a:t>
            </a:r>
            <a:r>
              <a:rPr b="0" i="0" lang="en" sz="2100" u="none" cap="none" strike="noStrike">
                <a:solidFill>
                  <a:srgbClr val="FF0000"/>
                </a:solidFill>
                <a:latin typeface="Calibri"/>
                <a:ea typeface="Calibri"/>
                <a:cs typeface="Calibri"/>
                <a:sym typeface="Calibri"/>
              </a:rPr>
              <a:t>rate</a:t>
            </a:r>
            <a:r>
              <a:rPr b="0" i="0" lang="en" sz="2100" u="none" cap="none" strike="noStrike">
                <a:solidFill>
                  <a:srgbClr val="000000"/>
                </a:solidFill>
                <a:latin typeface="Calibri"/>
                <a:ea typeface="Calibri"/>
                <a:cs typeface="Calibri"/>
                <a:sym typeface="Calibri"/>
              </a:rPr>
              <a:t> at which one can </a:t>
            </a:r>
            <a:r>
              <a:rPr b="0" i="0" lang="en" sz="2100" u="none" cap="none" strike="noStrike">
                <a:solidFill>
                  <a:srgbClr val="FF0000"/>
                </a:solidFill>
                <a:latin typeface="Calibri"/>
                <a:ea typeface="Calibri"/>
                <a:cs typeface="Calibri"/>
                <a:sym typeface="Calibri"/>
              </a:rPr>
              <a:t>transmit information</a:t>
            </a:r>
            <a:r>
              <a:rPr b="0" i="0" lang="en" sz="2100" u="none" cap="none" strike="noStrike">
                <a:solidFill>
                  <a:srgbClr val="000000"/>
                </a:solidFill>
                <a:latin typeface="Calibri"/>
                <a:ea typeface="Calibri"/>
                <a:cs typeface="Calibri"/>
                <a:sym typeface="Calibri"/>
              </a:rPr>
              <a:t> through the channel with an arbitrary </a:t>
            </a:r>
            <a:r>
              <a:rPr b="0" i="0" lang="en" sz="2100" u="none" cap="none" strike="noStrike">
                <a:solidFill>
                  <a:srgbClr val="FF0000"/>
                </a:solidFill>
                <a:latin typeface="Calibri"/>
                <a:ea typeface="Calibri"/>
                <a:cs typeface="Calibri"/>
                <a:sym typeface="Calibri"/>
              </a:rPr>
              <a:t>low probability</a:t>
            </a:r>
            <a:r>
              <a:rPr b="0" i="0" lang="en" sz="2100" u="none" cap="none" strike="noStrike">
                <a:solidFill>
                  <a:srgbClr val="000000"/>
                </a:solidFill>
                <a:latin typeface="Calibri"/>
                <a:ea typeface="Calibri"/>
                <a:cs typeface="Calibri"/>
                <a:sym typeface="Calibri"/>
              </a:rPr>
              <a:t> of being unable to recover the input from the output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171450" lvl="0" marL="177800" marR="0" rtl="0" algn="l">
              <a:lnSpc>
                <a:spcPct val="90000"/>
              </a:lnSpc>
              <a:spcBef>
                <a:spcPts val="80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We reach a </a:t>
            </a:r>
            <a:r>
              <a:rPr b="0" i="1" lang="en" sz="2100" u="none" cap="none" strike="noStrike">
                <a:solidFill>
                  <a:srgbClr val="FF0000"/>
                </a:solidFill>
                <a:latin typeface="Calibri"/>
                <a:ea typeface="Calibri"/>
                <a:cs typeface="Calibri"/>
                <a:sym typeface="Calibri"/>
              </a:rPr>
              <a:t>channel capacity</a:t>
            </a:r>
            <a:r>
              <a:rPr b="0" i="0" lang="en" sz="2100" u="none" cap="none" strike="noStrike">
                <a:solidFill>
                  <a:srgbClr val="000000"/>
                </a:solidFill>
                <a:latin typeface="Calibri"/>
                <a:ea typeface="Calibri"/>
                <a:cs typeface="Calibri"/>
                <a:sym typeface="Calibri"/>
              </a:rPr>
              <a:t> if we manage to design an input code X whose distribution p(X) maximizes </a:t>
            </a:r>
            <a:r>
              <a:rPr b="0" i="1" lang="en" sz="2100" u="none" cap="none" strike="noStrike">
                <a:solidFill>
                  <a:srgbClr val="000000"/>
                </a:solidFill>
                <a:latin typeface="Calibri"/>
                <a:ea typeface="Calibri"/>
                <a:cs typeface="Calibri"/>
                <a:sym typeface="Calibri"/>
              </a:rPr>
              <a:t>I (X;Y)</a:t>
            </a:r>
            <a:r>
              <a:rPr b="0" i="0" lang="en" sz="2100" u="none" cap="none" strike="noStrike">
                <a:solidFill>
                  <a:srgbClr val="000000"/>
                </a:solidFill>
                <a:latin typeface="Calibri"/>
                <a:ea typeface="Calibri"/>
                <a:cs typeface="Calibri"/>
                <a:sym typeface="Calibri"/>
              </a:rPr>
              <a:t> between input and output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SzPts val="2100"/>
              <a:buFont typeface="Arial"/>
              <a:buNone/>
            </a:pPr>
            <a:r>
              <a:t/>
            </a:r>
            <a:endParaRPr b="0" i="0" sz="2100" u="none" cap="none" strike="noStrike">
              <a:solidFill>
                <a:srgbClr val="000000"/>
              </a:solidFill>
              <a:latin typeface="Calibri"/>
              <a:ea typeface="Calibri"/>
              <a:cs typeface="Calibri"/>
              <a:sym typeface="Calibri"/>
            </a:endParaRPr>
          </a:p>
        </p:txBody>
      </p:sp>
      <p:pic>
        <p:nvPicPr>
          <p:cNvPr id="798" name="Google Shape;798;p105"/>
          <p:cNvPicPr preferRelativeResize="0"/>
          <p:nvPr/>
        </p:nvPicPr>
        <p:blipFill rotWithShape="1">
          <a:blip r:embed="rId3">
            <a:alphaModFix/>
          </a:blip>
          <a:srcRect b="0" l="0" r="0" t="0"/>
          <a:stretch/>
        </p:blipFill>
        <p:spPr>
          <a:xfrm>
            <a:off x="3360960" y="2556360"/>
            <a:ext cx="2114371" cy="6118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1000"/>
                                        <p:tgtEl>
                                          <p:spTgt spid="7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06"/>
          <p:cNvSpPr txBox="1"/>
          <p:nvPr>
            <p:ph idx="4294967295" type="title"/>
          </p:nvPr>
        </p:nvSpPr>
        <p:spPr>
          <a:xfrm>
            <a:off x="628560" y="247590"/>
            <a:ext cx="7886400" cy="9939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000000"/>
              </a:buClr>
              <a:buSzPts val="3300"/>
              <a:buFont typeface="Calibri"/>
              <a:buNone/>
            </a:pPr>
            <a:r>
              <a:rPr b="0" lang="en" sz="3300" strike="noStrike">
                <a:solidFill>
                  <a:srgbClr val="000000"/>
                </a:solidFill>
                <a:latin typeface="Calibri"/>
                <a:ea typeface="Calibri"/>
                <a:cs typeface="Calibri"/>
                <a:sym typeface="Calibri"/>
              </a:rPr>
              <a:t>Linguistics and the Noisy Channel Model</a:t>
            </a:r>
            <a:endParaRPr b="0" sz="3300" strike="noStrike">
              <a:solidFill>
                <a:srgbClr val="000000"/>
              </a:solidFill>
              <a:latin typeface="Calibri"/>
              <a:ea typeface="Calibri"/>
              <a:cs typeface="Calibri"/>
              <a:sym typeface="Calibri"/>
            </a:endParaRPr>
          </a:p>
        </p:txBody>
      </p:sp>
      <p:sp>
        <p:nvSpPr>
          <p:cNvPr id="804" name="Google Shape;804;p106"/>
          <p:cNvSpPr txBox="1"/>
          <p:nvPr>
            <p:ph idx="4294967295" type="body"/>
          </p:nvPr>
        </p:nvSpPr>
        <p:spPr>
          <a:xfrm>
            <a:off x="426000" y="1316525"/>
            <a:ext cx="8271600" cy="3759300"/>
          </a:xfrm>
          <a:prstGeom prst="rect">
            <a:avLst/>
          </a:prstGeom>
          <a:noFill/>
          <a:ln>
            <a:noFill/>
          </a:ln>
        </p:spPr>
        <p:txBody>
          <a:bodyPr anchorCtr="0" anchor="t" bIns="34275" lIns="68575" spcFirstLastPara="1" rIns="68575" wrap="square" tIns="34275">
            <a:normAutofit lnSpcReduction="10000"/>
          </a:bodyPr>
          <a:lstStyle/>
          <a:p>
            <a:pPr indent="-184150" lvl="0" marL="177800" marR="0" rtl="0" algn="l">
              <a:lnSpc>
                <a:spcPct val="90000"/>
              </a:lnSpc>
              <a:spcBef>
                <a:spcPts val="0"/>
              </a:spcBef>
              <a:spcAft>
                <a:spcPts val="0"/>
              </a:spcAft>
              <a:buClr>
                <a:srgbClr val="000000"/>
              </a:buClr>
              <a:buSzPts val="2100"/>
              <a:buFont typeface="Arial"/>
              <a:buChar char="•"/>
            </a:pPr>
            <a:r>
              <a:rPr b="0" i="0" lang="en" sz="2100" u="none" cap="none" strike="noStrike">
                <a:solidFill>
                  <a:srgbClr val="000000"/>
                </a:solidFill>
                <a:latin typeface="Calibri"/>
                <a:ea typeface="Calibri"/>
                <a:cs typeface="Calibri"/>
                <a:sym typeface="Calibri"/>
              </a:rPr>
              <a:t>In </a:t>
            </a:r>
            <a:r>
              <a:rPr b="0" i="0" lang="en" sz="2100" u="none" cap="none" strike="noStrike">
                <a:solidFill>
                  <a:srgbClr val="FF0000"/>
                </a:solidFill>
                <a:latin typeface="Calibri"/>
                <a:ea typeface="Calibri"/>
                <a:cs typeface="Calibri"/>
                <a:sym typeface="Calibri"/>
              </a:rPr>
              <a:t>linguistic</a:t>
            </a:r>
            <a:r>
              <a:rPr b="0" i="0" lang="en" sz="2100" u="none" cap="none" strike="noStrike">
                <a:solidFill>
                  <a:srgbClr val="000000"/>
                </a:solidFill>
                <a:latin typeface="Calibri"/>
                <a:ea typeface="Calibri"/>
                <a:cs typeface="Calibri"/>
                <a:sym typeface="Calibri"/>
              </a:rPr>
              <a:t> we</a:t>
            </a:r>
            <a:r>
              <a:rPr b="0" i="0" lang="en" sz="2100" u="none" cap="none" strike="noStrike">
                <a:solidFill>
                  <a:srgbClr val="FF0000"/>
                </a:solidFill>
                <a:latin typeface="Calibri"/>
                <a:ea typeface="Calibri"/>
                <a:cs typeface="Calibri"/>
                <a:sym typeface="Calibri"/>
              </a:rPr>
              <a:t> can’t control </a:t>
            </a:r>
            <a:r>
              <a:rPr b="0" i="0" lang="en" sz="2100" u="none" cap="none" strike="noStrike">
                <a:solidFill>
                  <a:srgbClr val="7030A0"/>
                </a:solidFill>
                <a:latin typeface="Calibri"/>
                <a:ea typeface="Calibri"/>
                <a:cs typeface="Calibri"/>
                <a:sym typeface="Calibri"/>
              </a:rPr>
              <a:t>the encoding phase.</a:t>
            </a:r>
            <a:r>
              <a:rPr b="0" i="0" lang="en" sz="2100" u="none" cap="none" strike="noStrike">
                <a:solidFill>
                  <a:srgbClr val="000000"/>
                </a:solidFill>
                <a:latin typeface="Calibri"/>
                <a:ea typeface="Calibri"/>
                <a:cs typeface="Calibri"/>
                <a:sym typeface="Calibri"/>
              </a:rPr>
              <a:t> We want to decode the output to give the most likely input.</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b="0" i="0" sz="21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sz="2100">
              <a:latin typeface="Calibri"/>
              <a:ea typeface="Calibri"/>
              <a:cs typeface="Calibri"/>
              <a:sym typeface="Calibri"/>
            </a:endParaRPr>
          </a:p>
          <a:p>
            <a:pPr indent="0" lvl="0" marL="0" marR="0" rtl="0" algn="l">
              <a:lnSpc>
                <a:spcPct val="90000"/>
              </a:lnSpc>
              <a:spcBef>
                <a:spcPts val="800"/>
              </a:spcBef>
              <a:spcAft>
                <a:spcPts val="0"/>
              </a:spcAft>
              <a:buSzPts val="2100"/>
              <a:buFont typeface="Arial"/>
              <a:buNone/>
            </a:pPr>
            <a:r>
              <a:t/>
            </a:r>
            <a:endParaRPr sz="2100">
              <a:latin typeface="Calibri"/>
              <a:ea typeface="Calibri"/>
              <a:cs typeface="Calibri"/>
              <a:sym typeface="Calibri"/>
            </a:endParaRPr>
          </a:p>
          <a:p>
            <a:pPr indent="0" lvl="0" marL="0" marR="0" rtl="0" algn="l">
              <a:lnSpc>
                <a:spcPct val="90000"/>
              </a:lnSpc>
              <a:spcBef>
                <a:spcPts val="800"/>
              </a:spcBef>
              <a:spcAft>
                <a:spcPts val="0"/>
              </a:spcAft>
              <a:buClr>
                <a:srgbClr val="000000"/>
              </a:buClr>
              <a:buSzPts val="1500"/>
              <a:buFont typeface="Calibri"/>
              <a:buNone/>
            </a:pPr>
            <a:r>
              <a:rPr b="0" i="0" lang="en" sz="1500" u="none" cap="none" strike="noStrike">
                <a:solidFill>
                  <a:srgbClr val="000000"/>
                </a:solidFill>
                <a:latin typeface="Calibri"/>
                <a:ea typeface="Calibri"/>
                <a:cs typeface="Calibri"/>
                <a:sym typeface="Calibri"/>
              </a:rPr>
              <a:t>where p(i) is the language model and p(o|i) is the channel probability</a:t>
            </a:r>
            <a:endParaRPr b="0" i="0" sz="1500" u="none" cap="none" strike="noStrike">
              <a:solidFill>
                <a:srgbClr val="000000"/>
              </a:solidFill>
              <a:latin typeface="Calibri"/>
              <a:ea typeface="Calibri"/>
              <a:cs typeface="Calibri"/>
              <a:sym typeface="Calibri"/>
            </a:endParaRPr>
          </a:p>
          <a:p>
            <a:pPr indent="0" lvl="0" marL="0" marR="0" rtl="0" algn="l">
              <a:lnSpc>
                <a:spcPct val="90000"/>
              </a:lnSpc>
              <a:spcBef>
                <a:spcPts val="800"/>
              </a:spcBef>
              <a:spcAft>
                <a:spcPts val="1200"/>
              </a:spcAft>
              <a:buClr>
                <a:srgbClr val="0070C0"/>
              </a:buClr>
              <a:buSzPts val="1500"/>
              <a:buFont typeface="Calibri"/>
              <a:buNone/>
            </a:pPr>
            <a:r>
              <a:rPr b="0" i="1" lang="en" sz="1500" u="none" cap="none" strike="noStrike">
                <a:solidFill>
                  <a:srgbClr val="0070C0"/>
                </a:solidFill>
                <a:latin typeface="Calibri"/>
                <a:ea typeface="Calibri"/>
                <a:cs typeface="Calibri"/>
                <a:sym typeface="Calibri"/>
              </a:rPr>
              <a:t>Ex: Machine translation, Optical character recognition, Speech recognition</a:t>
            </a:r>
            <a:endParaRPr b="0" i="0" sz="1500" u="none" cap="none" strike="noStrike">
              <a:solidFill>
                <a:srgbClr val="000000"/>
              </a:solidFill>
              <a:latin typeface="Calibri"/>
              <a:ea typeface="Calibri"/>
              <a:cs typeface="Calibri"/>
              <a:sym typeface="Calibri"/>
            </a:endParaRPr>
          </a:p>
        </p:txBody>
      </p:sp>
      <p:cxnSp>
        <p:nvCxnSpPr>
          <p:cNvPr id="805" name="Google Shape;805;p106"/>
          <p:cNvCxnSpPr/>
          <p:nvPr/>
        </p:nvCxnSpPr>
        <p:spPr>
          <a:xfrm>
            <a:off x="1958310" y="2447010"/>
            <a:ext cx="743100" cy="300"/>
          </a:xfrm>
          <a:prstGeom prst="straightConnector1">
            <a:avLst/>
          </a:prstGeom>
          <a:noFill/>
          <a:ln cap="flat" cmpd="sng" w="7150">
            <a:solidFill>
              <a:srgbClr val="000000"/>
            </a:solidFill>
            <a:prstDash val="solid"/>
            <a:miter lim="8000"/>
            <a:headEnd len="sm" w="sm" type="none"/>
            <a:tailEnd len="med" w="med" type="triangle"/>
          </a:ln>
        </p:spPr>
      </p:cxnSp>
      <p:cxnSp>
        <p:nvCxnSpPr>
          <p:cNvPr id="806" name="Google Shape;806;p106"/>
          <p:cNvCxnSpPr/>
          <p:nvPr/>
        </p:nvCxnSpPr>
        <p:spPr>
          <a:xfrm>
            <a:off x="4129920" y="2447010"/>
            <a:ext cx="743100" cy="300"/>
          </a:xfrm>
          <a:prstGeom prst="straightConnector1">
            <a:avLst/>
          </a:prstGeom>
          <a:noFill/>
          <a:ln cap="flat" cmpd="sng" w="7150">
            <a:solidFill>
              <a:srgbClr val="000000"/>
            </a:solidFill>
            <a:prstDash val="solid"/>
            <a:miter lim="8000"/>
            <a:headEnd len="sm" w="sm" type="none"/>
            <a:tailEnd len="med" w="med" type="triangle"/>
          </a:ln>
        </p:spPr>
      </p:cxnSp>
      <p:cxnSp>
        <p:nvCxnSpPr>
          <p:cNvPr id="807" name="Google Shape;807;p106"/>
          <p:cNvCxnSpPr/>
          <p:nvPr/>
        </p:nvCxnSpPr>
        <p:spPr>
          <a:xfrm>
            <a:off x="6073110" y="2452950"/>
            <a:ext cx="743100" cy="300"/>
          </a:xfrm>
          <a:prstGeom prst="straightConnector1">
            <a:avLst/>
          </a:prstGeom>
          <a:noFill/>
          <a:ln cap="flat" cmpd="sng" w="7150">
            <a:solidFill>
              <a:srgbClr val="000000"/>
            </a:solidFill>
            <a:prstDash val="solid"/>
            <a:miter lim="8000"/>
            <a:headEnd len="sm" w="sm" type="none"/>
            <a:tailEnd len="med" w="med" type="triangle"/>
          </a:ln>
        </p:spPr>
      </p:cxnSp>
      <p:sp>
        <p:nvSpPr>
          <p:cNvPr id="808" name="Google Shape;808;p106"/>
          <p:cNvSpPr/>
          <p:nvPr/>
        </p:nvSpPr>
        <p:spPr>
          <a:xfrm>
            <a:off x="2701350" y="2104110"/>
            <a:ext cx="1428600" cy="742800"/>
          </a:xfrm>
          <a:prstGeom prst="rect">
            <a:avLst/>
          </a:prstGeom>
          <a:solidFill>
            <a:schemeClr val="lt1"/>
          </a:solidFill>
          <a:ln cap="flat" cmpd="sng" w="7150">
            <a:solidFill>
              <a:srgbClr val="00000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9" name="Google Shape;809;p106"/>
          <p:cNvSpPr/>
          <p:nvPr/>
        </p:nvSpPr>
        <p:spPr>
          <a:xfrm>
            <a:off x="4873230" y="2195910"/>
            <a:ext cx="1142700" cy="514200"/>
          </a:xfrm>
          <a:prstGeom prst="rect">
            <a:avLst/>
          </a:prstGeom>
          <a:solidFill>
            <a:schemeClr val="lt1"/>
          </a:solidFill>
          <a:ln cap="flat" cmpd="sng" w="7150">
            <a:solidFill>
              <a:srgbClr val="000000"/>
            </a:solidFill>
            <a:prstDash val="solid"/>
            <a:miter lim="8000"/>
            <a:headEnd len="sm" w="sm" type="none"/>
            <a:tailEnd len="sm" w="sm" type="none"/>
          </a:ln>
        </p:spPr>
        <p:txBody>
          <a:bodyPr anchorCtr="0" anchor="ctr" bIns="33750" lIns="67500" spcFirstLastPara="1" rIns="67500" wrap="square" tIns="33750">
            <a:noAutofit/>
          </a:bodyPr>
          <a:lstStyle/>
          <a:p>
            <a:pPr indent="0" lvl="0" marL="0" marR="0" rtl="0" algn="ctr">
              <a:lnSpc>
                <a:spcPct val="100000"/>
              </a:lnSpc>
              <a:spcBef>
                <a:spcPts val="0"/>
              </a:spcBef>
              <a:spcAft>
                <a:spcPts val="0"/>
              </a:spcAft>
              <a:buClr>
                <a:srgbClr val="000000"/>
              </a:buClr>
              <a:buSzPts val="1500"/>
              <a:buFont typeface="Calibri"/>
              <a:buNone/>
            </a:pPr>
            <a:r>
              <a:rPr b="1" i="0" lang="en" sz="1500" u="none" cap="none" strike="noStrike">
                <a:solidFill>
                  <a:srgbClr val="000000"/>
                </a:solidFill>
                <a:latin typeface="Calibri"/>
                <a:ea typeface="Calibri"/>
                <a:cs typeface="Calibri"/>
                <a:sym typeface="Calibri"/>
              </a:rPr>
              <a:t>decoder</a:t>
            </a:r>
            <a:endParaRPr b="0" i="0" sz="1500" u="none" cap="none" strike="noStrike">
              <a:latin typeface="Arial"/>
              <a:ea typeface="Arial"/>
              <a:cs typeface="Arial"/>
              <a:sym typeface="Arial"/>
            </a:endParaRPr>
          </a:p>
        </p:txBody>
      </p:sp>
      <p:sp>
        <p:nvSpPr>
          <p:cNvPr id="810" name="Google Shape;810;p106"/>
          <p:cNvSpPr/>
          <p:nvPr/>
        </p:nvSpPr>
        <p:spPr>
          <a:xfrm>
            <a:off x="2630340" y="2240460"/>
            <a:ext cx="1667400" cy="5247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500"/>
              <a:buFont typeface="Calibri"/>
              <a:buNone/>
            </a:pPr>
            <a:r>
              <a:rPr b="1" i="0" lang="en" sz="1500" u="none" cap="none" strike="noStrike">
                <a:solidFill>
                  <a:srgbClr val="000000"/>
                </a:solidFill>
                <a:latin typeface="Calibri"/>
                <a:ea typeface="Calibri"/>
                <a:cs typeface="Calibri"/>
                <a:sym typeface="Calibri"/>
              </a:rPr>
              <a:t>Noisy Channel</a:t>
            </a:r>
            <a:endParaRPr b="0" i="0" sz="15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Calibri"/>
              <a:buNone/>
            </a:pPr>
            <a:r>
              <a:rPr b="1" i="0" lang="en" sz="1500" u="none" cap="none" strike="noStrike">
                <a:solidFill>
                  <a:srgbClr val="000000"/>
                </a:solidFill>
                <a:latin typeface="Calibri"/>
                <a:ea typeface="Calibri"/>
                <a:cs typeface="Calibri"/>
                <a:sym typeface="Calibri"/>
              </a:rPr>
              <a:t>        p(o|I)</a:t>
            </a:r>
            <a:endParaRPr b="0" i="0" sz="1500" u="none" cap="none" strike="noStrike">
              <a:latin typeface="Arial"/>
              <a:ea typeface="Arial"/>
              <a:cs typeface="Arial"/>
              <a:sym typeface="Arial"/>
            </a:endParaRPr>
          </a:p>
        </p:txBody>
      </p:sp>
      <p:sp>
        <p:nvSpPr>
          <p:cNvPr id="811" name="Google Shape;811;p106"/>
          <p:cNvSpPr/>
          <p:nvPr/>
        </p:nvSpPr>
        <p:spPr>
          <a:xfrm>
            <a:off x="2201850" y="2106270"/>
            <a:ext cx="198600" cy="2730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1" i="0" lang="en" sz="1400" u="none" cap="none" strike="noStrike">
                <a:solidFill>
                  <a:srgbClr val="000000"/>
                </a:solidFill>
                <a:latin typeface="Calibri"/>
                <a:ea typeface="Calibri"/>
                <a:cs typeface="Calibri"/>
                <a:sym typeface="Calibri"/>
              </a:rPr>
              <a:t>I</a:t>
            </a:r>
            <a:endParaRPr b="0" i="0" sz="1400" u="none" cap="none" strike="noStrike">
              <a:latin typeface="Arial"/>
              <a:ea typeface="Arial"/>
              <a:cs typeface="Arial"/>
              <a:sym typeface="Arial"/>
            </a:endParaRPr>
          </a:p>
        </p:txBody>
      </p:sp>
      <p:sp>
        <p:nvSpPr>
          <p:cNvPr id="812" name="Google Shape;812;p106"/>
          <p:cNvSpPr/>
          <p:nvPr/>
        </p:nvSpPr>
        <p:spPr>
          <a:xfrm>
            <a:off x="4321890" y="2134350"/>
            <a:ext cx="282300" cy="273000"/>
          </a:xfrm>
          <a:prstGeom prst="rect">
            <a:avLst/>
          </a:prstGeom>
          <a:noFill/>
          <a:ln>
            <a:noFill/>
          </a:ln>
        </p:spPr>
        <p:txBody>
          <a:bodyPr anchorCtr="0" anchor="t" bIns="33750" lIns="67500" spcFirstLastPara="1" rIns="67500" wrap="square" tIns="33750">
            <a:noAutofit/>
          </a:bodyPr>
          <a:lstStyle/>
          <a:p>
            <a:pPr indent="0" lvl="0" marL="0" marR="0" rtl="0" algn="l">
              <a:lnSpc>
                <a:spcPct val="100000"/>
              </a:lnSpc>
              <a:spcBef>
                <a:spcPts val="0"/>
              </a:spcBef>
              <a:spcAft>
                <a:spcPts val="0"/>
              </a:spcAft>
              <a:buClr>
                <a:srgbClr val="000000"/>
              </a:buClr>
              <a:buSzPts val="1400"/>
              <a:buFont typeface="Calibri"/>
              <a:buNone/>
            </a:pPr>
            <a:r>
              <a:rPr b="1" i="0" lang="en" sz="1400" u="none" cap="none" strike="noStrike">
                <a:solidFill>
                  <a:srgbClr val="000000"/>
                </a:solidFill>
                <a:latin typeface="Calibri"/>
                <a:ea typeface="Calibri"/>
                <a:cs typeface="Calibri"/>
                <a:sym typeface="Calibri"/>
              </a:rPr>
              <a:t>O</a:t>
            </a:r>
            <a:endParaRPr b="0" i="0" sz="1400" u="none" cap="none" strike="noStrike">
              <a:latin typeface="Arial"/>
              <a:ea typeface="Arial"/>
              <a:cs typeface="Arial"/>
              <a:sym typeface="Arial"/>
            </a:endParaRPr>
          </a:p>
        </p:txBody>
      </p:sp>
      <p:pic>
        <p:nvPicPr>
          <p:cNvPr id="813" name="Google Shape;813;p106"/>
          <p:cNvPicPr preferRelativeResize="0"/>
          <p:nvPr/>
        </p:nvPicPr>
        <p:blipFill rotWithShape="1">
          <a:blip r:embed="rId3">
            <a:alphaModFix/>
          </a:blip>
          <a:srcRect b="0" l="0" r="0" t="0"/>
          <a:stretch/>
        </p:blipFill>
        <p:spPr>
          <a:xfrm>
            <a:off x="6244830" y="2160540"/>
            <a:ext cx="261629" cy="265950"/>
          </a:xfrm>
          <a:prstGeom prst="rect">
            <a:avLst/>
          </a:prstGeom>
          <a:noFill/>
          <a:ln>
            <a:noFill/>
          </a:ln>
        </p:spPr>
      </p:pic>
      <p:pic>
        <p:nvPicPr>
          <p:cNvPr id="814" name="Google Shape;814;p106"/>
          <p:cNvPicPr preferRelativeResize="0"/>
          <p:nvPr/>
        </p:nvPicPr>
        <p:blipFill rotWithShape="1">
          <a:blip r:embed="rId4">
            <a:alphaModFix/>
          </a:blip>
          <a:srcRect b="0" l="0" r="0" t="0"/>
          <a:stretch/>
        </p:blipFill>
        <p:spPr>
          <a:xfrm>
            <a:off x="1641870" y="3137654"/>
            <a:ext cx="6026941" cy="680670"/>
          </a:xfrm>
          <a:prstGeom prst="rect">
            <a:avLst/>
          </a:prstGeom>
          <a:noFill/>
          <a:ln>
            <a:noFill/>
          </a:ln>
        </p:spPr>
      </p:pic>
      <p:sp>
        <p:nvSpPr>
          <p:cNvPr id="815" name="Google Shape;815;p106"/>
          <p:cNvSpPr/>
          <p:nvPr/>
        </p:nvSpPr>
        <p:spPr>
          <a:xfrm>
            <a:off x="2901420" y="3185174"/>
            <a:ext cx="659100" cy="5223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6" name="Google Shape;816;p106"/>
          <p:cNvSpPr/>
          <p:nvPr/>
        </p:nvSpPr>
        <p:spPr>
          <a:xfrm>
            <a:off x="4598370" y="3121454"/>
            <a:ext cx="1026300" cy="696900"/>
          </a:xfrm>
          <a:prstGeom prst="rect">
            <a:avLst/>
          </a:prstGeom>
          <a:noFill/>
          <a:ln cap="flat" cmpd="sng" w="19050">
            <a:solidFill>
              <a:srgbClr val="325490"/>
            </a:solidFill>
            <a:prstDash val="solid"/>
            <a:miter lim="8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817" name="Google Shape;817;p106"/>
          <p:cNvPicPr preferRelativeResize="0"/>
          <p:nvPr/>
        </p:nvPicPr>
        <p:blipFill rotWithShape="1">
          <a:blip r:embed="rId5">
            <a:alphaModFix/>
          </a:blip>
          <a:srcRect b="0" l="0" r="0" t="0"/>
          <a:stretch/>
        </p:blipFill>
        <p:spPr>
          <a:xfrm>
            <a:off x="7045110" y="3862080"/>
            <a:ext cx="1652399" cy="514080"/>
          </a:xfrm>
          <a:prstGeom prst="rect">
            <a:avLst/>
          </a:prstGeom>
          <a:noFill/>
          <a:ln>
            <a:noFill/>
          </a:ln>
        </p:spPr>
      </p:pic>
      <p:pic>
        <p:nvPicPr>
          <p:cNvPr id="818" name="Google Shape;818;p106"/>
          <p:cNvPicPr preferRelativeResize="0"/>
          <p:nvPr/>
        </p:nvPicPr>
        <p:blipFill rotWithShape="1">
          <a:blip r:embed="rId6">
            <a:alphaModFix/>
          </a:blip>
          <a:srcRect b="0" l="0" r="0" t="0"/>
          <a:stretch/>
        </p:blipFill>
        <p:spPr>
          <a:xfrm>
            <a:off x="6238890" y="2152710"/>
            <a:ext cx="257310" cy="2573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1000"/>
                                        <p:tgtEl>
                                          <p:spTgt spid="8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5"/>
                                        </p:tgtEl>
                                        <p:attrNameLst>
                                          <p:attrName>style.visibility</p:attrName>
                                        </p:attrNameLst>
                                      </p:cBhvr>
                                      <p:to>
                                        <p:strVal val="visible"/>
                                      </p:to>
                                    </p:set>
                                    <p:animEffect filter="fade" transition="in">
                                      <p:cBhvr>
                                        <p:cTn dur="1822"/>
                                        <p:tgtEl>
                                          <p:spTgt spid="815"/>
                                        </p:tgtEl>
                                      </p:cBhvr>
                                    </p:animEffect>
                                  </p:childTnLst>
                                </p:cTn>
                              </p:par>
                              <p:par>
                                <p:cTn fill="hold" nodeType="withEffect" presetClass="entr" presetID="10" presetSubtype="0">
                                  <p:stCondLst>
                                    <p:cond delay="0"/>
                                  </p:stCondLst>
                                  <p:childTnLst>
                                    <p:set>
                                      <p:cBhvr>
                                        <p:cTn dur="1" fill="hold">
                                          <p:stCondLst>
                                            <p:cond delay="0"/>
                                          </p:stCondLst>
                                        </p:cTn>
                                        <p:tgtEl>
                                          <p:spTgt spid="816"/>
                                        </p:tgtEl>
                                        <p:attrNameLst>
                                          <p:attrName>style.visibility</p:attrName>
                                        </p:attrNameLst>
                                      </p:cBhvr>
                                      <p:to>
                                        <p:strVal val="visible"/>
                                      </p:to>
                                    </p:set>
                                    <p:animEffect filter="fade" transition="in">
                                      <p:cBhvr>
                                        <p:cTn dur="1822"/>
                                        <p:tgtEl>
                                          <p:spTgt spid="816"/>
                                        </p:tgtEl>
                                      </p:cBhvr>
                                    </p:animEffect>
                                  </p:childTnLst>
                                </p:cTn>
                              </p:par>
                              <p:par>
                                <p:cTn fill="hold" nodeType="with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1822"/>
                                        <p:tgtEl>
                                          <p:spTgt spid="8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