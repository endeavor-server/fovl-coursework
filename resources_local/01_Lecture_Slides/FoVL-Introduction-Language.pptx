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dffa766df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dffa766df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dffa766df7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dffa766df7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dffa766df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dffa766df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dffa766df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dffa766df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aa51c903e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faa51c903e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dffa766df7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dffa766df7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faa51c903e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faa51c903e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dffa766df7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dffa766df7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dffa766df7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dffa766df7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dffa766df7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dffa766df7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dffa766df7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dffa766df7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dffb50201e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dffb50201e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fa29e4071a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fa29e4071a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dffb50201e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dffb50201e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fa29e4071a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fa29e4071a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aa51c903e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aa51c903e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dffb50201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dffb5020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fa29e4071a_1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fa29e4071a_1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fa29e4071a_1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fa29e4071a_1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fa3ec1e27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fa3ec1e27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dffa766df7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dffa766df7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faa51c903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faa51c903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faa51c903e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faa51c903e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faa51c903e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faa51c903e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dffa766df7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dffa766df7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dffa766df7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dffa766df7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dffa766df7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dffa766df7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faa51c903e_1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faa51c903e_1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dffa766df7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dffa766df7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dffa766df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dffa766df7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dffa766df7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dffa766df7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dffa766df7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dffa766df7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dffa766df7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dffa766df7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e0065d430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e0065d430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e0065d430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e0065d430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e0065d4300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e0065d430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e0065d4300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e0065d4300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e0065d4300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e0065d4300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e0065d4300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e0065d4300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e0065d4300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e0065d4300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e0065d4300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e0065d4300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e0065d4300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e0065d4300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e0065d4300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e0065d4300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e0065d4300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e0065d4300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dffa766df7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dffa766df7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409d365db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409d365db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e0065d4300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e0065d4300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409d365db0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409d365db0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e0065d4300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3e0065d4300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classroom.google.com/c/ODcxMzIxNjcwODIx" TargetMode="External"/><Relationship Id="rId4" Type="http://schemas.openxmlformats.org/officeDocument/2006/relationships/hyperlink" Target="https://meet.google.com/apr-cuoy-uti"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3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www.youtube.com/watch?v=EUG4go89QG0" TargetMode="External"/><Relationship Id="rId4" Type="http://schemas.openxmlformats.org/officeDocument/2006/relationships/image" Target="../media/image1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www.youtube.com/watch?v=9tKbVBePxyU" TargetMode="External"/><Relationship Id="rId4" Type="http://schemas.openxmlformats.org/officeDocument/2006/relationships/image" Target="../media/image1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www.youtube.com/watch?v=RE4ce4mexrU" TargetMode="External"/><Relationship Id="rId4" Type="http://schemas.openxmlformats.org/officeDocument/2006/relationships/image" Target="../media/image1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9.png"/><Relationship Id="rId4" Type="http://schemas.openxmlformats.org/officeDocument/2006/relationships/image" Target="../media/image24.png"/><Relationship Id="rId5"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3.png"/><Relationship Id="rId4"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3.png"/><Relationship Id="rId4" Type="http://schemas.openxmlformats.org/officeDocument/2006/relationships/image" Target="../media/image27.png"/><Relationship Id="rId5" Type="http://schemas.openxmlformats.org/officeDocument/2006/relationships/hyperlink" Target="https://en.wikipedia.org/wiki/Etaoin_shrdlu"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0.png"/><Relationship Id="rId4" Type="http://schemas.openxmlformats.org/officeDocument/2006/relationships/image" Target="../media/image2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04650" y="962225"/>
            <a:ext cx="8520600" cy="11415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sz="4400"/>
              <a:t>Foundations of Vision and Language</a:t>
            </a:r>
            <a:endParaRPr sz="4400"/>
          </a:p>
        </p:txBody>
      </p:sp>
      <p:sp>
        <p:nvSpPr>
          <p:cNvPr id="55" name="Google Shape;55;p13"/>
          <p:cNvSpPr txBox="1"/>
          <p:nvPr>
            <p:ph idx="1" type="subTitle"/>
          </p:nvPr>
        </p:nvSpPr>
        <p:spPr>
          <a:xfrm>
            <a:off x="311700" y="23587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rgbClr val="990000"/>
                </a:solidFill>
              </a:rPr>
              <a:t>Introduction: </a:t>
            </a:r>
            <a:r>
              <a:rPr i="1" lang="en">
                <a:solidFill>
                  <a:srgbClr val="0000FF"/>
                </a:solidFill>
              </a:rPr>
              <a:t>Language</a:t>
            </a:r>
            <a:endParaRPr i="1">
              <a:solidFill>
                <a:srgbClr val="0000FF"/>
              </a:solidFill>
            </a:endParaRPr>
          </a:p>
        </p:txBody>
      </p:sp>
      <p:sp>
        <p:nvSpPr>
          <p:cNvPr id="56" name="Google Shape;56;p13"/>
          <p:cNvSpPr txBox="1"/>
          <p:nvPr/>
        </p:nvSpPr>
        <p:spPr>
          <a:xfrm>
            <a:off x="2988900" y="3406325"/>
            <a:ext cx="3166200" cy="63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9900FF"/>
                </a:solidFill>
              </a:rPr>
              <a:t>Sidharth Ranjan</a:t>
            </a:r>
            <a:endParaRPr sz="2400">
              <a:solidFill>
                <a:srgbClr val="9900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Course Administration</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Class timings: </a:t>
            </a:r>
            <a:r>
              <a:rPr lang="en">
                <a:solidFill>
                  <a:srgbClr val="0000FF"/>
                </a:solidFill>
              </a:rPr>
              <a:t>6:00-7:30 PM on Friday</a:t>
            </a:r>
            <a:r>
              <a:rPr lang="en"/>
              <a:t> and </a:t>
            </a:r>
            <a:r>
              <a:rPr lang="en">
                <a:solidFill>
                  <a:srgbClr val="9900FF"/>
                </a:solidFill>
              </a:rPr>
              <a:t>2:30-4:00 PM on Saturday</a:t>
            </a:r>
            <a:br>
              <a:rPr lang="en"/>
            </a:br>
            <a:endParaRPr/>
          </a:p>
          <a:p>
            <a:pPr indent="-342900" lvl="0" marL="457200" rtl="0" algn="l">
              <a:spcBef>
                <a:spcPts val="0"/>
              </a:spcBef>
              <a:spcAft>
                <a:spcPts val="0"/>
              </a:spcAft>
              <a:buSzPts val="1800"/>
              <a:buChar char="-"/>
            </a:pPr>
            <a:r>
              <a:rPr lang="en"/>
              <a:t>Language Part of the course will be instructed in two parts</a:t>
            </a:r>
            <a:endParaRPr/>
          </a:p>
          <a:p>
            <a:pPr indent="-317500" lvl="1" marL="914400" rtl="0" algn="l">
              <a:spcBef>
                <a:spcPts val="0"/>
              </a:spcBef>
              <a:spcAft>
                <a:spcPts val="0"/>
              </a:spcAft>
              <a:buSzPts val="1400"/>
              <a:buChar char="-"/>
            </a:pPr>
            <a:r>
              <a:rPr lang="en"/>
              <a:t>Traditional Methods (8 </a:t>
            </a:r>
            <a:r>
              <a:rPr lang="en"/>
              <a:t>lectures</a:t>
            </a:r>
            <a:r>
              <a:rPr lang="en"/>
              <a:t>)</a:t>
            </a:r>
            <a:endParaRPr/>
          </a:p>
          <a:p>
            <a:pPr indent="-317500" lvl="1" marL="914400" rtl="0" algn="l">
              <a:spcBef>
                <a:spcPts val="0"/>
              </a:spcBef>
              <a:spcAft>
                <a:spcPts val="0"/>
              </a:spcAft>
              <a:buSzPts val="1400"/>
              <a:buChar char="-"/>
            </a:pPr>
            <a:r>
              <a:rPr lang="en"/>
              <a:t>Modern Methods (8 lectures)</a:t>
            </a:r>
            <a:br>
              <a:rPr lang="en"/>
            </a:br>
            <a:endParaRPr/>
          </a:p>
          <a:p>
            <a:pPr indent="-342900" lvl="0" marL="457200" rtl="0" algn="l">
              <a:spcBef>
                <a:spcPts val="0"/>
              </a:spcBef>
              <a:spcAft>
                <a:spcPts val="0"/>
              </a:spcAft>
              <a:buSzPts val="1800"/>
              <a:buChar char="-"/>
            </a:pPr>
            <a:r>
              <a:rPr lang="en"/>
              <a:t>Goal of the course is to introduce students to various methods in NLP/CL</a:t>
            </a:r>
            <a:br>
              <a:rPr lang="en"/>
            </a:br>
            <a:endParaRPr/>
          </a:p>
          <a:p>
            <a:pPr indent="-317500" lvl="1" marL="914400" rtl="0" algn="l">
              <a:spcBef>
                <a:spcPts val="0"/>
              </a:spcBef>
              <a:spcAft>
                <a:spcPts val="0"/>
              </a:spcAft>
              <a:buSzPts val="1400"/>
              <a:buChar char="-"/>
            </a:pPr>
            <a:r>
              <a:rPr lang="en"/>
              <a:t>Focus of the first part of the course will be on morphological, lexical and syntactic analysis of natural language data</a:t>
            </a:r>
            <a:br>
              <a:rPr lang="en"/>
            </a:br>
            <a:endParaRPr/>
          </a:p>
          <a:p>
            <a:pPr indent="-342900" lvl="0" marL="457200" rtl="0" algn="l">
              <a:spcBef>
                <a:spcPts val="0"/>
              </a:spcBef>
              <a:spcAft>
                <a:spcPts val="0"/>
              </a:spcAft>
              <a:buSzPts val="1800"/>
              <a:buChar char="-"/>
            </a:pPr>
            <a:r>
              <a:rPr lang="en"/>
              <a:t>Class assumes that you have some linguistics background. Please ask questions in case you don’t know certain terms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Online Mode</a:t>
            </a:r>
            <a:endParaRPr/>
          </a:p>
        </p:txBody>
      </p:sp>
      <p:sp>
        <p:nvSpPr>
          <p:cNvPr id="68" name="Google Shape;68;p15"/>
          <p:cNvSpPr txBox="1"/>
          <p:nvPr>
            <p:ph idx="1" type="body"/>
          </p:nvPr>
        </p:nvSpPr>
        <p:spPr>
          <a:xfrm>
            <a:off x="311700" y="1152475"/>
            <a:ext cx="86520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Via Google Classroom: </a:t>
            </a:r>
            <a:r>
              <a:rPr lang="en" u="sng">
                <a:solidFill>
                  <a:schemeClr val="hlink"/>
                </a:solidFill>
                <a:hlinkClick r:id="rId3"/>
              </a:rPr>
              <a:t>https://classroom.google.com/c/ODcxMzIxNjcwODIx</a:t>
            </a:r>
            <a:br>
              <a:rPr lang="en"/>
            </a:br>
            <a:endParaRPr/>
          </a:p>
          <a:p>
            <a:pPr indent="-342900" lvl="0" marL="457200" rtl="0" algn="l">
              <a:spcBef>
                <a:spcPts val="0"/>
              </a:spcBef>
              <a:spcAft>
                <a:spcPts val="0"/>
              </a:spcAft>
              <a:buSzPts val="1800"/>
              <a:buChar char="-"/>
            </a:pPr>
            <a:r>
              <a:rPr lang="en"/>
              <a:t>Hybrid classroom:</a:t>
            </a:r>
            <a:endParaRPr/>
          </a:p>
          <a:p>
            <a:pPr indent="-317500" lvl="1" marL="914400" rtl="0" algn="l">
              <a:spcBef>
                <a:spcPts val="0"/>
              </a:spcBef>
              <a:spcAft>
                <a:spcPts val="0"/>
              </a:spcAft>
              <a:buSzPts val="1400"/>
              <a:buChar char="-"/>
            </a:pPr>
            <a:r>
              <a:rPr lang="en"/>
              <a:t>Online class: </a:t>
            </a:r>
            <a:r>
              <a:rPr lang="en" u="sng">
                <a:solidFill>
                  <a:schemeClr val="hlink"/>
                </a:solidFill>
                <a:hlinkClick r:id="rId4"/>
              </a:rPr>
              <a:t>https://meet.google.com/apr-cuoy-uti</a:t>
            </a:r>
            <a:endParaRPr/>
          </a:p>
          <a:p>
            <a:pPr indent="-317500" lvl="1" marL="914400" rtl="0" algn="l">
              <a:spcBef>
                <a:spcPts val="0"/>
              </a:spcBef>
              <a:spcAft>
                <a:spcPts val="0"/>
              </a:spcAft>
              <a:buSzPts val="1400"/>
              <a:buChar char="-"/>
            </a:pPr>
            <a:r>
              <a:rPr lang="en"/>
              <a:t>Offline class: CS101, CSE Building</a:t>
            </a:r>
            <a:br>
              <a:rPr lang="en"/>
            </a:br>
            <a:endParaRPr/>
          </a:p>
          <a:p>
            <a:pPr indent="-342900" lvl="0" marL="457200" rtl="0" algn="l">
              <a:spcBef>
                <a:spcPts val="0"/>
              </a:spcBef>
              <a:spcAft>
                <a:spcPts val="0"/>
              </a:spcAft>
              <a:buSzPts val="1800"/>
              <a:buChar char="-"/>
            </a:pPr>
            <a:r>
              <a:rPr lang="en"/>
              <a:t>Materials will be uploaded on Google Classroom</a:t>
            </a:r>
            <a:br>
              <a:rPr lang="en"/>
            </a:br>
            <a:endParaRPr/>
          </a:p>
          <a:p>
            <a:pPr indent="-342900" lvl="0" marL="457200" rtl="0" algn="l">
              <a:spcBef>
                <a:spcPts val="0"/>
              </a:spcBef>
              <a:spcAft>
                <a:spcPts val="0"/>
              </a:spcAft>
              <a:buSzPts val="1800"/>
              <a:buChar char="-"/>
            </a:pPr>
            <a:r>
              <a:rPr lang="en"/>
              <a:t>Lectures CANNOT be shared/copied/circulated - they are strictly for class reference only. Disciplinary action can be taken against you in case of violation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Pedagogy and Teaching Structure</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Special focus on applications and practical knowledge</a:t>
            </a:r>
            <a:br>
              <a:rPr lang="en"/>
            </a:br>
            <a:endParaRPr/>
          </a:p>
          <a:p>
            <a:pPr indent="-342900" lvl="0" marL="457200" rtl="0" algn="l">
              <a:spcBef>
                <a:spcPts val="0"/>
              </a:spcBef>
              <a:spcAft>
                <a:spcPts val="0"/>
              </a:spcAft>
              <a:buSzPts val="1800"/>
              <a:buChar char="-"/>
            </a:pPr>
            <a:r>
              <a:rPr lang="en"/>
              <a:t>Alternate theory and practice sessions</a:t>
            </a:r>
            <a:br>
              <a:rPr lang="en"/>
            </a:br>
            <a:endParaRPr/>
          </a:p>
          <a:p>
            <a:pPr indent="-342900" lvl="0" marL="457200" rtl="0" algn="l">
              <a:spcBef>
                <a:spcPts val="0"/>
              </a:spcBef>
              <a:spcAft>
                <a:spcPts val="0"/>
              </a:spcAft>
              <a:buSzPts val="1800"/>
              <a:buChar char="-"/>
            </a:pPr>
            <a:r>
              <a:rPr lang="en"/>
              <a:t>Use of writing pad, presentation slides, and lab demo</a:t>
            </a:r>
            <a:endParaRPr/>
          </a:p>
          <a:p>
            <a:pPr indent="0" lvl="0" marL="45720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ctr">
              <a:spcBef>
                <a:spcPts val="1200"/>
              </a:spcBef>
              <a:spcAft>
                <a:spcPts val="1200"/>
              </a:spcAft>
              <a:buNone/>
            </a:pPr>
            <a:r>
              <a:rPr lang="en">
                <a:solidFill>
                  <a:srgbClr val="980000"/>
                </a:solidFill>
              </a:rPr>
              <a:t>We will do exercises in the class. Please bring laptops!</a:t>
            </a:r>
            <a:endParaRPr>
              <a:solidFill>
                <a:srgbClr val="980000"/>
              </a:solidFill>
            </a:endParaRPr>
          </a:p>
        </p:txBody>
      </p:sp>
      <p:sp>
        <p:nvSpPr>
          <p:cNvPr id="75" name="Google Shape;75;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Books</a:t>
            </a:r>
            <a:endParaRPr/>
          </a:p>
          <a:p>
            <a:pPr indent="0" lvl="0" marL="0" rtl="0" algn="l">
              <a:spcBef>
                <a:spcPts val="0"/>
              </a:spcBef>
              <a:spcAft>
                <a:spcPts val="0"/>
              </a:spcAft>
              <a:buNone/>
            </a:pPr>
            <a:r>
              <a:t/>
            </a:r>
            <a:endParaRPr>
              <a:solidFill>
                <a:srgbClr val="0000FF"/>
              </a:solidFill>
            </a:endParaRPr>
          </a:p>
        </p:txBody>
      </p:sp>
      <p:pic>
        <p:nvPicPr>
          <p:cNvPr id="81" name="Google Shape;81;p17"/>
          <p:cNvPicPr preferRelativeResize="0"/>
          <p:nvPr/>
        </p:nvPicPr>
        <p:blipFill>
          <a:blip r:embed="rId3">
            <a:alphaModFix/>
          </a:blip>
          <a:stretch>
            <a:fillRect/>
          </a:stretch>
        </p:blipFill>
        <p:spPr>
          <a:xfrm>
            <a:off x="5655313" y="907359"/>
            <a:ext cx="2456826" cy="3532002"/>
          </a:xfrm>
          <a:prstGeom prst="rect">
            <a:avLst/>
          </a:prstGeom>
          <a:noFill/>
          <a:ln>
            <a:noFill/>
          </a:ln>
        </p:spPr>
      </p:pic>
      <p:pic>
        <p:nvPicPr>
          <p:cNvPr id="82" name="Google Shape;82;p17"/>
          <p:cNvPicPr preferRelativeResize="0"/>
          <p:nvPr/>
        </p:nvPicPr>
        <p:blipFill>
          <a:blip r:embed="rId4">
            <a:alphaModFix/>
          </a:blip>
          <a:stretch>
            <a:fillRect/>
          </a:stretch>
        </p:blipFill>
        <p:spPr>
          <a:xfrm>
            <a:off x="1861239" y="809709"/>
            <a:ext cx="2656644" cy="3820975"/>
          </a:xfrm>
          <a:prstGeom prst="rect">
            <a:avLst/>
          </a:prstGeom>
          <a:noFill/>
          <a:ln>
            <a:noFill/>
          </a:ln>
        </p:spPr>
      </p:pic>
      <p:sp>
        <p:nvSpPr>
          <p:cNvPr id="83" name="Google Shape;83;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Outlook</a:t>
            </a:r>
            <a:endParaRPr/>
          </a:p>
        </p:txBody>
      </p:sp>
      <p:sp>
        <p:nvSpPr>
          <p:cNvPr id="89" name="Google Shape;89;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What is Language?</a:t>
            </a:r>
            <a:endParaRPr/>
          </a:p>
          <a:p>
            <a:pPr indent="-317500" lvl="1" marL="914400" rtl="0" algn="l">
              <a:spcBef>
                <a:spcPts val="0"/>
              </a:spcBef>
              <a:spcAft>
                <a:spcPts val="0"/>
              </a:spcAft>
              <a:buSzPts val="1400"/>
              <a:buChar char="-"/>
            </a:pPr>
            <a:r>
              <a:rPr lang="en"/>
              <a:t>What language does?</a:t>
            </a:r>
            <a:endParaRPr/>
          </a:p>
          <a:p>
            <a:pPr indent="-317500" lvl="1" marL="914400" rtl="0" algn="l">
              <a:spcBef>
                <a:spcPts val="0"/>
              </a:spcBef>
              <a:spcAft>
                <a:spcPts val="0"/>
              </a:spcAft>
              <a:buSzPts val="1400"/>
              <a:buChar char="-"/>
            </a:pPr>
            <a:r>
              <a:rPr lang="en"/>
              <a:t>Language as symbolic and interactive communication</a:t>
            </a:r>
            <a:br>
              <a:rPr lang="en"/>
            </a:br>
            <a:endParaRPr/>
          </a:p>
          <a:p>
            <a:pPr indent="-342900" lvl="0" marL="457200" rtl="0" algn="l">
              <a:spcBef>
                <a:spcPts val="0"/>
              </a:spcBef>
              <a:spcAft>
                <a:spcPts val="0"/>
              </a:spcAft>
              <a:buSzPts val="1800"/>
              <a:buChar char="-"/>
            </a:pPr>
            <a:r>
              <a:rPr lang="en"/>
              <a:t>Language Understanding and AI</a:t>
            </a:r>
            <a:endParaRPr/>
          </a:p>
          <a:p>
            <a:pPr indent="-317500" lvl="1" marL="914400" rtl="0" algn="l">
              <a:spcBef>
                <a:spcPts val="0"/>
              </a:spcBef>
              <a:spcAft>
                <a:spcPts val="0"/>
              </a:spcAft>
              <a:buSzPts val="1400"/>
              <a:buChar char="-"/>
            </a:pPr>
            <a:r>
              <a:rPr lang="en"/>
              <a:t>Early NLU systems</a:t>
            </a:r>
            <a:endParaRPr/>
          </a:p>
          <a:p>
            <a:pPr indent="-317500" lvl="1" marL="914400" rtl="0" algn="l">
              <a:spcBef>
                <a:spcPts val="0"/>
              </a:spcBef>
              <a:spcAft>
                <a:spcPts val="0"/>
              </a:spcAft>
              <a:buSzPts val="1400"/>
              <a:buChar char="-"/>
            </a:pPr>
            <a:r>
              <a:rPr lang="en"/>
              <a:t>Ambiguity and data-driven approaches</a:t>
            </a:r>
            <a:br>
              <a:rPr lang="en"/>
            </a:br>
            <a:endParaRPr/>
          </a:p>
          <a:p>
            <a:pPr indent="-342900" lvl="0" marL="457200" rtl="0" algn="l">
              <a:spcBef>
                <a:spcPts val="0"/>
              </a:spcBef>
              <a:spcAft>
                <a:spcPts val="0"/>
              </a:spcAft>
              <a:buSzPts val="1800"/>
              <a:buChar char="-"/>
            </a:pPr>
            <a:r>
              <a:rPr lang="en"/>
              <a:t>Computational modeling ←(</a:t>
            </a:r>
            <a:r>
              <a:rPr i="1" lang="en"/>
              <a:t>vs</a:t>
            </a:r>
            <a:r>
              <a:rPr lang="en"/>
              <a:t>)→ Linguistic understanding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Language?</a:t>
            </a:r>
            <a:endParaRPr/>
          </a:p>
        </p:txBody>
      </p:sp>
      <p:sp>
        <p:nvSpPr>
          <p:cNvPr id="95" name="Google Shape;95;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Language reflects </a:t>
            </a:r>
            <a:r>
              <a:rPr b="1" lang="en"/>
              <a:t>patterns</a:t>
            </a:r>
            <a:r>
              <a:rPr lang="en"/>
              <a:t> of thought – conceptualization</a:t>
            </a:r>
            <a:endParaRPr/>
          </a:p>
          <a:p>
            <a:pPr indent="-317500" lvl="1" marL="914400" rtl="0" algn="l">
              <a:spcBef>
                <a:spcPts val="0"/>
              </a:spcBef>
              <a:spcAft>
                <a:spcPts val="0"/>
              </a:spcAft>
              <a:buSzPts val="1400"/>
              <a:buChar char="-"/>
            </a:pPr>
            <a:r>
              <a:rPr lang="en"/>
              <a:t>Language offers window to mind (cognitive functions)</a:t>
            </a:r>
            <a:endParaRPr/>
          </a:p>
          <a:p>
            <a:pPr indent="-317500" lvl="1" marL="914400" rtl="0" algn="l">
              <a:spcBef>
                <a:spcPts val="0"/>
              </a:spcBef>
              <a:spcAft>
                <a:spcPts val="0"/>
              </a:spcAft>
              <a:buSzPts val="1400"/>
              <a:buChar char="-"/>
            </a:pPr>
            <a:r>
              <a:rPr lang="en"/>
              <a:t>Provides insights into the nature, structure and organization of ideas/thoughts</a:t>
            </a:r>
            <a:br>
              <a:rPr lang="en"/>
            </a:br>
            <a:endParaRPr/>
          </a:p>
          <a:p>
            <a:pPr indent="-342900" lvl="0" marL="457200" rtl="0" algn="l">
              <a:spcBef>
                <a:spcPts val="0"/>
              </a:spcBef>
              <a:spcAft>
                <a:spcPts val="0"/>
              </a:spcAft>
              <a:buSzPts val="1800"/>
              <a:buChar char="-"/>
            </a:pPr>
            <a:r>
              <a:rPr lang="en"/>
              <a:t>Study language </a:t>
            </a:r>
            <a:r>
              <a:rPr lang="en"/>
              <a:t>in order t</a:t>
            </a:r>
            <a:r>
              <a:rPr lang="en"/>
              <a:t>o describe its systematicity, structure, and the functions, and how these </a:t>
            </a:r>
            <a:r>
              <a:rPr b="1" lang="en"/>
              <a:t>functions </a:t>
            </a:r>
            <a:r>
              <a:rPr lang="en"/>
              <a:t>are realized by the language system</a:t>
            </a:r>
            <a:br>
              <a:rPr lang="en"/>
            </a:br>
            <a:endParaRPr/>
          </a:p>
        </p:txBody>
      </p:sp>
      <p:pic>
        <p:nvPicPr>
          <p:cNvPr id="96" name="Google Shape;96;p19"/>
          <p:cNvPicPr preferRelativeResize="0"/>
          <p:nvPr/>
        </p:nvPicPr>
        <p:blipFill>
          <a:blip r:embed="rId3">
            <a:alphaModFix/>
          </a:blip>
          <a:stretch>
            <a:fillRect/>
          </a:stretch>
        </p:blipFill>
        <p:spPr>
          <a:xfrm>
            <a:off x="1174075" y="3115175"/>
            <a:ext cx="1946149" cy="1946150"/>
          </a:xfrm>
          <a:prstGeom prst="rect">
            <a:avLst/>
          </a:prstGeom>
          <a:noFill/>
          <a:ln>
            <a:noFill/>
          </a:ln>
        </p:spPr>
      </p:pic>
      <p:pic>
        <p:nvPicPr>
          <p:cNvPr id="97" name="Google Shape;97;p19"/>
          <p:cNvPicPr preferRelativeResize="0"/>
          <p:nvPr/>
        </p:nvPicPr>
        <p:blipFill>
          <a:blip r:embed="rId4">
            <a:alphaModFix/>
          </a:blip>
          <a:stretch>
            <a:fillRect/>
          </a:stretch>
        </p:blipFill>
        <p:spPr>
          <a:xfrm>
            <a:off x="7198300" y="103675"/>
            <a:ext cx="1838048" cy="1313426"/>
          </a:xfrm>
          <a:prstGeom prst="rect">
            <a:avLst/>
          </a:prstGeom>
          <a:noFill/>
          <a:ln>
            <a:noFill/>
          </a:ln>
        </p:spPr>
      </p:pic>
      <p:pic>
        <p:nvPicPr>
          <p:cNvPr id="98" name="Google Shape;98;p19"/>
          <p:cNvPicPr preferRelativeResize="0"/>
          <p:nvPr/>
        </p:nvPicPr>
        <p:blipFill>
          <a:blip r:embed="rId5">
            <a:alphaModFix/>
          </a:blip>
          <a:stretch>
            <a:fillRect/>
          </a:stretch>
        </p:blipFill>
        <p:spPr>
          <a:xfrm>
            <a:off x="4608275" y="3158950"/>
            <a:ext cx="3276325" cy="19023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a:t>
            </a:r>
            <a:endParaRPr/>
          </a:p>
        </p:txBody>
      </p:sp>
      <p:sp>
        <p:nvSpPr>
          <p:cNvPr id="104" name="Google Shape;104;p20"/>
          <p:cNvSpPr txBox="1"/>
          <p:nvPr>
            <p:ph idx="1" type="body"/>
          </p:nvPr>
        </p:nvSpPr>
        <p:spPr>
          <a:xfrm>
            <a:off x="311700" y="1152475"/>
            <a:ext cx="8771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t>We aren't only asking: </a:t>
            </a:r>
            <a:endParaRPr sz="1600"/>
          </a:p>
          <a:p>
            <a:pPr indent="0" lvl="0" marL="0" rtl="0" algn="l">
              <a:spcBef>
                <a:spcPts val="1200"/>
              </a:spcBef>
              <a:spcAft>
                <a:spcPts val="0"/>
              </a:spcAft>
              <a:buNone/>
            </a:pPr>
            <a:r>
              <a:rPr lang="en" sz="1600"/>
              <a:t>	</a:t>
            </a:r>
            <a:r>
              <a:rPr b="1" lang="en" sz="1600">
                <a:solidFill>
                  <a:srgbClr val="000000"/>
                </a:solidFill>
              </a:rPr>
              <a:t>How do I manipulate this string of words?</a:t>
            </a:r>
            <a:r>
              <a:rPr lang="en" sz="1600"/>
              <a:t> </a:t>
            </a:r>
            <a:endParaRPr sz="1600"/>
          </a:p>
          <a:p>
            <a:pPr indent="0" lvl="0" marL="0" rtl="0" algn="l">
              <a:spcBef>
                <a:spcPts val="1200"/>
              </a:spcBef>
              <a:spcAft>
                <a:spcPts val="0"/>
              </a:spcAft>
              <a:buNone/>
            </a:pPr>
            <a:r>
              <a:t/>
            </a:r>
            <a:endParaRPr sz="1600"/>
          </a:p>
          <a:p>
            <a:pPr indent="0" lvl="0" marL="0" rtl="0" algn="l">
              <a:spcBef>
                <a:spcPts val="1200"/>
              </a:spcBef>
              <a:spcAft>
                <a:spcPts val="0"/>
              </a:spcAft>
              <a:buNone/>
            </a:pPr>
            <a:r>
              <a:rPr lang="en" sz="1600"/>
              <a:t>We can also ask: </a:t>
            </a:r>
            <a:endParaRPr sz="1600"/>
          </a:p>
          <a:p>
            <a:pPr indent="0" lvl="0" marL="0" rtl="0" algn="l">
              <a:spcBef>
                <a:spcPts val="1200"/>
              </a:spcBef>
              <a:spcAft>
                <a:spcPts val="1200"/>
              </a:spcAft>
              <a:buNone/>
            </a:pPr>
            <a:r>
              <a:rPr lang="en" sz="1600"/>
              <a:t>	</a:t>
            </a:r>
            <a:r>
              <a:rPr b="1" lang="en" sz="1600">
                <a:solidFill>
                  <a:schemeClr val="dk1"/>
                </a:solidFill>
              </a:rPr>
              <a:t>What kind of cognitive or representational system could produce this behaviour?</a:t>
            </a:r>
            <a:r>
              <a:rPr lang="en" sz="1600"/>
              <a:t> </a:t>
            </a:r>
            <a:endParaRPr sz="16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language for?</a:t>
            </a:r>
            <a:endParaRPr/>
          </a:p>
        </p:txBody>
      </p:sp>
      <p:sp>
        <p:nvSpPr>
          <p:cNvPr id="110" name="Google Shape;110;p21"/>
          <p:cNvSpPr txBox="1"/>
          <p:nvPr>
            <p:ph idx="1" type="body"/>
          </p:nvPr>
        </p:nvSpPr>
        <p:spPr>
          <a:xfrm>
            <a:off x="311700" y="1152475"/>
            <a:ext cx="8608800" cy="3815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We take language for granted, yet we rely upon it throughout our lives to perform a range of functions</a:t>
            </a:r>
            <a:endParaRPr/>
          </a:p>
          <a:p>
            <a:pPr indent="-317500" lvl="1" marL="914400" rtl="0" algn="l">
              <a:spcBef>
                <a:spcPts val="0"/>
              </a:spcBef>
              <a:spcAft>
                <a:spcPts val="0"/>
              </a:spcAft>
              <a:buSzPts val="1400"/>
              <a:buChar char="-"/>
            </a:pPr>
            <a:r>
              <a:rPr lang="en"/>
              <a:t>Shopping</a:t>
            </a:r>
            <a:endParaRPr/>
          </a:p>
          <a:p>
            <a:pPr indent="-317500" lvl="1" marL="914400" rtl="0" algn="l">
              <a:spcBef>
                <a:spcPts val="0"/>
              </a:spcBef>
              <a:spcAft>
                <a:spcPts val="0"/>
              </a:spcAft>
              <a:buSzPts val="1400"/>
              <a:buChar char="-"/>
            </a:pPr>
            <a:r>
              <a:rPr lang="en"/>
              <a:t>Talking to our best friends</a:t>
            </a:r>
            <a:endParaRPr/>
          </a:p>
          <a:p>
            <a:pPr indent="-317500" lvl="1" marL="914400" rtl="0" algn="l">
              <a:spcBef>
                <a:spcPts val="0"/>
              </a:spcBef>
              <a:spcAft>
                <a:spcPts val="0"/>
              </a:spcAft>
              <a:buSzPts val="1400"/>
              <a:buChar char="-"/>
            </a:pPr>
            <a:r>
              <a:rPr lang="en"/>
              <a:t>Talking on phone</a:t>
            </a:r>
            <a:endParaRPr/>
          </a:p>
          <a:p>
            <a:pPr indent="-317500" lvl="1" marL="914400" rtl="0" algn="l">
              <a:spcBef>
                <a:spcPts val="0"/>
              </a:spcBef>
              <a:spcAft>
                <a:spcPts val="0"/>
              </a:spcAft>
              <a:buSzPts val="1400"/>
              <a:buChar char="-"/>
            </a:pPr>
            <a:r>
              <a:rPr lang="en"/>
              <a:t>Expressing our opinions</a:t>
            </a:r>
            <a:endParaRPr/>
          </a:p>
          <a:p>
            <a:pPr indent="-317500" lvl="1" marL="914400" rtl="0" algn="l">
              <a:spcBef>
                <a:spcPts val="0"/>
              </a:spcBef>
              <a:spcAft>
                <a:spcPts val="0"/>
              </a:spcAft>
              <a:buSzPts val="1400"/>
              <a:buChar char="-"/>
            </a:pPr>
            <a:r>
              <a:rPr lang="en"/>
              <a:t>Arguing or insulting someone</a:t>
            </a:r>
            <a:endParaRPr/>
          </a:p>
          <a:p>
            <a:pPr indent="-317500" lvl="1" marL="914400" rtl="0" algn="l">
              <a:spcBef>
                <a:spcPts val="0"/>
              </a:spcBef>
              <a:spcAft>
                <a:spcPts val="0"/>
              </a:spcAft>
              <a:buSzPts val="1400"/>
              <a:buChar char="-"/>
            </a:pPr>
            <a:r>
              <a:rPr lang="en"/>
              <a:t>So on…</a:t>
            </a:r>
            <a:br>
              <a:rPr lang="en"/>
            </a:br>
            <a:endParaRPr/>
          </a:p>
          <a:p>
            <a:pPr indent="-342900" lvl="0" marL="457200" rtl="0" algn="l">
              <a:spcBef>
                <a:spcPts val="0"/>
              </a:spcBef>
              <a:spcAft>
                <a:spcPts val="0"/>
              </a:spcAft>
              <a:buSzPts val="1800"/>
              <a:buChar char="-"/>
            </a:pPr>
            <a:r>
              <a:rPr lang="en"/>
              <a:t>Other forms of behaviour that could be accomplished in the absence of language</a:t>
            </a:r>
            <a:endParaRPr/>
          </a:p>
          <a:p>
            <a:pPr indent="-317500" lvl="1" marL="914400" rtl="0" algn="l">
              <a:spcBef>
                <a:spcPts val="0"/>
              </a:spcBef>
              <a:spcAft>
                <a:spcPts val="0"/>
              </a:spcAft>
              <a:buSzPts val="1400"/>
              <a:buChar char="-"/>
            </a:pPr>
            <a:r>
              <a:rPr lang="en"/>
              <a:t>Telepathy?</a:t>
            </a:r>
            <a:endParaRPr/>
          </a:p>
          <a:p>
            <a:pPr indent="-317500" lvl="1" marL="914400" rtl="0" algn="l">
              <a:spcBef>
                <a:spcPts val="0"/>
              </a:spcBef>
              <a:spcAft>
                <a:spcPts val="0"/>
              </a:spcAft>
              <a:buSzPts val="1400"/>
              <a:buChar char="-"/>
            </a:pPr>
            <a:r>
              <a:rPr lang="en"/>
              <a:t>Browsing internet?</a:t>
            </a:r>
            <a:endParaRPr/>
          </a:p>
          <a:p>
            <a:pPr indent="-317500" lvl="1" marL="914400" rtl="0" algn="l">
              <a:spcBef>
                <a:spcPts val="0"/>
              </a:spcBef>
              <a:spcAft>
                <a:spcPts val="0"/>
              </a:spcAft>
              <a:buSzPts val="1400"/>
              <a:buChar char="-"/>
            </a:pPr>
            <a:r>
              <a:rPr lang="en"/>
              <a:t>Sending email?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language for?</a:t>
            </a:r>
            <a:endParaRPr/>
          </a:p>
        </p:txBody>
      </p:sp>
      <p:sp>
        <p:nvSpPr>
          <p:cNvPr id="116" name="Google Shape;116;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Language allows quick and effective expression </a:t>
            </a:r>
            <a:endParaRPr/>
          </a:p>
          <a:p>
            <a:pPr indent="0" lvl="0" marL="457200" rtl="0" algn="l">
              <a:spcBef>
                <a:spcPts val="1200"/>
              </a:spcBef>
              <a:spcAft>
                <a:spcPts val="0"/>
              </a:spcAft>
              <a:buNone/>
            </a:pPr>
            <a:r>
              <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Provides well developed means for </a:t>
            </a:r>
            <a:r>
              <a:rPr b="1" lang="en"/>
              <a:t>encoding </a:t>
            </a:r>
            <a:r>
              <a:rPr lang="en"/>
              <a:t>and </a:t>
            </a:r>
            <a:r>
              <a:rPr b="1" lang="en"/>
              <a:t>transmitting </a:t>
            </a:r>
            <a:r>
              <a:rPr lang="en"/>
              <a:t>complex and subtle ideas</a:t>
            </a:r>
            <a:endParaRPr/>
          </a:p>
          <a:p>
            <a:pPr indent="-317500" lvl="1" marL="914400" rtl="0" algn="l">
              <a:spcBef>
                <a:spcPts val="0"/>
              </a:spcBef>
              <a:spcAft>
                <a:spcPts val="0"/>
              </a:spcAft>
              <a:buSzPts val="1400"/>
              <a:buChar char="-"/>
            </a:pPr>
            <a:r>
              <a:rPr lang="en"/>
              <a:t>Symbolic function</a:t>
            </a:r>
            <a:endParaRPr/>
          </a:p>
          <a:p>
            <a:pPr indent="-317500" lvl="1" marL="914400" rtl="0" algn="l">
              <a:spcBef>
                <a:spcPts val="0"/>
              </a:spcBef>
              <a:spcAft>
                <a:spcPts val="0"/>
              </a:spcAft>
              <a:buSzPts val="1400"/>
              <a:buChar char="-"/>
            </a:pPr>
            <a:r>
              <a:rPr lang="en"/>
              <a:t>Interactive function</a:t>
            </a:r>
            <a:endParaRPr/>
          </a:p>
        </p:txBody>
      </p:sp>
      <p:pic>
        <p:nvPicPr>
          <p:cNvPr id="117" name="Google Shape;117;p22"/>
          <p:cNvPicPr preferRelativeResize="0"/>
          <p:nvPr/>
        </p:nvPicPr>
        <p:blipFill>
          <a:blip r:embed="rId3">
            <a:alphaModFix/>
          </a:blip>
          <a:stretch>
            <a:fillRect/>
          </a:stretch>
        </p:blipFill>
        <p:spPr>
          <a:xfrm>
            <a:off x="2504450" y="1630512"/>
            <a:ext cx="4455274" cy="968825"/>
          </a:xfrm>
          <a:prstGeom prst="rect">
            <a:avLst/>
          </a:prstGeom>
          <a:noFill/>
          <a:ln>
            <a:noFill/>
          </a:ln>
        </p:spPr>
      </p:pic>
      <p:pic>
        <p:nvPicPr>
          <p:cNvPr id="118" name="Google Shape;118;p22"/>
          <p:cNvPicPr preferRelativeResize="0"/>
          <p:nvPr/>
        </p:nvPicPr>
        <p:blipFill>
          <a:blip r:embed="rId4">
            <a:alphaModFix/>
          </a:blip>
          <a:stretch>
            <a:fillRect/>
          </a:stretch>
        </p:blipFill>
        <p:spPr>
          <a:xfrm>
            <a:off x="6064401" y="3206651"/>
            <a:ext cx="2652700" cy="1766450"/>
          </a:xfrm>
          <a:prstGeom prst="rect">
            <a:avLst/>
          </a:prstGeom>
          <a:noFill/>
          <a:ln>
            <a:noFill/>
          </a:ln>
        </p:spPr>
      </p:pic>
      <p:pic>
        <p:nvPicPr>
          <p:cNvPr id="119" name="Google Shape;119;p22"/>
          <p:cNvPicPr preferRelativeResize="0"/>
          <p:nvPr/>
        </p:nvPicPr>
        <p:blipFill>
          <a:blip r:embed="rId5">
            <a:alphaModFix/>
          </a:blip>
          <a:stretch>
            <a:fillRect/>
          </a:stretch>
        </p:blipFill>
        <p:spPr>
          <a:xfrm>
            <a:off x="3142075" y="3178500"/>
            <a:ext cx="2765550" cy="18227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Symbolic function</a:t>
            </a:r>
            <a:endParaRPr/>
          </a:p>
        </p:txBody>
      </p:sp>
      <p:sp>
        <p:nvSpPr>
          <p:cNvPr id="125" name="Google Shape;125;p23"/>
          <p:cNvSpPr txBox="1"/>
          <p:nvPr>
            <p:ph idx="1" type="body"/>
          </p:nvPr>
        </p:nvSpPr>
        <p:spPr>
          <a:xfrm>
            <a:off x="311700" y="1279125"/>
            <a:ext cx="87225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b="1" lang="en"/>
              <a:t>Language </a:t>
            </a:r>
            <a:r>
              <a:rPr lang="en"/>
              <a:t>express itself using </a:t>
            </a:r>
            <a:r>
              <a:rPr b="1" lang="en"/>
              <a:t>S</a:t>
            </a:r>
            <a:r>
              <a:rPr b="1" lang="en"/>
              <a:t>ymbols</a:t>
            </a:r>
            <a:r>
              <a:rPr lang="en"/>
              <a:t> (‘bits of language’)</a:t>
            </a:r>
            <a:endParaRPr/>
          </a:p>
          <a:p>
            <a:pPr indent="-317500" lvl="1" marL="914400" rtl="0" algn="l">
              <a:spcBef>
                <a:spcPts val="0"/>
              </a:spcBef>
              <a:spcAft>
                <a:spcPts val="0"/>
              </a:spcAft>
              <a:buSzPts val="1400"/>
              <a:buChar char="-"/>
            </a:pPr>
            <a:r>
              <a:rPr lang="en"/>
              <a:t>Might be meaningful subparts of words (dis- as in </a:t>
            </a:r>
            <a:r>
              <a:rPr i="1" lang="en"/>
              <a:t>distaste</a:t>
            </a:r>
            <a:r>
              <a:rPr lang="en"/>
              <a:t>)</a:t>
            </a:r>
            <a:endParaRPr/>
          </a:p>
          <a:p>
            <a:pPr indent="-317500" lvl="1" marL="914400" rtl="0" algn="l">
              <a:spcBef>
                <a:spcPts val="0"/>
              </a:spcBef>
              <a:spcAft>
                <a:spcPts val="0"/>
              </a:spcAft>
              <a:buSzPts val="1400"/>
              <a:buChar char="-"/>
            </a:pPr>
            <a:r>
              <a:rPr lang="en"/>
              <a:t>Whole words (cat, run, tomorrow)</a:t>
            </a:r>
            <a:endParaRPr/>
          </a:p>
          <a:p>
            <a:pPr indent="-317500" lvl="1" marL="914400" rtl="0" algn="l">
              <a:spcBef>
                <a:spcPts val="0"/>
              </a:spcBef>
              <a:spcAft>
                <a:spcPts val="0"/>
              </a:spcAft>
              <a:buSzPts val="1400"/>
              <a:buChar char="-"/>
            </a:pPr>
            <a:r>
              <a:rPr lang="en"/>
              <a:t>Strings of words (He couldn’t write the entire musical piece)</a:t>
            </a:r>
            <a:br>
              <a:rPr lang="en"/>
            </a:br>
            <a:endParaRPr/>
          </a:p>
          <a:p>
            <a:pPr indent="-342900" lvl="0" marL="457200" rtl="0" algn="l">
              <a:spcBef>
                <a:spcPts val="0"/>
              </a:spcBef>
              <a:spcAft>
                <a:spcPts val="0"/>
              </a:spcAft>
              <a:buSzPts val="1800"/>
              <a:buChar char="-"/>
            </a:pPr>
            <a:r>
              <a:rPr b="1" lang="en"/>
              <a:t>Forms:</a:t>
            </a:r>
            <a:r>
              <a:rPr lang="en"/>
              <a:t> Symbols consists of forms, which could be either spoken, written or signed, and </a:t>
            </a:r>
            <a:r>
              <a:rPr lang="en">
                <a:solidFill>
                  <a:srgbClr val="0000FF"/>
                </a:solidFill>
              </a:rPr>
              <a:t>form a pair with the conventional meaning (form-meaning)</a:t>
            </a:r>
            <a:br>
              <a:rPr lang="en"/>
            </a:br>
            <a:endParaRPr/>
          </a:p>
          <a:p>
            <a:pPr indent="-342900" lvl="0" marL="457200" rtl="0" algn="l">
              <a:spcBef>
                <a:spcPts val="0"/>
              </a:spcBef>
              <a:spcAft>
                <a:spcPts val="0"/>
              </a:spcAft>
              <a:buSzPts val="1800"/>
              <a:buChar char="-"/>
            </a:pPr>
            <a:r>
              <a:rPr b="1" lang="en"/>
              <a:t>Meaning:</a:t>
            </a:r>
            <a:r>
              <a:rPr lang="en"/>
              <a:t> Conventional ideational or semantic content associated with the symbol</a:t>
            </a:r>
            <a:br>
              <a:rPr lang="en"/>
            </a:br>
            <a:endParaRPr/>
          </a:p>
          <a:p>
            <a:pPr indent="-342900" lvl="0" marL="457200" rtl="0" algn="l">
              <a:spcBef>
                <a:spcPts val="0"/>
              </a:spcBef>
              <a:spcAft>
                <a:spcPts val="0"/>
              </a:spcAft>
              <a:buSzPts val="1800"/>
              <a:buChar char="-"/>
            </a:pPr>
            <a:r>
              <a:rPr i="1" lang="en">
                <a:solidFill>
                  <a:srgbClr val="9900FF"/>
                </a:solidFill>
              </a:rPr>
              <a:t>L</a:t>
            </a:r>
            <a:r>
              <a:rPr i="1" lang="en">
                <a:solidFill>
                  <a:srgbClr val="9900FF"/>
                </a:solidFill>
              </a:rPr>
              <a:t>anguage does not directly represent the external world; it represents our conceptualized experience (thoughts) of the world</a:t>
            </a:r>
            <a:r>
              <a:rPr i="1" lang="en"/>
              <a:t> </a:t>
            </a:r>
            <a:endParaRPr i="1"/>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Symbolic function (Projected Reality)</a:t>
            </a:r>
            <a:endParaRPr/>
          </a:p>
        </p:txBody>
      </p:sp>
      <p:pic>
        <p:nvPicPr>
          <p:cNvPr id="131" name="Google Shape;131;p24"/>
          <p:cNvPicPr preferRelativeResize="0"/>
          <p:nvPr/>
        </p:nvPicPr>
        <p:blipFill>
          <a:blip r:embed="rId3">
            <a:alphaModFix/>
          </a:blip>
          <a:stretch>
            <a:fillRect/>
          </a:stretch>
        </p:blipFill>
        <p:spPr>
          <a:xfrm>
            <a:off x="591050" y="1074675"/>
            <a:ext cx="4962374" cy="3793051"/>
          </a:xfrm>
          <a:prstGeom prst="rect">
            <a:avLst/>
          </a:prstGeom>
          <a:noFill/>
          <a:ln>
            <a:noFill/>
          </a:ln>
        </p:spPr>
      </p:pic>
      <p:sp>
        <p:nvSpPr>
          <p:cNvPr id="132" name="Google Shape;132;p24"/>
          <p:cNvSpPr/>
          <p:nvPr/>
        </p:nvSpPr>
        <p:spPr>
          <a:xfrm>
            <a:off x="5614451" y="233975"/>
            <a:ext cx="3321216" cy="2452032"/>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rPr>
              <a:t>The word </a:t>
            </a:r>
            <a:r>
              <a:rPr i="1" lang="en" sz="1100">
                <a:solidFill>
                  <a:schemeClr val="dk1"/>
                </a:solidFill>
              </a:rPr>
              <a:t>cat</a:t>
            </a:r>
            <a:r>
              <a:rPr lang="en" sz="1100">
                <a:solidFill>
                  <a:schemeClr val="dk1"/>
                </a:solidFill>
              </a:rPr>
              <a:t> is </a:t>
            </a:r>
            <a:r>
              <a:rPr b="1" lang="en" sz="1100">
                <a:solidFill>
                  <a:schemeClr val="dk1"/>
                </a:solidFill>
              </a:rPr>
              <a:t>not the actual animal</a:t>
            </a:r>
            <a:r>
              <a:rPr lang="en" sz="1100">
                <a:solidFill>
                  <a:schemeClr val="dk1"/>
                </a:solidFill>
              </a:rPr>
              <a:t>. It is a symbolic representation that allows us to mentally access the concept even when no cat is physically present. </a:t>
            </a:r>
            <a:endParaRPr/>
          </a:p>
        </p:txBody>
      </p:sp>
      <p:pic>
        <p:nvPicPr>
          <p:cNvPr id="133" name="Google Shape;133;p24"/>
          <p:cNvPicPr preferRelativeResize="0"/>
          <p:nvPr/>
        </p:nvPicPr>
        <p:blipFill>
          <a:blip r:embed="rId4">
            <a:alphaModFix/>
          </a:blip>
          <a:stretch>
            <a:fillRect/>
          </a:stretch>
        </p:blipFill>
        <p:spPr>
          <a:xfrm>
            <a:off x="5762275" y="2756100"/>
            <a:ext cx="3025576" cy="23238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Form-Meaning Pair</a:t>
            </a:r>
            <a:endParaRPr/>
          </a:p>
        </p:txBody>
      </p:sp>
      <p:sp>
        <p:nvSpPr>
          <p:cNvPr id="139" name="Google Shape;139;p25"/>
          <p:cNvSpPr txBox="1"/>
          <p:nvPr>
            <p:ph idx="1" type="body"/>
          </p:nvPr>
        </p:nvSpPr>
        <p:spPr>
          <a:xfrm>
            <a:off x="311700" y="1152475"/>
            <a:ext cx="6231600" cy="3416400"/>
          </a:xfrm>
          <a:prstGeom prst="rect">
            <a:avLst/>
          </a:prstGeom>
        </p:spPr>
        <p:txBody>
          <a:bodyPr anchorCtr="0" anchor="t" bIns="91425" lIns="91425" spcFirstLastPara="1" rIns="91425" wrap="square" tIns="91425">
            <a:normAutofit fontScale="92500" lnSpcReduction="10000"/>
          </a:bodyPr>
          <a:lstStyle/>
          <a:p>
            <a:pPr indent="-334328" lvl="0" marL="457200" rtl="0" algn="l">
              <a:spcBef>
                <a:spcPts val="0"/>
              </a:spcBef>
              <a:spcAft>
                <a:spcPts val="0"/>
              </a:spcAft>
              <a:buSzPct val="100000"/>
              <a:buChar char="-"/>
            </a:pPr>
            <a:r>
              <a:rPr lang="en"/>
              <a:t>Image represents the </a:t>
            </a:r>
            <a:r>
              <a:rPr b="1" lang="en"/>
              <a:t>meaning </a:t>
            </a:r>
            <a:r>
              <a:rPr lang="en"/>
              <a:t>conventionally paired with the </a:t>
            </a:r>
            <a:r>
              <a:rPr b="1" lang="en"/>
              <a:t>form </a:t>
            </a:r>
            <a:r>
              <a:rPr lang="en"/>
              <a:t>pronounced in English as [kaet]</a:t>
            </a:r>
            <a:br>
              <a:rPr lang="en"/>
            </a:br>
            <a:endParaRPr/>
          </a:p>
          <a:p>
            <a:pPr indent="-334328" lvl="0" marL="457200" rtl="0" algn="l">
              <a:spcBef>
                <a:spcPts val="0"/>
              </a:spcBef>
              <a:spcAft>
                <a:spcPts val="0"/>
              </a:spcAft>
              <a:buSzPct val="100000"/>
              <a:buChar char="-"/>
            </a:pPr>
            <a:r>
              <a:rPr lang="en"/>
              <a:t>The meaning associated with a linguistic symbol is linked to a particular mental representation termed a </a:t>
            </a:r>
            <a:r>
              <a:rPr b="1" lang="en"/>
              <a:t>concept</a:t>
            </a:r>
            <a:br>
              <a:rPr b="1" lang="en"/>
            </a:br>
            <a:endParaRPr b="1"/>
          </a:p>
          <a:p>
            <a:pPr indent="-334328" lvl="0" marL="457200" rtl="0" algn="l">
              <a:spcBef>
                <a:spcPts val="0"/>
              </a:spcBef>
              <a:spcAft>
                <a:spcPts val="0"/>
              </a:spcAft>
              <a:buSzPct val="100000"/>
              <a:buChar char="-"/>
            </a:pPr>
            <a:r>
              <a:rPr lang="en"/>
              <a:t>Concepts, in turn, is derived from </a:t>
            </a:r>
            <a:r>
              <a:rPr b="1" lang="en"/>
              <a:t>percepts</a:t>
            </a:r>
            <a:endParaRPr b="1"/>
          </a:p>
          <a:p>
            <a:pPr indent="-310832" lvl="1" marL="914400" rtl="0" algn="l">
              <a:spcBef>
                <a:spcPts val="0"/>
              </a:spcBef>
              <a:spcAft>
                <a:spcPts val="0"/>
              </a:spcAft>
              <a:buSzPct val="100000"/>
              <a:buChar char="-"/>
            </a:pPr>
            <a:r>
              <a:rPr lang="en"/>
              <a:t>Consider a piece of fruit like a </a:t>
            </a:r>
            <a:r>
              <a:rPr i="1" lang="en"/>
              <a:t>pear</a:t>
            </a:r>
            <a:r>
              <a:rPr lang="en"/>
              <a:t>. </a:t>
            </a:r>
            <a:endParaRPr/>
          </a:p>
          <a:p>
            <a:pPr indent="-310832" lvl="1" marL="914400" rtl="0" algn="l">
              <a:spcBef>
                <a:spcPts val="0"/>
              </a:spcBef>
              <a:spcAft>
                <a:spcPts val="0"/>
              </a:spcAft>
              <a:buSzPct val="100000"/>
              <a:buChar char="-"/>
            </a:pPr>
            <a:r>
              <a:rPr lang="en"/>
              <a:t>Different parts of the brain perceive its shape, colour, texture, taste, smell and so on.</a:t>
            </a:r>
            <a:endParaRPr/>
          </a:p>
          <a:p>
            <a:pPr indent="-310832" lvl="1" marL="914400" rtl="0" algn="l">
              <a:spcBef>
                <a:spcPts val="0"/>
              </a:spcBef>
              <a:spcAft>
                <a:spcPts val="0"/>
              </a:spcAft>
              <a:buSzPct val="100000"/>
              <a:buChar char="-"/>
            </a:pPr>
            <a:r>
              <a:rPr lang="en"/>
              <a:t>Diverse range of perceptual information deriving from the world ‘out there’ is integrated into a single mental image (a representation available to consciousness), which gives rise to the concept of PEAR</a:t>
            </a:r>
            <a:endParaRPr/>
          </a:p>
        </p:txBody>
      </p:sp>
      <p:sp>
        <p:nvSpPr>
          <p:cNvPr id="140" name="Google Shape;140;p25"/>
          <p:cNvSpPr/>
          <p:nvPr/>
        </p:nvSpPr>
        <p:spPr>
          <a:xfrm>
            <a:off x="6705075" y="1335025"/>
            <a:ext cx="2439000" cy="2645700"/>
          </a:xfrm>
          <a:prstGeom prst="verticalScroll">
            <a:avLst>
              <a:gd fmla="val 125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rPr>
              <a:t>Language does not transmit reality itself; it transmits symbols that allow us to </a:t>
            </a:r>
            <a:r>
              <a:rPr lang="en" sz="1200">
                <a:solidFill>
                  <a:srgbClr val="0000FF"/>
                </a:solidFill>
              </a:rPr>
              <a:t>reconstruct </a:t>
            </a:r>
            <a:r>
              <a:rPr lang="en" sz="1200">
                <a:solidFill>
                  <a:schemeClr val="dk1"/>
                </a:solidFill>
              </a:rPr>
              <a:t>a conceptualized reality.</a:t>
            </a:r>
            <a:endParaRPr sz="1200">
              <a:solidFill>
                <a:schemeClr val="dk1"/>
              </a:solidFill>
            </a:endParaRPr>
          </a:p>
          <a:p>
            <a:pPr indent="0" lvl="0" marL="0" rtl="0" algn="ctr">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Examples</a:t>
            </a:r>
            <a:endParaRPr/>
          </a:p>
        </p:txBody>
      </p:sp>
      <p:pic>
        <p:nvPicPr>
          <p:cNvPr id="146" name="Google Shape;146;p26"/>
          <p:cNvPicPr preferRelativeResize="0"/>
          <p:nvPr/>
        </p:nvPicPr>
        <p:blipFill>
          <a:blip r:embed="rId3">
            <a:alphaModFix/>
          </a:blip>
          <a:stretch>
            <a:fillRect/>
          </a:stretch>
        </p:blipFill>
        <p:spPr>
          <a:xfrm>
            <a:off x="751025" y="1130500"/>
            <a:ext cx="7641949" cy="38209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Examples (Contd…)</a:t>
            </a:r>
            <a:endParaRPr/>
          </a:p>
        </p:txBody>
      </p:sp>
      <p:sp>
        <p:nvSpPr>
          <p:cNvPr id="152" name="Google Shape;152;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cat </a:t>
            </a:r>
            <a:r>
              <a:rPr b="1" lang="en"/>
              <a:t>jumped </a:t>
            </a:r>
            <a:r>
              <a:rPr lang="en">
                <a:solidFill>
                  <a:srgbClr val="FF0000"/>
                </a:solidFill>
              </a:rPr>
              <a:t>over </a:t>
            </a:r>
            <a:r>
              <a:rPr lang="en"/>
              <a:t>the wall.</a:t>
            </a:r>
            <a:endParaRPr i="1"/>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Examples (Contd…)</a:t>
            </a:r>
            <a:endParaRPr/>
          </a:p>
        </p:txBody>
      </p:sp>
      <p:sp>
        <p:nvSpPr>
          <p:cNvPr id="158" name="Google Shape;158;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cat </a:t>
            </a:r>
            <a:r>
              <a:rPr b="1" lang="en"/>
              <a:t>jumped </a:t>
            </a:r>
            <a:r>
              <a:rPr lang="en">
                <a:solidFill>
                  <a:srgbClr val="FF0000"/>
                </a:solidFill>
              </a:rPr>
              <a:t>over </a:t>
            </a:r>
            <a:r>
              <a:rPr lang="en"/>
              <a:t>the wall.</a:t>
            </a:r>
            <a:endParaRPr/>
          </a:p>
          <a:p>
            <a:pPr indent="-342900" lvl="0" marL="457200" rtl="0" algn="l">
              <a:spcBef>
                <a:spcPts val="0"/>
              </a:spcBef>
              <a:spcAft>
                <a:spcPts val="0"/>
              </a:spcAft>
              <a:buSzPts val="1800"/>
              <a:buChar char="-"/>
            </a:pPr>
            <a:r>
              <a:rPr lang="en"/>
              <a:t>A range of interpretations: </a:t>
            </a:r>
            <a:r>
              <a:rPr i="1" lang="en"/>
              <a:t>The behaviour described by </a:t>
            </a:r>
            <a:r>
              <a:rPr b="1" i="1" lang="en"/>
              <a:t>jump </a:t>
            </a:r>
            <a:r>
              <a:rPr i="1" lang="en"/>
              <a:t>has the potential to involve a variety of trajectory shapes</a:t>
            </a:r>
            <a:endParaRPr i="1"/>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59" name="Google Shape;159;p28"/>
          <p:cNvPicPr preferRelativeResize="0"/>
          <p:nvPr/>
        </p:nvPicPr>
        <p:blipFill rotWithShape="1">
          <a:blip r:embed="rId3">
            <a:alphaModFix/>
          </a:blip>
          <a:srcRect b="0" l="2146" r="8441" t="7570"/>
          <a:stretch/>
        </p:blipFill>
        <p:spPr>
          <a:xfrm>
            <a:off x="1441950" y="2186400"/>
            <a:ext cx="6191901" cy="22538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Examples (Contd…)</a:t>
            </a:r>
            <a:endParaRPr/>
          </a:p>
        </p:txBody>
      </p:sp>
      <p:sp>
        <p:nvSpPr>
          <p:cNvPr id="165" name="Google Shape;165;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cat </a:t>
            </a:r>
            <a:r>
              <a:rPr b="1" lang="en"/>
              <a:t>jumped </a:t>
            </a:r>
            <a:r>
              <a:rPr lang="en">
                <a:solidFill>
                  <a:srgbClr val="FF0000"/>
                </a:solidFill>
              </a:rPr>
              <a:t>over </a:t>
            </a:r>
            <a:r>
              <a:rPr lang="en"/>
              <a:t>the wall.</a:t>
            </a:r>
            <a:endParaRPr/>
          </a:p>
          <a:p>
            <a:pPr indent="-342900" lvl="0" marL="457200" rtl="0" algn="l">
              <a:spcBef>
                <a:spcPts val="0"/>
              </a:spcBef>
              <a:spcAft>
                <a:spcPts val="0"/>
              </a:spcAft>
              <a:buSzPts val="1800"/>
              <a:buChar char="-"/>
            </a:pPr>
            <a:r>
              <a:rPr lang="en"/>
              <a:t>A range of interpretations: </a:t>
            </a:r>
            <a:r>
              <a:rPr i="1" lang="en"/>
              <a:t>The behaviour described by </a:t>
            </a:r>
            <a:r>
              <a:rPr b="1" i="1" lang="en"/>
              <a:t>jump </a:t>
            </a:r>
            <a:r>
              <a:rPr i="1" lang="en"/>
              <a:t>has the potential to involve a variety of trajectory shapes</a:t>
            </a:r>
            <a:endParaRPr i="1"/>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66" name="Google Shape;166;p29"/>
          <p:cNvPicPr preferRelativeResize="0"/>
          <p:nvPr/>
        </p:nvPicPr>
        <p:blipFill rotWithShape="1">
          <a:blip r:embed="rId3">
            <a:alphaModFix/>
          </a:blip>
          <a:srcRect b="0" l="2146" r="8441" t="7570"/>
          <a:stretch/>
        </p:blipFill>
        <p:spPr>
          <a:xfrm>
            <a:off x="1441950" y="2186400"/>
            <a:ext cx="6191901" cy="2253825"/>
          </a:xfrm>
          <a:prstGeom prst="rect">
            <a:avLst/>
          </a:prstGeom>
          <a:noFill/>
          <a:ln>
            <a:noFill/>
          </a:ln>
        </p:spPr>
      </p:pic>
      <p:sp>
        <p:nvSpPr>
          <p:cNvPr id="167" name="Google Shape;167;p29"/>
          <p:cNvSpPr txBox="1"/>
          <p:nvPr/>
        </p:nvSpPr>
        <p:spPr>
          <a:xfrm>
            <a:off x="540489" y="4555870"/>
            <a:ext cx="833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980000"/>
                </a:solidFill>
              </a:rPr>
              <a:t>How much information does language actually specify, and how much does the listener have to infer? </a:t>
            </a:r>
            <a:endParaRPr>
              <a:solidFill>
                <a:srgbClr val="98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Interactive Function</a:t>
            </a:r>
            <a:endParaRPr/>
          </a:p>
        </p:txBody>
      </p:sp>
      <p:pic>
        <p:nvPicPr>
          <p:cNvPr id="173" name="Google Shape;173;p30"/>
          <p:cNvPicPr preferRelativeResize="0"/>
          <p:nvPr/>
        </p:nvPicPr>
        <p:blipFill>
          <a:blip r:embed="rId3">
            <a:alphaModFix/>
          </a:blip>
          <a:stretch>
            <a:fillRect/>
          </a:stretch>
        </p:blipFill>
        <p:spPr>
          <a:xfrm>
            <a:off x="175428" y="2098106"/>
            <a:ext cx="5039156" cy="2867425"/>
          </a:xfrm>
          <a:prstGeom prst="rect">
            <a:avLst/>
          </a:prstGeom>
          <a:noFill/>
          <a:ln>
            <a:noFill/>
          </a:ln>
        </p:spPr>
      </p:pic>
      <p:sp>
        <p:nvSpPr>
          <p:cNvPr id="174" name="Google Shape;174;p30"/>
          <p:cNvSpPr txBox="1"/>
          <p:nvPr/>
        </p:nvSpPr>
        <p:spPr>
          <a:xfrm>
            <a:off x="445450" y="1418575"/>
            <a:ext cx="852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We use language to get our ideas across i.e., to </a:t>
            </a:r>
            <a:r>
              <a:rPr i="1" lang="en" sz="1800">
                <a:solidFill>
                  <a:schemeClr val="dk2"/>
                </a:solidFill>
              </a:rPr>
              <a:t>communicate</a:t>
            </a:r>
            <a:endParaRPr i="1" sz="1800">
              <a:solidFill>
                <a:schemeClr val="dk2"/>
              </a:solidFill>
            </a:endParaRPr>
          </a:p>
        </p:txBody>
      </p:sp>
      <p:sp>
        <p:nvSpPr>
          <p:cNvPr id="175" name="Google Shape;175;p30"/>
          <p:cNvSpPr txBox="1"/>
          <p:nvPr/>
        </p:nvSpPr>
        <p:spPr>
          <a:xfrm>
            <a:off x="201754" y="3014156"/>
            <a:ext cx="1464900" cy="359700"/>
          </a:xfrm>
          <a:prstGeom prst="rect">
            <a:avLst/>
          </a:prstGeom>
          <a:noFill/>
          <a:ln>
            <a:noFill/>
          </a:ln>
        </p:spPr>
        <p:txBody>
          <a:bodyPr anchorCtr="0" anchor="t" bIns="84975" lIns="84975" spcFirstLastPara="1" rIns="84975" wrap="square" tIns="84975">
            <a:noAutofit/>
          </a:bodyPr>
          <a:lstStyle/>
          <a:p>
            <a:pPr indent="0" lvl="0" marL="0" rtl="0" algn="l">
              <a:spcBef>
                <a:spcPts val="0"/>
              </a:spcBef>
              <a:spcAft>
                <a:spcPts val="0"/>
              </a:spcAft>
              <a:buNone/>
            </a:pPr>
            <a:r>
              <a:rPr lang="en" sz="1673">
                <a:solidFill>
                  <a:srgbClr val="0000FF"/>
                </a:solidFill>
              </a:rPr>
              <a:t>Transmission</a:t>
            </a:r>
            <a:endParaRPr sz="1673">
              <a:solidFill>
                <a:srgbClr val="0000FF"/>
              </a:solidFill>
            </a:endParaRPr>
          </a:p>
        </p:txBody>
      </p:sp>
      <p:sp>
        <p:nvSpPr>
          <p:cNvPr id="176" name="Google Shape;176;p30"/>
          <p:cNvSpPr txBox="1"/>
          <p:nvPr/>
        </p:nvSpPr>
        <p:spPr>
          <a:xfrm>
            <a:off x="2852210" y="4138267"/>
            <a:ext cx="1464900" cy="359700"/>
          </a:xfrm>
          <a:prstGeom prst="rect">
            <a:avLst/>
          </a:prstGeom>
          <a:noFill/>
          <a:ln>
            <a:noFill/>
          </a:ln>
        </p:spPr>
        <p:txBody>
          <a:bodyPr anchorCtr="0" anchor="t" bIns="84975" lIns="84975" spcFirstLastPara="1" rIns="84975" wrap="square" tIns="84975">
            <a:noAutofit/>
          </a:bodyPr>
          <a:lstStyle/>
          <a:p>
            <a:pPr indent="0" lvl="0" marL="0" rtl="0" algn="l">
              <a:spcBef>
                <a:spcPts val="0"/>
              </a:spcBef>
              <a:spcAft>
                <a:spcPts val="0"/>
              </a:spcAft>
              <a:buNone/>
            </a:pPr>
            <a:r>
              <a:rPr lang="en" sz="1673">
                <a:solidFill>
                  <a:srgbClr val="0000FF"/>
                </a:solidFill>
              </a:rPr>
              <a:t>Decoding</a:t>
            </a:r>
            <a:endParaRPr sz="1673">
              <a:solidFill>
                <a:srgbClr val="0000FF"/>
              </a:solidFill>
            </a:endParaRPr>
          </a:p>
        </p:txBody>
      </p:sp>
      <p:sp>
        <p:nvSpPr>
          <p:cNvPr id="177" name="Google Shape;177;p30"/>
          <p:cNvSpPr txBox="1"/>
          <p:nvPr/>
        </p:nvSpPr>
        <p:spPr>
          <a:xfrm>
            <a:off x="4599158" y="2788687"/>
            <a:ext cx="1573500" cy="572100"/>
          </a:xfrm>
          <a:prstGeom prst="rect">
            <a:avLst/>
          </a:prstGeom>
          <a:noFill/>
          <a:ln>
            <a:noFill/>
          </a:ln>
        </p:spPr>
        <p:txBody>
          <a:bodyPr anchorCtr="0" anchor="t" bIns="84975" lIns="84975" spcFirstLastPara="1" rIns="84975" wrap="square" tIns="84975">
            <a:spAutoFit/>
          </a:bodyPr>
          <a:lstStyle/>
          <a:p>
            <a:pPr indent="0" lvl="0" marL="0" rtl="0" algn="l">
              <a:spcBef>
                <a:spcPts val="0"/>
              </a:spcBef>
              <a:spcAft>
                <a:spcPts val="0"/>
              </a:spcAft>
              <a:buNone/>
            </a:pPr>
            <a:r>
              <a:rPr lang="en" sz="1301">
                <a:solidFill>
                  <a:srgbClr val="0000FF"/>
                </a:solidFill>
              </a:rPr>
              <a:t>Rich conceptualization</a:t>
            </a:r>
            <a:endParaRPr sz="1301">
              <a:solidFill>
                <a:srgbClr val="0000FF"/>
              </a:solidFill>
            </a:endParaRPr>
          </a:p>
        </p:txBody>
      </p:sp>
      <p:pic>
        <p:nvPicPr>
          <p:cNvPr id="178" name="Google Shape;178;p30"/>
          <p:cNvPicPr preferRelativeResize="0"/>
          <p:nvPr/>
        </p:nvPicPr>
        <p:blipFill>
          <a:blip r:embed="rId4">
            <a:alphaModFix/>
          </a:blip>
          <a:stretch>
            <a:fillRect/>
          </a:stretch>
        </p:blipFill>
        <p:spPr>
          <a:xfrm>
            <a:off x="6868975" y="82550"/>
            <a:ext cx="2190575" cy="1458725"/>
          </a:xfrm>
          <a:prstGeom prst="rect">
            <a:avLst/>
          </a:prstGeom>
          <a:noFill/>
          <a:ln>
            <a:noFill/>
          </a:ln>
        </p:spPr>
      </p:pic>
      <p:sp>
        <p:nvSpPr>
          <p:cNvPr id="179" name="Google Shape;179;p30"/>
          <p:cNvSpPr txBox="1"/>
          <p:nvPr/>
        </p:nvSpPr>
        <p:spPr>
          <a:xfrm>
            <a:off x="7359900" y="2026425"/>
            <a:ext cx="9987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T</a:t>
            </a:r>
            <a:r>
              <a:rPr lang="en"/>
              <a:t>hought </a:t>
            </a:r>
            <a:endParaRPr/>
          </a:p>
        </p:txBody>
      </p:sp>
      <p:sp>
        <p:nvSpPr>
          <p:cNvPr id="180" name="Google Shape;180;p30"/>
          <p:cNvSpPr txBox="1"/>
          <p:nvPr/>
        </p:nvSpPr>
        <p:spPr>
          <a:xfrm>
            <a:off x="6744297" y="2613950"/>
            <a:ext cx="22299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L</a:t>
            </a:r>
            <a:r>
              <a:rPr lang="en"/>
              <a:t>inguistic representation </a:t>
            </a:r>
            <a:endParaRPr/>
          </a:p>
        </p:txBody>
      </p:sp>
      <p:sp>
        <p:nvSpPr>
          <p:cNvPr id="181" name="Google Shape;181;p30"/>
          <p:cNvSpPr txBox="1"/>
          <p:nvPr/>
        </p:nvSpPr>
        <p:spPr>
          <a:xfrm>
            <a:off x="7364539" y="3199082"/>
            <a:ext cx="9987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Signal</a:t>
            </a:r>
            <a:endParaRPr/>
          </a:p>
        </p:txBody>
      </p:sp>
      <p:sp>
        <p:nvSpPr>
          <p:cNvPr id="182" name="Google Shape;182;p30"/>
          <p:cNvSpPr txBox="1"/>
          <p:nvPr/>
        </p:nvSpPr>
        <p:spPr>
          <a:xfrm>
            <a:off x="6755972" y="3814752"/>
            <a:ext cx="22299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Linguistic representation </a:t>
            </a:r>
            <a:endParaRPr/>
          </a:p>
        </p:txBody>
      </p:sp>
      <p:sp>
        <p:nvSpPr>
          <p:cNvPr id="183" name="Google Shape;183;p30"/>
          <p:cNvSpPr txBox="1"/>
          <p:nvPr/>
        </p:nvSpPr>
        <p:spPr>
          <a:xfrm>
            <a:off x="6760611" y="4445617"/>
            <a:ext cx="22299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Reconstructed thought</a:t>
            </a:r>
            <a:endParaRPr/>
          </a:p>
        </p:txBody>
      </p:sp>
      <p:cxnSp>
        <p:nvCxnSpPr>
          <p:cNvPr id="184" name="Google Shape;184;p30"/>
          <p:cNvCxnSpPr>
            <a:stCxn id="179" idx="2"/>
            <a:endCxn id="180" idx="0"/>
          </p:cNvCxnSpPr>
          <p:nvPr/>
        </p:nvCxnSpPr>
        <p:spPr>
          <a:xfrm>
            <a:off x="7859250" y="2426625"/>
            <a:ext cx="0" cy="187200"/>
          </a:xfrm>
          <a:prstGeom prst="straightConnector1">
            <a:avLst/>
          </a:prstGeom>
          <a:noFill/>
          <a:ln cap="flat" cmpd="sng" w="9525">
            <a:solidFill>
              <a:schemeClr val="dk2"/>
            </a:solidFill>
            <a:prstDash val="solid"/>
            <a:round/>
            <a:headEnd len="med" w="med" type="none"/>
            <a:tailEnd len="med" w="med" type="triangle"/>
          </a:ln>
        </p:spPr>
      </p:cxnSp>
      <p:cxnSp>
        <p:nvCxnSpPr>
          <p:cNvPr id="185" name="Google Shape;185;p30"/>
          <p:cNvCxnSpPr>
            <a:stCxn id="180" idx="2"/>
            <a:endCxn id="181" idx="0"/>
          </p:cNvCxnSpPr>
          <p:nvPr/>
        </p:nvCxnSpPr>
        <p:spPr>
          <a:xfrm>
            <a:off x="7859247" y="3014150"/>
            <a:ext cx="4500" cy="184800"/>
          </a:xfrm>
          <a:prstGeom prst="straightConnector1">
            <a:avLst/>
          </a:prstGeom>
          <a:noFill/>
          <a:ln cap="flat" cmpd="sng" w="9525">
            <a:solidFill>
              <a:schemeClr val="dk2"/>
            </a:solidFill>
            <a:prstDash val="solid"/>
            <a:round/>
            <a:headEnd len="med" w="med" type="none"/>
            <a:tailEnd len="med" w="med" type="triangle"/>
          </a:ln>
        </p:spPr>
      </p:cxnSp>
      <p:cxnSp>
        <p:nvCxnSpPr>
          <p:cNvPr id="186" name="Google Shape;186;p30"/>
          <p:cNvCxnSpPr>
            <a:stCxn id="181" idx="2"/>
            <a:endCxn id="182" idx="0"/>
          </p:cNvCxnSpPr>
          <p:nvPr/>
        </p:nvCxnSpPr>
        <p:spPr>
          <a:xfrm>
            <a:off x="7863889" y="3599282"/>
            <a:ext cx="6900" cy="215400"/>
          </a:xfrm>
          <a:prstGeom prst="straightConnector1">
            <a:avLst/>
          </a:prstGeom>
          <a:noFill/>
          <a:ln cap="flat" cmpd="sng" w="9525">
            <a:solidFill>
              <a:schemeClr val="dk2"/>
            </a:solidFill>
            <a:prstDash val="solid"/>
            <a:round/>
            <a:headEnd len="med" w="med" type="none"/>
            <a:tailEnd len="med" w="med" type="triangle"/>
          </a:ln>
        </p:spPr>
      </p:cxnSp>
      <p:cxnSp>
        <p:nvCxnSpPr>
          <p:cNvPr id="187" name="Google Shape;187;p30"/>
          <p:cNvCxnSpPr>
            <a:stCxn id="182" idx="2"/>
            <a:endCxn id="183" idx="0"/>
          </p:cNvCxnSpPr>
          <p:nvPr/>
        </p:nvCxnSpPr>
        <p:spPr>
          <a:xfrm>
            <a:off x="7870922" y="4214952"/>
            <a:ext cx="4500" cy="2307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Piraha Language</a:t>
            </a:r>
            <a:endParaRPr/>
          </a:p>
        </p:txBody>
      </p:sp>
      <p:pic>
        <p:nvPicPr>
          <p:cNvPr descr="Daniel Everett embarked on his journey to the Amazon as a Catholic missionary, aiming to bring the word of God to the secluded Pirahã people in the jungle. However, he found himself profoundly enlightened by the contentment of the Pirahã and underwent a radical transformation in his life.&#10;&#10;Now, as a distinguished professor of linguistics, Everett's groundbreaking study of the Pirahã language has the potential to revolutionize the field of contemporary linguistics.&#10;&#10;Documentary: Amazon Code&#10;Direction: Randall Wood &amp; Michael O’Neil&#10;Production: Essential media, Entertainment Production, ABC Australia, Smitshonian Networks and ARTE France&#10;&#10;&#10;We fully own the rights to the use of the published content. &#10;Any illegal reproduction of this content will result in immediate legal action.&#10;&#10;SLICE wants to fill up your curiosity!&#10;Accessible to anyone from anywhere at any time, this channel is your weekly dose of short docs about curious facts, discoveries, astounding info, unusual stories, weird, fun and instructive. Be smart, have a slice!&#10;&#10;Subscribe now ►►► http://www.youtube.com/channel/UCvziXdVCN7PMdFZEFZ6aEqQ?sub_confirmation=1&#10;&#10;Become a fan ! https://www.youtube.com/channel/UCvziXdVCN7PMdFZEFZ6aEqQ/join&#10;&#10;Follow us 👇&#10;In French: https://www.youtube.com/c/SLICEFR&#10;Facebook: https://www.facebook.com/slicedocs&#10;Instagram: https://www.instagram.com/slicedocs&#10;&#10;#documentary #slice #fulldocumentary #freedocumentary #amazon #linguistics #tribe #amazing #lifechanging #journey #missionaryhistory" id="193" name="Google Shape;193;p31" title="Life-Changing Encounter: A Missionary's Journey with the Pirahã People in the Amazon | SLICE">
            <a:hlinkClick r:id="rId3"/>
          </p:cNvPr>
          <p:cNvPicPr preferRelativeResize="0"/>
          <p:nvPr/>
        </p:nvPicPr>
        <p:blipFill>
          <a:blip r:embed="rId4">
            <a:alphaModFix/>
          </a:blip>
          <a:stretch>
            <a:fillRect/>
          </a:stretch>
        </p:blipFill>
        <p:spPr>
          <a:xfrm>
            <a:off x="1296650" y="1108425"/>
            <a:ext cx="6743075" cy="3793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99" name="Google Shape;199;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Deep in the heart of the Amazon rainforest, the Pirahã people live in near-total isolation, speaking a language unlike any other on Earth. With no words for numbers, no fixed past or future tense, and a structure that defies conventional grammar, their language is as enigmatic as their way of life. For centuries, they have resisted outside influence, preserving a culture built on the present moment and oral tradition. Linguists and anthropologists alike are fascinated by this unique form of communication, which challenges fundamental ideas about human cognition and language itself.&#10;&#10;Documentary: The Amazon Code&#10;Directed by: Randall Wood &amp; Michael O’Neill&#10;Production: Essential Media &amp; Entertainment production with ABC Australia, Smithsonian Networks and ARTE France&#10;&#10;&#10;We fully own the rights to the use of the published content. &#10;Any illegal reproduction of this content will result in immediate legal action.&#10;&#10;SLICE wants to fill up your curiosity!&#10;Accessible to anyone from anywhere at any time, this channel is your weekly dose of short docs about curious facts, discoveries, astounding info, unusual stories, weird, fun and instructive. Be smart, have a slice!&#10;&#10;Subscribe now ►►► http://www.youtube.com/channel/UCvziXdVCN7PMdFZEFZ6aEqQ?sub_confirmation=1&#10;&#10;Become a fan ! https://www.youtube.com/channel/UCvziXdVCN7PMdFZEFZ6aEqQ/join&#10;&#10;Follow us 👇&#10;In French: https://www.youtube.com/c/SLICEFR&#10;Facebook: https://www.facebook.com/slicedocs&#10;Instagram: https://www.instagram.com/slicedocs&#10;&#10;#documentary #slice #fulldocumentary #freedocumentary" id="200" name="Google Shape;200;p32" title="Inside the Pirahã World: Deciphering the Amazon’s Most Enigmatic Language | SLICE | FULL DOCUMENTARY">
            <a:hlinkClick r:id="rId3"/>
          </p:cNvPr>
          <p:cNvPicPr preferRelativeResize="0"/>
          <p:nvPr/>
        </p:nvPicPr>
        <p:blipFill>
          <a:blip r:embed="rId4">
            <a:alphaModFix/>
          </a:blip>
          <a:stretch>
            <a:fillRect/>
          </a:stretch>
        </p:blipFill>
        <p:spPr>
          <a:xfrm>
            <a:off x="180200" y="101376"/>
            <a:ext cx="8783600" cy="49407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Birth of a Word</a:t>
            </a:r>
            <a:endParaRPr/>
          </a:p>
        </p:txBody>
      </p:sp>
      <p:pic>
        <p:nvPicPr>
          <p:cNvPr descr="http://www.ted.com MIT researcher Deb Roy wanted to understand how his infant son learned language -- so he wired up his house with videocameras to catch every moment (with exceptions) of his son's life, then parsed 90,000 hours of home video to watch &quot;gaaaa&quot; slowly turn into &quot;water.&quot; Astonishing, data-rich research with deep implications for how we learn.&#10;&#10;TEDTalks is a daily video podcast of the best talks and performances from the TED Conference, where the world's leading thinkers and doers give the talk of their lives in 18 minutes. Featured speakers have included Al Gore on climate change, Philippe Starck on design, Jill Bolte Taylor on observing her own stroke, Nicholas Negroponte on One Laptop per Child, Jane Goodall on chimpanzees, Bill Gates on malaria and mosquitoes, Pattie Maes on the &quot;Sixth Sense&quot; wearable tech, and &quot;Lost&quot; producer JJ Abrams on the allure of mystery. TED stands for Technology, Entertainment, Design, and TEDTalks cover these topics as well as science, business, development and the arts. Closed captions and translated subtitles in a variety of languages are now available on TED.com, at http://www.ted.com/translate." id="206" name="Google Shape;206;p33" title="Deb Roy: The birth of a word">
            <a:hlinkClick r:id="rId3"/>
          </p:cNvPr>
          <p:cNvPicPr preferRelativeResize="0"/>
          <p:nvPr/>
        </p:nvPicPr>
        <p:blipFill>
          <a:blip r:embed="rId4">
            <a:alphaModFix/>
          </a:blip>
          <a:stretch>
            <a:fillRect/>
          </a:stretch>
        </p:blipFill>
        <p:spPr>
          <a:xfrm>
            <a:off x="1376300" y="1243250"/>
            <a:ext cx="6391400" cy="3595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1000"/>
                                        <p:tgtEl>
                                          <p:spTgt spid="2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Natural Language Understanding</a:t>
            </a:r>
            <a:endParaRPr/>
          </a:p>
        </p:txBody>
      </p:sp>
      <p:sp>
        <p:nvSpPr>
          <p:cNvPr id="212" name="Google Shape;212;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solidFill>
                  <a:srgbClr val="9900FF"/>
                </a:solidFill>
              </a:rPr>
              <a:t>Natural language understanding</a:t>
            </a:r>
            <a:r>
              <a:rPr lang="en"/>
              <a:t> is closely tied to the questions:</a:t>
            </a:r>
            <a:br>
              <a:rPr lang="en"/>
            </a:br>
            <a:endParaRPr/>
          </a:p>
          <a:p>
            <a:pPr indent="-317500" lvl="1" marL="914400" rtl="0" algn="l">
              <a:spcBef>
                <a:spcPts val="0"/>
              </a:spcBef>
              <a:spcAft>
                <a:spcPts val="0"/>
              </a:spcAft>
              <a:buSzPts val="1400"/>
              <a:buChar char="-"/>
            </a:pPr>
            <a:r>
              <a:rPr lang="en"/>
              <a:t>Can </a:t>
            </a:r>
            <a:r>
              <a:rPr lang="en">
                <a:solidFill>
                  <a:srgbClr val="980000"/>
                </a:solidFill>
              </a:rPr>
              <a:t>machines</a:t>
            </a:r>
            <a:r>
              <a:rPr lang="en"/>
              <a:t> understand language?</a:t>
            </a:r>
            <a:endParaRPr/>
          </a:p>
          <a:p>
            <a:pPr indent="-317500" lvl="1" marL="914400" rtl="0" algn="l">
              <a:spcBef>
                <a:spcPts val="0"/>
              </a:spcBef>
              <a:spcAft>
                <a:spcPts val="0"/>
              </a:spcAft>
              <a:buSzPts val="1400"/>
              <a:buChar char="-"/>
            </a:pPr>
            <a:r>
              <a:rPr lang="en"/>
              <a:t>Can </a:t>
            </a:r>
            <a:r>
              <a:rPr lang="en">
                <a:solidFill>
                  <a:srgbClr val="980000"/>
                </a:solidFill>
              </a:rPr>
              <a:t>machines </a:t>
            </a:r>
            <a:r>
              <a:rPr lang="en"/>
              <a:t>think?</a:t>
            </a:r>
            <a:endParaRPr/>
          </a:p>
          <a:p>
            <a:pPr indent="-317500" lvl="1" marL="914400" rtl="0" algn="l">
              <a:spcBef>
                <a:spcPts val="0"/>
              </a:spcBef>
              <a:spcAft>
                <a:spcPts val="0"/>
              </a:spcAft>
              <a:buSzPts val="1400"/>
              <a:buChar char="-"/>
            </a:pPr>
            <a:r>
              <a:rPr lang="en"/>
              <a:t>Can </a:t>
            </a:r>
            <a:r>
              <a:rPr lang="en">
                <a:solidFill>
                  <a:srgbClr val="980000"/>
                </a:solidFill>
              </a:rPr>
              <a:t>machines </a:t>
            </a:r>
            <a:r>
              <a:rPr lang="en"/>
              <a:t>carry out </a:t>
            </a:r>
            <a:r>
              <a:rPr b="1" lang="en"/>
              <a:t>information-processing</a:t>
            </a:r>
            <a:r>
              <a:rPr lang="en"/>
              <a:t> like the mind?</a:t>
            </a:r>
            <a:endParaRPr/>
          </a:p>
          <a:p>
            <a:pPr indent="-317500" lvl="1" marL="914400" rtl="0" algn="l">
              <a:spcBef>
                <a:spcPts val="0"/>
              </a:spcBef>
              <a:spcAft>
                <a:spcPts val="0"/>
              </a:spcAft>
              <a:buSzPts val="1400"/>
              <a:buChar char="-"/>
            </a:pPr>
            <a:r>
              <a:rPr lang="en"/>
              <a:t>Can we ‘</a:t>
            </a:r>
            <a:r>
              <a:rPr lang="en">
                <a:solidFill>
                  <a:srgbClr val="980000"/>
                </a:solidFill>
              </a:rPr>
              <a:t>reverse-engineer</a:t>
            </a:r>
            <a:r>
              <a:rPr lang="en"/>
              <a:t>’ the </a:t>
            </a:r>
            <a:r>
              <a:rPr b="1" lang="en"/>
              <a:t>cognitive processes</a:t>
            </a:r>
            <a:r>
              <a:rPr lang="en"/>
              <a:t> such as language and perception?</a:t>
            </a:r>
            <a:br>
              <a:rPr lang="en"/>
            </a:br>
            <a:br>
              <a:rPr lang="en"/>
            </a:br>
            <a:endParaRPr/>
          </a:p>
          <a:p>
            <a:pPr indent="-342900" lvl="0" marL="457200" rtl="0" algn="l">
              <a:spcBef>
                <a:spcPts val="0"/>
              </a:spcBef>
              <a:spcAft>
                <a:spcPts val="0"/>
              </a:spcAft>
              <a:buSzPts val="1800"/>
              <a:buChar char="-"/>
            </a:pPr>
            <a:r>
              <a:rPr lang="en"/>
              <a:t>This is where</a:t>
            </a:r>
            <a:r>
              <a:rPr lang="en"/>
              <a:t> </a:t>
            </a:r>
            <a:r>
              <a:rPr lang="en">
                <a:solidFill>
                  <a:srgbClr val="0000FF"/>
                </a:solidFill>
              </a:rPr>
              <a:t>Computer vision</a:t>
            </a:r>
            <a:r>
              <a:rPr lang="en"/>
              <a:t>, </a:t>
            </a:r>
            <a:r>
              <a:rPr lang="en">
                <a:solidFill>
                  <a:srgbClr val="9900FF"/>
                </a:solidFill>
              </a:rPr>
              <a:t>Natural language understanding</a:t>
            </a:r>
            <a:r>
              <a:rPr lang="en"/>
              <a:t>, </a:t>
            </a:r>
            <a:r>
              <a:rPr lang="en">
                <a:solidFill>
                  <a:srgbClr val="980000"/>
                </a:solidFill>
              </a:rPr>
              <a:t>Artificial Intelligence</a:t>
            </a:r>
            <a:r>
              <a:rPr lang="en"/>
              <a:t> come together!</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Tri-Level Hypothesis</a:t>
            </a:r>
            <a:endParaRPr/>
          </a:p>
        </p:txBody>
      </p:sp>
      <p:pic>
        <p:nvPicPr>
          <p:cNvPr id="218" name="Google Shape;218;p35"/>
          <p:cNvPicPr preferRelativeResize="0"/>
          <p:nvPr/>
        </p:nvPicPr>
        <p:blipFill>
          <a:blip r:embed="rId3">
            <a:alphaModFix/>
          </a:blip>
          <a:stretch>
            <a:fillRect/>
          </a:stretch>
        </p:blipFill>
        <p:spPr>
          <a:xfrm>
            <a:off x="454700" y="1172950"/>
            <a:ext cx="5714924" cy="3818151"/>
          </a:xfrm>
          <a:prstGeom prst="rect">
            <a:avLst/>
          </a:prstGeom>
          <a:noFill/>
          <a:ln>
            <a:noFill/>
          </a:ln>
        </p:spPr>
      </p:pic>
      <p:sp>
        <p:nvSpPr>
          <p:cNvPr id="219" name="Google Shape;219;p35"/>
          <p:cNvSpPr txBox="1"/>
          <p:nvPr/>
        </p:nvSpPr>
        <p:spPr>
          <a:xfrm>
            <a:off x="6016025" y="25401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i="1">
              <a:solidFill>
                <a:srgbClr val="9900FF"/>
              </a:solidFill>
            </a:endParaRPr>
          </a:p>
        </p:txBody>
      </p:sp>
      <p:sp>
        <p:nvSpPr>
          <p:cNvPr id="220" name="Google Shape;220;p35"/>
          <p:cNvSpPr/>
          <p:nvPr/>
        </p:nvSpPr>
        <p:spPr>
          <a:xfrm>
            <a:off x="6280150" y="455456"/>
            <a:ext cx="2626560" cy="1549476"/>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a:solidFill>
                  <a:srgbClr val="9900FF"/>
                </a:solidFill>
              </a:rPr>
              <a:t>B</a:t>
            </a:r>
            <a:r>
              <a:rPr i="1" lang="en">
                <a:solidFill>
                  <a:srgbClr val="9900FF"/>
                </a:solidFill>
              </a:rPr>
              <a:t>uild a system that recognizes whether an image contains a cat</a:t>
            </a:r>
            <a:endParaRPr/>
          </a:p>
        </p:txBody>
      </p:sp>
      <p:sp>
        <p:nvSpPr>
          <p:cNvPr id="221" name="Google Shape;221;p35"/>
          <p:cNvSpPr/>
          <p:nvPr/>
        </p:nvSpPr>
        <p:spPr>
          <a:xfrm>
            <a:off x="6351913" y="2141758"/>
            <a:ext cx="2483028" cy="1402704"/>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a:solidFill>
                  <a:srgbClr val="9900FF"/>
                </a:solidFill>
              </a:rPr>
              <a:t>Build a system that parses a sentence</a:t>
            </a:r>
            <a:endParaRPr/>
          </a:p>
        </p:txBody>
      </p:sp>
      <p:sp>
        <p:nvSpPr>
          <p:cNvPr id="222" name="Google Shape;222;p35"/>
          <p:cNvSpPr/>
          <p:nvPr/>
        </p:nvSpPr>
        <p:spPr>
          <a:xfrm>
            <a:off x="6349516" y="3652154"/>
            <a:ext cx="2483028" cy="1402704"/>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a:solidFill>
                  <a:srgbClr val="9900FF"/>
                </a:solidFill>
              </a:rPr>
              <a:t>Build a system that makes a robot fly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Tri-level hypothesis (Contd…)</a:t>
            </a:r>
            <a:endParaRPr/>
          </a:p>
        </p:txBody>
      </p:sp>
      <p:pic>
        <p:nvPicPr>
          <p:cNvPr id="228" name="Google Shape;228;p36"/>
          <p:cNvPicPr preferRelativeResize="0"/>
          <p:nvPr/>
        </p:nvPicPr>
        <p:blipFill rotWithShape="1">
          <a:blip r:embed="rId3">
            <a:alphaModFix/>
          </a:blip>
          <a:srcRect b="0" l="0" r="0" t="2496"/>
          <a:stretch/>
        </p:blipFill>
        <p:spPr>
          <a:xfrm>
            <a:off x="2112425" y="1523800"/>
            <a:ext cx="5298950" cy="28621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In-Class Activity: </a:t>
            </a:r>
            <a:r>
              <a:rPr lang="en">
                <a:solidFill>
                  <a:srgbClr val="9900FF"/>
                </a:solidFill>
              </a:rPr>
              <a:t>How to make a robot fly?</a:t>
            </a:r>
            <a:endParaRPr>
              <a:solidFill>
                <a:srgbClr val="9900FF"/>
              </a:solidFill>
            </a:endParaRPr>
          </a:p>
        </p:txBody>
      </p:sp>
      <p:pic>
        <p:nvPicPr>
          <p:cNvPr id="234" name="Google Shape;234;p37"/>
          <p:cNvPicPr preferRelativeResize="0"/>
          <p:nvPr/>
        </p:nvPicPr>
        <p:blipFill>
          <a:blip r:embed="rId3">
            <a:alphaModFix/>
          </a:blip>
          <a:stretch>
            <a:fillRect/>
          </a:stretch>
        </p:blipFill>
        <p:spPr>
          <a:xfrm>
            <a:off x="410875" y="1281625"/>
            <a:ext cx="4370675" cy="1926850"/>
          </a:xfrm>
          <a:prstGeom prst="rect">
            <a:avLst/>
          </a:prstGeom>
          <a:noFill/>
          <a:ln>
            <a:noFill/>
          </a:ln>
        </p:spPr>
      </p:pic>
      <p:pic>
        <p:nvPicPr>
          <p:cNvPr id="235" name="Google Shape;235;p37"/>
          <p:cNvPicPr preferRelativeResize="0"/>
          <p:nvPr/>
        </p:nvPicPr>
        <p:blipFill>
          <a:blip r:embed="rId4">
            <a:alphaModFix/>
          </a:blip>
          <a:stretch>
            <a:fillRect/>
          </a:stretch>
        </p:blipFill>
        <p:spPr>
          <a:xfrm>
            <a:off x="2438400" y="3315700"/>
            <a:ext cx="3822000" cy="1675400"/>
          </a:xfrm>
          <a:prstGeom prst="rect">
            <a:avLst/>
          </a:prstGeom>
          <a:noFill/>
          <a:ln>
            <a:noFill/>
          </a:ln>
        </p:spPr>
      </p:pic>
      <p:pic>
        <p:nvPicPr>
          <p:cNvPr id="236" name="Google Shape;236;p37"/>
          <p:cNvPicPr preferRelativeResize="0"/>
          <p:nvPr/>
        </p:nvPicPr>
        <p:blipFill>
          <a:blip r:embed="rId5">
            <a:alphaModFix/>
          </a:blip>
          <a:stretch>
            <a:fillRect/>
          </a:stretch>
        </p:blipFill>
        <p:spPr>
          <a:xfrm>
            <a:off x="5695949" y="1246325"/>
            <a:ext cx="2852109" cy="20383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AI?</a:t>
            </a:r>
            <a:endParaRPr/>
          </a:p>
        </p:txBody>
      </p:sp>
      <p:pic>
        <p:nvPicPr>
          <p:cNvPr id="242" name="Google Shape;242;p38"/>
          <p:cNvPicPr preferRelativeResize="0"/>
          <p:nvPr/>
        </p:nvPicPr>
        <p:blipFill>
          <a:blip r:embed="rId3">
            <a:alphaModFix/>
          </a:blip>
          <a:stretch>
            <a:fillRect/>
          </a:stretch>
        </p:blipFill>
        <p:spPr>
          <a:xfrm>
            <a:off x="1414473" y="1075401"/>
            <a:ext cx="6179459" cy="38209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Wikipedia</a:t>
            </a:r>
            <a:endParaRPr/>
          </a:p>
        </p:txBody>
      </p:sp>
      <p:pic>
        <p:nvPicPr>
          <p:cNvPr id="248" name="Google Shape;248;p39"/>
          <p:cNvPicPr preferRelativeResize="0"/>
          <p:nvPr/>
        </p:nvPicPr>
        <p:blipFill>
          <a:blip r:embed="rId3">
            <a:alphaModFix/>
          </a:blip>
          <a:stretch>
            <a:fillRect/>
          </a:stretch>
        </p:blipFill>
        <p:spPr>
          <a:xfrm>
            <a:off x="1433784" y="1092300"/>
            <a:ext cx="5970274" cy="38209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Acting Humanly: The Full Turing Test</a:t>
            </a:r>
            <a:endParaRPr/>
          </a:p>
        </p:txBody>
      </p:sp>
      <p:pic>
        <p:nvPicPr>
          <p:cNvPr id="254" name="Google Shape;254;p40"/>
          <p:cNvPicPr preferRelativeResize="0"/>
          <p:nvPr/>
        </p:nvPicPr>
        <p:blipFill>
          <a:blip r:embed="rId3">
            <a:alphaModFix/>
          </a:blip>
          <a:stretch>
            <a:fillRect/>
          </a:stretch>
        </p:blipFill>
        <p:spPr>
          <a:xfrm>
            <a:off x="1361925" y="1182100"/>
            <a:ext cx="6575498" cy="38209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Turing test: Key Ideas</a:t>
            </a:r>
            <a:endParaRPr/>
          </a:p>
        </p:txBody>
      </p:sp>
      <p:sp>
        <p:nvSpPr>
          <p:cNvPr id="260" name="Google Shape;260;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Original Thought</a:t>
            </a:r>
            <a:endParaRPr/>
          </a:p>
          <a:p>
            <a:pPr indent="-317500" lvl="1" marL="914400" rtl="0" algn="l">
              <a:spcBef>
                <a:spcPts val="0"/>
              </a:spcBef>
              <a:spcAft>
                <a:spcPts val="0"/>
              </a:spcAft>
              <a:buSzPts val="1400"/>
              <a:buChar char="-"/>
            </a:pPr>
            <a:r>
              <a:rPr lang="en"/>
              <a:t>Can machine think?</a:t>
            </a:r>
            <a:br>
              <a:rPr lang="en"/>
            </a:br>
            <a:endParaRPr/>
          </a:p>
          <a:p>
            <a:pPr indent="-342900" lvl="0" marL="457200" rtl="0" algn="l">
              <a:spcBef>
                <a:spcPts val="0"/>
              </a:spcBef>
              <a:spcAft>
                <a:spcPts val="0"/>
              </a:spcAft>
              <a:buSzPts val="1800"/>
              <a:buChar char="-"/>
            </a:pPr>
            <a:r>
              <a:rPr lang="en"/>
              <a:t>Turing Test (Behavioural test/Imitation Game)</a:t>
            </a:r>
            <a:endParaRPr/>
          </a:p>
          <a:p>
            <a:pPr indent="-317500" lvl="1" marL="914400" rtl="0" algn="l">
              <a:spcBef>
                <a:spcPts val="0"/>
              </a:spcBef>
              <a:spcAft>
                <a:spcPts val="0"/>
              </a:spcAft>
              <a:buSzPts val="1400"/>
              <a:buChar char="-"/>
            </a:pPr>
            <a:r>
              <a:rPr lang="en"/>
              <a:t>Can machine communicate and behave like a human?</a:t>
            </a:r>
            <a:br>
              <a:rPr lang="en"/>
            </a:br>
            <a:endParaRPr/>
          </a:p>
          <a:p>
            <a:pPr indent="-342900" lvl="0" marL="457200" rtl="0" algn="l">
              <a:spcBef>
                <a:spcPts val="0"/>
              </a:spcBef>
              <a:spcAft>
                <a:spcPts val="0"/>
              </a:spcAft>
              <a:buSzPts val="1800"/>
              <a:buChar char="-"/>
            </a:pPr>
            <a:r>
              <a:rPr lang="en"/>
              <a:t>Total Turing test:</a:t>
            </a:r>
            <a:endParaRPr/>
          </a:p>
          <a:p>
            <a:pPr indent="-317500" lvl="1" marL="914400" rtl="0" algn="l">
              <a:spcBef>
                <a:spcPts val="0"/>
              </a:spcBef>
              <a:spcAft>
                <a:spcPts val="0"/>
              </a:spcAft>
              <a:buSzPts val="1400"/>
              <a:buChar char="-"/>
            </a:pPr>
            <a:r>
              <a:rPr lang="en"/>
              <a:t>Can the machine communicate, perceive, reason, and physically act like a human?</a:t>
            </a:r>
            <a:endParaRPr/>
          </a:p>
          <a:p>
            <a:pPr indent="-317500" lvl="1" marL="914400" rtl="0" algn="l">
              <a:spcBef>
                <a:spcPts val="0"/>
              </a:spcBef>
              <a:spcAft>
                <a:spcPts val="0"/>
              </a:spcAft>
              <a:buSzPts val="1400"/>
              <a:buChar char="-"/>
            </a:pPr>
            <a:r>
              <a:rPr lang="en"/>
              <a:t>The goal here is not just to be acting humanly through conversation but also humanly in the real word</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would a computer need to pass the Turing test?</a:t>
            </a:r>
            <a:endParaRPr/>
          </a:p>
        </p:txBody>
      </p:sp>
      <p:sp>
        <p:nvSpPr>
          <p:cNvPr id="266" name="Google Shape;266;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b="1" lang="en"/>
              <a:t>Natural language processing:</a:t>
            </a:r>
            <a:r>
              <a:rPr lang="en"/>
              <a:t> to </a:t>
            </a:r>
            <a:r>
              <a:rPr lang="en"/>
              <a:t>communicate with</a:t>
            </a:r>
            <a:r>
              <a:rPr lang="en"/>
              <a:t> examiner</a:t>
            </a:r>
            <a:endParaRPr/>
          </a:p>
          <a:p>
            <a:pPr indent="-342900" lvl="0" marL="457200" rtl="0" algn="l">
              <a:spcBef>
                <a:spcPts val="0"/>
              </a:spcBef>
              <a:spcAft>
                <a:spcPts val="0"/>
              </a:spcAft>
              <a:buSzPts val="1800"/>
              <a:buChar char="-"/>
            </a:pPr>
            <a:r>
              <a:rPr b="1" lang="en"/>
              <a:t>Knowledge representation:</a:t>
            </a:r>
            <a:r>
              <a:rPr lang="en"/>
              <a:t> to store and retrieve information provided before or during interrogation</a:t>
            </a:r>
            <a:endParaRPr/>
          </a:p>
          <a:p>
            <a:pPr indent="-342900" lvl="0" marL="457200" rtl="0" algn="l">
              <a:spcBef>
                <a:spcPts val="0"/>
              </a:spcBef>
              <a:spcAft>
                <a:spcPts val="0"/>
              </a:spcAft>
              <a:buSzPts val="1800"/>
              <a:buChar char="-"/>
            </a:pPr>
            <a:r>
              <a:rPr b="1" lang="en"/>
              <a:t>Automated reasoning:</a:t>
            </a:r>
            <a:r>
              <a:rPr lang="en"/>
              <a:t> to use the stored information to answer questions and to draw new conclusions</a:t>
            </a:r>
            <a:endParaRPr/>
          </a:p>
          <a:p>
            <a:pPr indent="-342900" lvl="0" marL="457200" rtl="0" algn="l">
              <a:spcBef>
                <a:spcPts val="0"/>
              </a:spcBef>
              <a:spcAft>
                <a:spcPts val="0"/>
              </a:spcAft>
              <a:buSzPts val="1800"/>
              <a:buChar char="-"/>
            </a:pPr>
            <a:r>
              <a:rPr b="1" lang="en"/>
              <a:t>Machine learning:</a:t>
            </a:r>
            <a:r>
              <a:rPr lang="en"/>
              <a:t> to adapt to new circumstances and to detect and extrapolate patterns</a:t>
            </a:r>
            <a:endParaRPr/>
          </a:p>
          <a:p>
            <a:pPr indent="-342900" lvl="0" marL="457200" rtl="0" algn="l">
              <a:spcBef>
                <a:spcPts val="0"/>
              </a:spcBef>
              <a:spcAft>
                <a:spcPts val="0"/>
              </a:spcAft>
              <a:buSzPts val="1800"/>
              <a:buChar char="-"/>
            </a:pPr>
            <a:r>
              <a:rPr b="1" lang="en"/>
              <a:t>Vision:</a:t>
            </a:r>
            <a:r>
              <a:rPr lang="en"/>
              <a:t> to recognize the examiner’s actions and various objects presented by the examiner</a:t>
            </a:r>
            <a:endParaRPr/>
          </a:p>
          <a:p>
            <a:pPr indent="-342900" lvl="0" marL="457200" rtl="0" algn="l">
              <a:spcBef>
                <a:spcPts val="0"/>
              </a:spcBef>
              <a:spcAft>
                <a:spcPts val="0"/>
              </a:spcAft>
              <a:buSzPts val="1800"/>
              <a:buChar char="-"/>
            </a:pPr>
            <a:r>
              <a:rPr b="1" lang="en"/>
              <a:t>Motor control:</a:t>
            </a:r>
            <a:r>
              <a:rPr lang="en"/>
              <a:t> to act upon objects as requested</a:t>
            </a:r>
            <a:endParaRPr/>
          </a:p>
          <a:p>
            <a:pPr indent="-342900" lvl="0" marL="457200" rtl="0" algn="l">
              <a:spcBef>
                <a:spcPts val="0"/>
              </a:spcBef>
              <a:spcAft>
                <a:spcPts val="0"/>
              </a:spcAft>
              <a:buSzPts val="1800"/>
              <a:buChar char="-"/>
            </a:pPr>
            <a:r>
              <a:rPr b="1" lang="en"/>
              <a:t>Other senses:</a:t>
            </a:r>
            <a:r>
              <a:rPr lang="en"/>
              <a:t> such as audition,smell,touch, etc.</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00FF"/>
                </a:solidFill>
              </a:rPr>
              <a:t>Natural Language Processing</a:t>
            </a:r>
            <a:endParaRPr>
              <a:solidFill>
                <a:srgbClr val="0000FF"/>
              </a:solidFill>
            </a:endParaRPr>
          </a:p>
        </p:txBody>
      </p:sp>
      <p:pic>
        <p:nvPicPr>
          <p:cNvPr id="272" name="Google Shape;272;p43"/>
          <p:cNvPicPr preferRelativeResize="0"/>
          <p:nvPr/>
        </p:nvPicPr>
        <p:blipFill>
          <a:blip r:embed="rId3">
            <a:alphaModFix/>
          </a:blip>
          <a:stretch>
            <a:fillRect/>
          </a:stretch>
        </p:blipFill>
        <p:spPr>
          <a:xfrm>
            <a:off x="6200987" y="2831275"/>
            <a:ext cx="1982450" cy="1982450"/>
          </a:xfrm>
          <a:prstGeom prst="rect">
            <a:avLst/>
          </a:prstGeom>
          <a:noFill/>
          <a:ln>
            <a:noFill/>
          </a:ln>
        </p:spPr>
      </p:pic>
      <p:pic>
        <p:nvPicPr>
          <p:cNvPr id="273" name="Google Shape;273;p43"/>
          <p:cNvPicPr preferRelativeResize="0"/>
          <p:nvPr/>
        </p:nvPicPr>
        <p:blipFill rotWithShape="1">
          <a:blip r:embed="rId4">
            <a:alphaModFix/>
          </a:blip>
          <a:srcRect b="0" l="0" r="0" t="23664"/>
          <a:stretch/>
        </p:blipFill>
        <p:spPr>
          <a:xfrm>
            <a:off x="228600" y="1124905"/>
            <a:ext cx="5369475" cy="2916825"/>
          </a:xfrm>
          <a:prstGeom prst="rect">
            <a:avLst/>
          </a:prstGeom>
          <a:noFill/>
          <a:ln>
            <a:noFill/>
          </a:ln>
        </p:spPr>
      </p:pic>
      <p:pic>
        <p:nvPicPr>
          <p:cNvPr id="274" name="Google Shape;274;p43"/>
          <p:cNvPicPr preferRelativeResize="0"/>
          <p:nvPr/>
        </p:nvPicPr>
        <p:blipFill>
          <a:blip r:embed="rId5">
            <a:alphaModFix/>
          </a:blip>
          <a:stretch>
            <a:fillRect/>
          </a:stretch>
        </p:blipFill>
        <p:spPr>
          <a:xfrm>
            <a:off x="5702925" y="445025"/>
            <a:ext cx="2978575" cy="1586625"/>
          </a:xfrm>
          <a:prstGeom prst="rect">
            <a:avLst/>
          </a:prstGeom>
          <a:noFill/>
          <a:ln>
            <a:noFill/>
          </a:ln>
        </p:spPr>
      </p:pic>
      <p:sp>
        <p:nvSpPr>
          <p:cNvPr id="275" name="Google Shape;275;p43"/>
          <p:cNvSpPr txBox="1"/>
          <p:nvPr/>
        </p:nvSpPr>
        <p:spPr>
          <a:xfrm>
            <a:off x="1869" y="4737518"/>
            <a:ext cx="1855200" cy="36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980000"/>
                </a:solidFill>
              </a:rPr>
              <a:t>Credits: @Google Images</a:t>
            </a:r>
            <a:endParaRPr sz="1100">
              <a:solidFill>
                <a:srgbClr val="980000"/>
              </a:solidFill>
            </a:endParaRPr>
          </a:p>
        </p:txBody>
      </p:sp>
      <p:sp>
        <p:nvSpPr>
          <p:cNvPr id="276" name="Google Shape;276;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77" name="Google Shape;277;p43"/>
          <p:cNvSpPr/>
          <p:nvPr/>
        </p:nvSpPr>
        <p:spPr>
          <a:xfrm>
            <a:off x="400600" y="3959850"/>
            <a:ext cx="5369400" cy="60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NLP → </a:t>
            </a:r>
            <a:r>
              <a:rPr i="1" lang="en"/>
              <a:t>Computational Systems that process human language for a wide range of applications…</a:t>
            </a:r>
            <a:endParaRPr i="1"/>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00FF"/>
                </a:solidFill>
              </a:rPr>
              <a:t>Vending Machine</a:t>
            </a:r>
            <a:endParaRPr>
              <a:solidFill>
                <a:srgbClr val="0000FF"/>
              </a:solidFill>
            </a:endParaRPr>
          </a:p>
        </p:txBody>
      </p:sp>
      <p:pic>
        <p:nvPicPr>
          <p:cNvPr id="283" name="Google Shape;283;p44"/>
          <p:cNvPicPr preferRelativeResize="0"/>
          <p:nvPr/>
        </p:nvPicPr>
        <p:blipFill>
          <a:blip r:embed="rId3">
            <a:alphaModFix/>
          </a:blip>
          <a:stretch>
            <a:fillRect/>
          </a:stretch>
        </p:blipFill>
        <p:spPr>
          <a:xfrm>
            <a:off x="5791200" y="961871"/>
            <a:ext cx="2865732" cy="3820976"/>
          </a:xfrm>
          <a:prstGeom prst="rect">
            <a:avLst/>
          </a:prstGeom>
          <a:noFill/>
          <a:ln>
            <a:noFill/>
          </a:ln>
        </p:spPr>
      </p:pic>
      <p:pic>
        <p:nvPicPr>
          <p:cNvPr id="284" name="Google Shape;284;p44"/>
          <p:cNvPicPr preferRelativeResize="0"/>
          <p:nvPr/>
        </p:nvPicPr>
        <p:blipFill>
          <a:blip r:embed="rId4">
            <a:alphaModFix/>
          </a:blip>
          <a:stretch>
            <a:fillRect/>
          </a:stretch>
        </p:blipFill>
        <p:spPr>
          <a:xfrm>
            <a:off x="152400" y="1045679"/>
            <a:ext cx="5486400" cy="3659429"/>
          </a:xfrm>
          <a:prstGeom prst="rect">
            <a:avLst/>
          </a:prstGeom>
          <a:noFill/>
          <a:ln>
            <a:noFill/>
          </a:ln>
        </p:spPr>
      </p:pic>
      <p:sp>
        <p:nvSpPr>
          <p:cNvPr id="285" name="Google Shape;285;p44"/>
          <p:cNvSpPr txBox="1"/>
          <p:nvPr/>
        </p:nvSpPr>
        <p:spPr>
          <a:xfrm>
            <a:off x="1869" y="4765625"/>
            <a:ext cx="18552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solidFill>
                  <a:srgbClr val="980000"/>
                </a:solidFill>
              </a:rPr>
              <a:t>Credits: @Google Images</a:t>
            </a:r>
            <a:endParaRPr sz="600">
              <a:solidFill>
                <a:srgbClr val="980000"/>
              </a:solidFill>
            </a:endParaRPr>
          </a:p>
        </p:txBody>
      </p:sp>
      <p:sp>
        <p:nvSpPr>
          <p:cNvPr id="286" name="Google Shape;286;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87" name="Google Shape;287;p44"/>
          <p:cNvSpPr txBox="1"/>
          <p:nvPr/>
        </p:nvSpPr>
        <p:spPr>
          <a:xfrm>
            <a:off x="1590225" y="4765625"/>
            <a:ext cx="636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H</a:t>
            </a:r>
            <a:r>
              <a:rPr lang="en"/>
              <a:t>ow do we connect </a:t>
            </a:r>
            <a:r>
              <a:rPr lang="en">
                <a:solidFill>
                  <a:srgbClr val="9900FF"/>
                </a:solidFill>
              </a:rPr>
              <a:t>human communication</a:t>
            </a:r>
            <a:r>
              <a:rPr lang="en"/>
              <a:t> with </a:t>
            </a:r>
            <a:r>
              <a:rPr lang="en">
                <a:solidFill>
                  <a:srgbClr val="0000FF"/>
                </a:solidFill>
              </a:rPr>
              <a:t>machine behaviour</a:t>
            </a:r>
            <a:r>
              <a:rPr lang="en"/>
              <a:t>?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NLP/NLU/CL ?</a:t>
            </a:r>
            <a:endParaRPr/>
          </a:p>
        </p:txBody>
      </p:sp>
      <p:sp>
        <p:nvSpPr>
          <p:cNvPr id="293" name="Google Shape;293;p45"/>
          <p:cNvSpPr txBox="1"/>
          <p:nvPr>
            <p:ph idx="1" type="body"/>
          </p:nvPr>
        </p:nvSpPr>
        <p:spPr>
          <a:xfrm>
            <a:off x="311700" y="1152475"/>
            <a:ext cx="8520600" cy="38415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solidFill>
                  <a:schemeClr val="dk1"/>
                </a:solidFill>
              </a:rPr>
              <a:t>NLP:</a:t>
            </a:r>
            <a:r>
              <a:rPr lang="en"/>
              <a:t> Application oriented e.g. information retrieval, speech to text, sentiment analysis (end-user application)</a:t>
            </a:r>
            <a:endParaRPr/>
          </a:p>
          <a:p>
            <a:pPr indent="-317500" lvl="1" marL="914400" rtl="0" algn="l">
              <a:spcBef>
                <a:spcPts val="0"/>
              </a:spcBef>
              <a:spcAft>
                <a:spcPts val="0"/>
              </a:spcAft>
              <a:buSzPts val="1400"/>
              <a:buChar char="-"/>
            </a:pPr>
            <a:r>
              <a:rPr lang="en"/>
              <a:t>Language → Information</a:t>
            </a:r>
            <a:br>
              <a:rPr lang="en"/>
            </a:br>
            <a:endParaRPr/>
          </a:p>
          <a:p>
            <a:pPr indent="-342900" lvl="0" marL="457200" rtl="0" algn="l">
              <a:spcBef>
                <a:spcPts val="0"/>
              </a:spcBef>
              <a:spcAft>
                <a:spcPts val="0"/>
              </a:spcAft>
              <a:buSzPts val="1800"/>
              <a:buChar char="-"/>
            </a:pPr>
            <a:r>
              <a:rPr b="1" lang="en">
                <a:solidFill>
                  <a:schemeClr val="dk1"/>
                </a:solidFill>
              </a:rPr>
              <a:t>CL:</a:t>
            </a:r>
            <a:r>
              <a:rPr lang="en"/>
              <a:t> Uncovering a part of an overall cognitive architecture; developing computational models of linguistic phenomena</a:t>
            </a:r>
            <a:endParaRPr/>
          </a:p>
          <a:p>
            <a:pPr indent="-317500" lvl="1" marL="914400" rtl="0" algn="l">
              <a:spcBef>
                <a:spcPts val="0"/>
              </a:spcBef>
              <a:spcAft>
                <a:spcPts val="0"/>
              </a:spcAft>
              <a:buSzPts val="1400"/>
              <a:buChar char="-"/>
            </a:pPr>
            <a:r>
              <a:rPr lang="en"/>
              <a:t>Language → Model</a:t>
            </a:r>
            <a:br>
              <a:rPr lang="en"/>
            </a:br>
            <a:endParaRPr/>
          </a:p>
          <a:p>
            <a:pPr indent="-342900" lvl="0" marL="457200" rtl="0" algn="l">
              <a:spcBef>
                <a:spcPts val="0"/>
              </a:spcBef>
              <a:spcAft>
                <a:spcPts val="0"/>
              </a:spcAft>
              <a:buSzPts val="1800"/>
              <a:buChar char="-"/>
            </a:pPr>
            <a:r>
              <a:rPr b="1" lang="en">
                <a:solidFill>
                  <a:schemeClr val="dk1"/>
                </a:solidFill>
              </a:rPr>
              <a:t>NLU:</a:t>
            </a:r>
            <a:r>
              <a:rPr lang="en"/>
              <a:t> Shared end goal for both i.e., getting a system that </a:t>
            </a:r>
            <a:r>
              <a:rPr lang="en"/>
              <a:t>meaningfully</a:t>
            </a:r>
            <a:r>
              <a:rPr lang="en"/>
              <a:t> understands natural language</a:t>
            </a:r>
            <a:endParaRPr/>
          </a:p>
          <a:p>
            <a:pPr indent="0" lvl="0" marL="0" rtl="0" algn="ctr">
              <a:spcBef>
                <a:spcPts val="1200"/>
              </a:spcBef>
              <a:spcAft>
                <a:spcPts val="1200"/>
              </a:spcAft>
              <a:buNone/>
            </a:pPr>
            <a:br>
              <a:rPr lang="en"/>
            </a:br>
            <a:r>
              <a:rPr lang="en">
                <a:solidFill>
                  <a:srgbClr val="0000FF"/>
                </a:solidFill>
              </a:rPr>
              <a:t>Linguistic description</a:t>
            </a:r>
            <a:r>
              <a:rPr lang="en"/>
              <a:t> → </a:t>
            </a:r>
            <a:r>
              <a:rPr lang="en">
                <a:solidFill>
                  <a:srgbClr val="9900FF"/>
                </a:solidFill>
              </a:rPr>
              <a:t>Computational representation</a:t>
            </a:r>
            <a:r>
              <a:rPr lang="en"/>
              <a:t> → </a:t>
            </a:r>
            <a:r>
              <a:rPr lang="en">
                <a:solidFill>
                  <a:srgbClr val="980000"/>
                </a:solidFill>
              </a:rPr>
              <a:t>Empirical evaluation</a:t>
            </a:r>
            <a:endParaRPr>
              <a:solidFill>
                <a:srgbClr val="98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Build systems for Natural Language Understanding</a:t>
            </a:r>
            <a:endParaRPr/>
          </a:p>
        </p:txBody>
      </p:sp>
      <p:sp>
        <p:nvSpPr>
          <p:cNvPr id="299" name="Google Shape;299;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Building a machine capable of language understanding was an attractive goal for practitioners of AI (Artificial Intelligence) in 70s</a:t>
            </a:r>
            <a:br>
              <a:rPr lang="en"/>
            </a:br>
            <a:endParaRPr/>
          </a:p>
          <a:p>
            <a:pPr indent="-342900" lvl="0" marL="457200" rtl="0" algn="l">
              <a:spcBef>
                <a:spcPts val="0"/>
              </a:spcBef>
              <a:spcAft>
                <a:spcPts val="0"/>
              </a:spcAft>
              <a:buSzPts val="1800"/>
              <a:buChar char="-"/>
            </a:pPr>
            <a:r>
              <a:rPr lang="en"/>
              <a:t>During this time, “computational linguistics”, “cognitive science” or “natural language processing” were not totally distinct</a:t>
            </a:r>
            <a:br>
              <a:rPr lang="en"/>
            </a:br>
            <a:endParaRPr/>
          </a:p>
          <a:p>
            <a:pPr indent="-342900" lvl="0" marL="457200" rtl="0" algn="l">
              <a:spcBef>
                <a:spcPts val="0"/>
              </a:spcBef>
              <a:spcAft>
                <a:spcPts val="0"/>
              </a:spcAft>
              <a:buSzPts val="1800"/>
              <a:buChar char="-"/>
            </a:pPr>
            <a:r>
              <a:rPr lang="en"/>
              <a:t>Build a machine capable of carrying out a conversation like a human being</a:t>
            </a:r>
            <a:br>
              <a:rPr lang="en"/>
            </a:br>
            <a:endParaRPr/>
          </a:p>
          <a:p>
            <a:pPr indent="-342900" lvl="0" marL="457200" rtl="0" algn="l">
              <a:spcBef>
                <a:spcPts val="0"/>
              </a:spcBef>
              <a:spcAft>
                <a:spcPts val="0"/>
              </a:spcAft>
              <a:buClr>
                <a:srgbClr val="9900FF"/>
              </a:buClr>
              <a:buSzPts val="1800"/>
              <a:buChar char="-"/>
            </a:pPr>
            <a:r>
              <a:rPr lang="en">
                <a:solidFill>
                  <a:srgbClr val="9900FF"/>
                </a:solidFill>
              </a:rPr>
              <a:t>If a machine can fool you into thinking it’s human, then would we reach our goal of natural language understanding?</a:t>
            </a:r>
            <a:endParaRPr>
              <a:solidFill>
                <a:srgbClr val="9900FF"/>
              </a:solidFill>
            </a:endParaRPr>
          </a:p>
          <a:p>
            <a:pPr indent="0" lvl="0" marL="0" rtl="0" algn="l">
              <a:spcBef>
                <a:spcPts val="1200"/>
              </a:spcBef>
              <a:spcAft>
                <a:spcPts val="120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ELIZA: an early ‘chatbot’ (1966)</a:t>
            </a:r>
            <a:endParaRPr/>
          </a:p>
        </p:txBody>
      </p:sp>
      <p:sp>
        <p:nvSpPr>
          <p:cNvPr id="305" name="Google Shape;305;p47"/>
          <p:cNvSpPr txBox="1"/>
          <p:nvPr>
            <p:ph idx="1" type="body"/>
          </p:nvPr>
        </p:nvSpPr>
        <p:spPr>
          <a:xfrm>
            <a:off x="63325" y="1378777"/>
            <a:ext cx="4724400" cy="23202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Developed </a:t>
            </a:r>
            <a:r>
              <a:rPr lang="en"/>
              <a:t>by Joseph Weizenbaum (MIT)</a:t>
            </a:r>
            <a:br>
              <a:rPr lang="en"/>
            </a:br>
            <a:endParaRPr/>
          </a:p>
          <a:p>
            <a:pPr indent="-342900" lvl="0" marL="457200" rtl="0" algn="l">
              <a:spcBef>
                <a:spcPts val="0"/>
              </a:spcBef>
              <a:spcAft>
                <a:spcPts val="0"/>
              </a:spcAft>
              <a:buSzPts val="1800"/>
              <a:buChar char="-"/>
            </a:pPr>
            <a:r>
              <a:rPr lang="en"/>
              <a:t>ELIZA simulated as a psychotherapist</a:t>
            </a:r>
            <a:br>
              <a:rPr lang="en"/>
            </a:br>
            <a:endParaRPr/>
          </a:p>
          <a:p>
            <a:pPr indent="-342900" lvl="0" marL="457200" rtl="0" algn="l">
              <a:spcBef>
                <a:spcPts val="0"/>
              </a:spcBef>
              <a:spcAft>
                <a:spcPts val="0"/>
              </a:spcAft>
              <a:buSzPts val="1800"/>
              <a:buChar char="-"/>
            </a:pPr>
            <a:r>
              <a:rPr lang="en"/>
              <a:t>ELIZA’s responses (shown in caps) were based on </a:t>
            </a:r>
            <a:r>
              <a:rPr b="1" lang="en">
                <a:solidFill>
                  <a:schemeClr val="dk1"/>
                </a:solidFill>
              </a:rPr>
              <a:t>pattern matching</a:t>
            </a:r>
            <a:r>
              <a:rPr lang="en"/>
              <a:t> (rather than any real analysis)</a:t>
            </a:r>
            <a:endParaRPr/>
          </a:p>
        </p:txBody>
      </p:sp>
      <p:pic>
        <p:nvPicPr>
          <p:cNvPr id="306" name="Google Shape;306;p47"/>
          <p:cNvPicPr preferRelativeResize="0"/>
          <p:nvPr/>
        </p:nvPicPr>
        <p:blipFill>
          <a:blip r:embed="rId3">
            <a:alphaModFix/>
          </a:blip>
          <a:stretch>
            <a:fillRect/>
          </a:stretch>
        </p:blipFill>
        <p:spPr>
          <a:xfrm>
            <a:off x="4724400" y="1170125"/>
            <a:ext cx="4267200" cy="3680370"/>
          </a:xfrm>
          <a:prstGeom prst="rect">
            <a:avLst/>
          </a:prstGeom>
          <a:noFill/>
          <a:ln>
            <a:noFill/>
          </a:ln>
        </p:spPr>
      </p:pic>
      <p:sp>
        <p:nvSpPr>
          <p:cNvPr id="307" name="Google Shape;307;p47"/>
          <p:cNvSpPr txBox="1"/>
          <p:nvPr/>
        </p:nvSpPr>
        <p:spPr>
          <a:xfrm>
            <a:off x="311700" y="4060025"/>
            <a:ext cx="4267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0000FF"/>
                </a:solidFill>
              </a:rPr>
              <a:t>Producing an appropriate-looking response is not necessarily the same as understanding!</a:t>
            </a:r>
            <a:endParaRPr>
              <a:solidFill>
                <a:srgbClr val="0000FF"/>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SHRDLU</a:t>
            </a:r>
            <a:endParaRPr/>
          </a:p>
        </p:txBody>
      </p:sp>
      <p:sp>
        <p:nvSpPr>
          <p:cNvPr id="313" name="Google Shape;313;p48"/>
          <p:cNvSpPr txBox="1"/>
          <p:nvPr>
            <p:ph idx="1" type="body"/>
          </p:nvPr>
        </p:nvSpPr>
        <p:spPr>
          <a:xfrm>
            <a:off x="311700" y="1451500"/>
            <a:ext cx="8520600" cy="2705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Terry Winograd built SHRDLU (1972) – More than a conversational agent</a:t>
            </a:r>
            <a:endParaRPr/>
          </a:p>
          <a:p>
            <a:pPr indent="-317500" lvl="1" marL="914400" rtl="0" algn="l">
              <a:spcBef>
                <a:spcPts val="0"/>
              </a:spcBef>
              <a:spcAft>
                <a:spcPts val="0"/>
              </a:spcAft>
              <a:buSzPts val="1400"/>
              <a:buChar char="-"/>
            </a:pPr>
            <a:r>
              <a:rPr lang="en"/>
              <a:t>used language to report on its environment</a:t>
            </a:r>
            <a:endParaRPr/>
          </a:p>
          <a:p>
            <a:pPr indent="-317500" lvl="1" marL="914400" rtl="0" algn="l">
              <a:spcBef>
                <a:spcPts val="0"/>
              </a:spcBef>
              <a:spcAft>
                <a:spcPts val="0"/>
              </a:spcAft>
              <a:buSzPts val="1400"/>
              <a:buChar char="-"/>
            </a:pPr>
            <a:r>
              <a:rPr lang="en"/>
              <a:t>to plan actions</a:t>
            </a:r>
            <a:endParaRPr/>
          </a:p>
          <a:p>
            <a:pPr indent="-317500" lvl="1" marL="914400" rtl="0" algn="l">
              <a:spcBef>
                <a:spcPts val="0"/>
              </a:spcBef>
              <a:spcAft>
                <a:spcPts val="0"/>
              </a:spcAft>
              <a:buSzPts val="1400"/>
              <a:buChar char="-"/>
            </a:pPr>
            <a:r>
              <a:rPr lang="en"/>
              <a:t>to reason about the implications of what is being said to it</a:t>
            </a:r>
            <a:br>
              <a:rPr lang="en"/>
            </a:br>
            <a:endParaRPr/>
          </a:p>
          <a:p>
            <a:pPr indent="-342900" lvl="0" marL="457200" rtl="0" algn="l">
              <a:spcBef>
                <a:spcPts val="0"/>
              </a:spcBef>
              <a:spcAft>
                <a:spcPts val="0"/>
              </a:spcAft>
              <a:buSzPts val="1800"/>
              <a:buChar char="-"/>
            </a:pPr>
            <a:r>
              <a:rPr lang="en"/>
              <a:t>Model how we understand our world via language</a:t>
            </a:r>
            <a:endParaRPr/>
          </a:p>
          <a:p>
            <a:pPr indent="-317500" lvl="1" marL="914400" rtl="0" algn="l">
              <a:spcBef>
                <a:spcPts val="0"/>
              </a:spcBef>
              <a:spcAft>
                <a:spcPts val="0"/>
              </a:spcAft>
              <a:buSzPts val="1400"/>
              <a:buChar char="-"/>
            </a:pPr>
            <a:r>
              <a:rPr lang="en"/>
              <a:t>Connects language with a representation of an environment</a:t>
            </a:r>
            <a:br>
              <a:rPr lang="en"/>
            </a:br>
            <a:endParaRPr/>
          </a:p>
          <a:p>
            <a:pPr indent="-342900" lvl="0" marL="457200" rtl="0" algn="l">
              <a:spcBef>
                <a:spcPts val="0"/>
              </a:spcBef>
              <a:spcAft>
                <a:spcPts val="0"/>
              </a:spcAft>
              <a:buSzPts val="1800"/>
              <a:buChar char="-"/>
            </a:pPr>
            <a:r>
              <a:rPr lang="en"/>
              <a:t>SHRDLU operates in a ‘micro-world’</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SHRDLU</a:t>
            </a:r>
            <a:endParaRPr/>
          </a:p>
        </p:txBody>
      </p:sp>
      <p:sp>
        <p:nvSpPr>
          <p:cNvPr id="319" name="Google Shape;319;p49"/>
          <p:cNvSpPr txBox="1"/>
          <p:nvPr>
            <p:ph idx="1" type="body"/>
          </p:nvPr>
        </p:nvSpPr>
        <p:spPr>
          <a:xfrm>
            <a:off x="311700" y="2229688"/>
            <a:ext cx="4153200" cy="111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Pick up a big, red block.</a:t>
            </a:r>
            <a:endParaRPr/>
          </a:p>
          <a:p>
            <a:pPr indent="0" lvl="0" marL="0" rtl="0" algn="l">
              <a:spcBef>
                <a:spcPts val="1200"/>
              </a:spcBef>
              <a:spcAft>
                <a:spcPts val="1200"/>
              </a:spcAft>
              <a:buNone/>
            </a:pPr>
            <a:r>
              <a:rPr lang="en"/>
              <a:t>OK</a:t>
            </a:r>
            <a:endParaRPr/>
          </a:p>
        </p:txBody>
      </p:sp>
      <p:pic>
        <p:nvPicPr>
          <p:cNvPr id="320" name="Google Shape;320;p49"/>
          <p:cNvPicPr preferRelativeResize="0"/>
          <p:nvPr/>
        </p:nvPicPr>
        <p:blipFill>
          <a:blip r:embed="rId3">
            <a:alphaModFix/>
          </a:blip>
          <a:stretch>
            <a:fillRect/>
          </a:stretch>
        </p:blipFill>
        <p:spPr>
          <a:xfrm>
            <a:off x="4357800" y="553463"/>
            <a:ext cx="4591050" cy="44672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50"/>
          <p:cNvSpPr txBox="1"/>
          <p:nvPr>
            <p:ph type="title"/>
          </p:nvPr>
        </p:nvSpPr>
        <p:spPr>
          <a:xfrm>
            <a:off x="311700" y="2656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SHRDLU</a:t>
            </a:r>
            <a:endParaRPr/>
          </a:p>
        </p:txBody>
      </p:sp>
      <p:pic>
        <p:nvPicPr>
          <p:cNvPr id="326" name="Google Shape;326;p50"/>
          <p:cNvPicPr preferRelativeResize="0"/>
          <p:nvPr/>
        </p:nvPicPr>
        <p:blipFill>
          <a:blip r:embed="rId3">
            <a:alphaModFix/>
          </a:blip>
          <a:stretch>
            <a:fillRect/>
          </a:stretch>
        </p:blipFill>
        <p:spPr>
          <a:xfrm>
            <a:off x="4136292" y="0"/>
            <a:ext cx="4842677" cy="5143501"/>
          </a:xfrm>
          <a:prstGeom prst="rect">
            <a:avLst/>
          </a:prstGeom>
          <a:noFill/>
          <a:ln>
            <a:noFill/>
          </a:ln>
        </p:spPr>
      </p:pic>
      <p:pic>
        <p:nvPicPr>
          <p:cNvPr id="327" name="Google Shape;327;p50"/>
          <p:cNvPicPr preferRelativeResize="0"/>
          <p:nvPr/>
        </p:nvPicPr>
        <p:blipFill>
          <a:blip r:embed="rId4">
            <a:alphaModFix/>
          </a:blip>
          <a:stretch>
            <a:fillRect/>
          </a:stretch>
        </p:blipFill>
        <p:spPr>
          <a:xfrm>
            <a:off x="1025625" y="942850"/>
            <a:ext cx="2151450" cy="3820975"/>
          </a:xfrm>
          <a:prstGeom prst="rect">
            <a:avLst/>
          </a:prstGeom>
          <a:noFill/>
          <a:ln>
            <a:noFill/>
          </a:ln>
        </p:spPr>
      </p:pic>
      <p:sp>
        <p:nvSpPr>
          <p:cNvPr id="328" name="Google Shape;328;p50"/>
          <p:cNvSpPr txBox="1"/>
          <p:nvPr/>
        </p:nvSpPr>
        <p:spPr>
          <a:xfrm>
            <a:off x="419350" y="4763825"/>
            <a:ext cx="382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5"/>
              </a:rPr>
              <a:t>https://en.wikipedia.org/wiki/Etaoin_shrdlu</a:t>
            </a:r>
            <a:endParaRPr>
              <a:solidFill>
                <a:schemeClr val="dk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SHRDLU</a:t>
            </a:r>
            <a:endParaRPr/>
          </a:p>
        </p:txBody>
      </p:sp>
      <p:sp>
        <p:nvSpPr>
          <p:cNvPr id="334" name="Google Shape;334;p51"/>
          <p:cNvSpPr txBox="1"/>
          <p:nvPr>
            <p:ph idx="1" type="body"/>
          </p:nvPr>
        </p:nvSpPr>
        <p:spPr>
          <a:xfrm>
            <a:off x="311700" y="1456975"/>
            <a:ext cx="8520600" cy="2322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Domain specific understanding of language</a:t>
            </a:r>
            <a:br>
              <a:rPr lang="en"/>
            </a:br>
            <a:endParaRPr/>
          </a:p>
          <a:p>
            <a:pPr indent="-342900" lvl="0" marL="457200" rtl="0" algn="l">
              <a:spcBef>
                <a:spcPts val="0"/>
              </a:spcBef>
              <a:spcAft>
                <a:spcPts val="0"/>
              </a:spcAft>
              <a:buSzPts val="1800"/>
              <a:buChar char="-"/>
            </a:pPr>
            <a:r>
              <a:rPr lang="en"/>
              <a:t>Question-answering, executing commands in English</a:t>
            </a:r>
            <a:endParaRPr/>
          </a:p>
          <a:p>
            <a:pPr indent="-317500" lvl="1" marL="914400" rtl="0" algn="l">
              <a:spcBef>
                <a:spcPts val="0"/>
              </a:spcBef>
              <a:spcAft>
                <a:spcPts val="0"/>
              </a:spcAft>
              <a:buSzPts val="1400"/>
              <a:buChar char="-"/>
            </a:pPr>
            <a:r>
              <a:rPr lang="en"/>
              <a:t>First early parser of a English (based on a grammar)</a:t>
            </a:r>
            <a:endParaRPr/>
          </a:p>
          <a:p>
            <a:pPr indent="-317500" lvl="1" marL="914400" rtl="0" algn="l">
              <a:spcBef>
                <a:spcPts val="0"/>
              </a:spcBef>
              <a:spcAft>
                <a:spcPts val="0"/>
              </a:spcAft>
              <a:buSzPts val="1400"/>
              <a:buChar char="-"/>
            </a:pPr>
            <a:r>
              <a:rPr lang="en"/>
              <a:t>Putting together the component parts of a cognitive system in a model</a:t>
            </a:r>
            <a:endParaRPr/>
          </a:p>
          <a:p>
            <a:pPr indent="-317500" lvl="1" marL="914400" rtl="0" algn="l">
              <a:spcBef>
                <a:spcPts val="0"/>
              </a:spcBef>
              <a:spcAft>
                <a:spcPts val="0"/>
              </a:spcAft>
              <a:buSzPts val="1400"/>
              <a:buChar char="-"/>
            </a:pPr>
            <a:r>
              <a:rPr lang="en"/>
              <a:t>‘Working proof’ of the idea of language as procedural/algorithmic</a:t>
            </a:r>
            <a:endParaRPr/>
          </a:p>
          <a:p>
            <a:pPr indent="-317500" lvl="1" marL="914400" rtl="0" algn="l">
              <a:spcBef>
                <a:spcPts val="0"/>
              </a:spcBef>
              <a:spcAft>
                <a:spcPts val="0"/>
              </a:spcAft>
              <a:buSzPts val="1400"/>
              <a:buChar char="-"/>
            </a:pPr>
            <a:r>
              <a:rPr lang="en">
                <a:highlight>
                  <a:srgbClr val="FFFFFF"/>
                </a:highlight>
              </a:rPr>
              <a:t>Makes the simulation of "understanding" more convincing</a:t>
            </a:r>
            <a:endParaRPr/>
          </a:p>
        </p:txBody>
      </p:sp>
      <p:sp>
        <p:nvSpPr>
          <p:cNvPr id="335" name="Google Shape;335;p51"/>
          <p:cNvSpPr txBox="1"/>
          <p:nvPr/>
        </p:nvSpPr>
        <p:spPr>
          <a:xfrm>
            <a:off x="311700" y="3779880"/>
            <a:ext cx="86625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800">
                <a:solidFill>
                  <a:schemeClr val="dk1"/>
                </a:solidFill>
              </a:rPr>
              <a:t>“If language is understood as a body of knowledge, then SHRDLU gave us a model of how it could be represented in a cognitive system and how it could be integrated with other, more general forms of knowledge about the environment”</a:t>
            </a:r>
            <a:endParaRPr i="1" sz="1800">
              <a:solidFill>
                <a:schemeClr val="dk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Building blocks of NLU</a:t>
            </a:r>
            <a:endParaRPr/>
          </a:p>
        </p:txBody>
      </p:sp>
      <p:sp>
        <p:nvSpPr>
          <p:cNvPr id="341" name="Google Shape;341;p52"/>
          <p:cNvSpPr txBox="1"/>
          <p:nvPr>
            <p:ph idx="1" type="body"/>
          </p:nvPr>
        </p:nvSpPr>
        <p:spPr>
          <a:xfrm>
            <a:off x="311700" y="1152475"/>
            <a:ext cx="8520600" cy="3758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Datasets, usually text corpus (though these may be multi-modal)</a:t>
            </a:r>
            <a:endParaRPr/>
          </a:p>
          <a:p>
            <a:pPr indent="-317500" lvl="1" marL="914400" rtl="0" algn="l">
              <a:spcBef>
                <a:spcPts val="0"/>
              </a:spcBef>
              <a:spcAft>
                <a:spcPts val="0"/>
              </a:spcAft>
              <a:buSzPts val="1400"/>
              <a:buChar char="-"/>
            </a:pPr>
            <a:r>
              <a:rPr lang="en"/>
              <a:t>Sometimes these need to be collected/annotated/crowdsourced</a:t>
            </a:r>
            <a:endParaRPr/>
          </a:p>
          <a:p>
            <a:pPr indent="-317500" lvl="1" marL="914400" rtl="0" algn="l">
              <a:spcBef>
                <a:spcPts val="0"/>
              </a:spcBef>
              <a:spcAft>
                <a:spcPts val="0"/>
              </a:spcAft>
              <a:buSzPts val="1400"/>
              <a:buChar char="-"/>
            </a:pPr>
            <a:r>
              <a:rPr lang="en"/>
              <a:t>May be multilingual (e.g. Universal Dependencies)</a:t>
            </a:r>
            <a:endParaRPr/>
          </a:p>
          <a:p>
            <a:pPr indent="-317500" lvl="1" marL="914400" rtl="0" algn="l">
              <a:spcBef>
                <a:spcPts val="0"/>
              </a:spcBef>
              <a:spcAft>
                <a:spcPts val="0"/>
              </a:spcAft>
              <a:buSzPts val="1400"/>
              <a:buChar char="-"/>
            </a:pPr>
            <a:r>
              <a:rPr lang="en"/>
              <a:t>May be related to specific areas e.g. child language, learner’s corpora, eye-tracking</a:t>
            </a:r>
            <a:br>
              <a:rPr lang="en"/>
            </a:br>
            <a:endParaRPr/>
          </a:p>
          <a:p>
            <a:pPr indent="-342900" lvl="0" marL="457200" rtl="0" algn="l">
              <a:spcBef>
                <a:spcPts val="0"/>
              </a:spcBef>
              <a:spcAft>
                <a:spcPts val="0"/>
              </a:spcAft>
              <a:buSzPts val="1800"/>
              <a:buChar char="-"/>
            </a:pPr>
            <a:r>
              <a:rPr lang="en"/>
              <a:t>Formal/Computational processing</a:t>
            </a:r>
            <a:endParaRPr/>
          </a:p>
          <a:p>
            <a:pPr indent="-317500" lvl="1" marL="914400" rtl="0" algn="l">
              <a:spcBef>
                <a:spcPts val="0"/>
              </a:spcBef>
              <a:spcAft>
                <a:spcPts val="0"/>
              </a:spcAft>
              <a:buSzPts val="1400"/>
              <a:buChar char="-"/>
            </a:pPr>
            <a:r>
              <a:rPr lang="en"/>
              <a:t>Using symbolic (rule-based) grammars e.g. English Resource Grammar</a:t>
            </a:r>
            <a:endParaRPr/>
          </a:p>
          <a:p>
            <a:pPr indent="-317500" lvl="1" marL="914400" rtl="0" algn="l">
              <a:spcBef>
                <a:spcPts val="0"/>
              </a:spcBef>
              <a:spcAft>
                <a:spcPts val="0"/>
              </a:spcAft>
              <a:buSzPts val="1400"/>
              <a:buChar char="-"/>
            </a:pPr>
            <a:r>
              <a:rPr lang="en"/>
              <a:t>Using stochastic/ML algorithms</a:t>
            </a:r>
            <a:br>
              <a:rPr lang="en"/>
            </a:br>
            <a:endParaRPr/>
          </a:p>
          <a:p>
            <a:pPr indent="-342900" lvl="0" marL="457200" rtl="0" algn="l">
              <a:spcBef>
                <a:spcPts val="0"/>
              </a:spcBef>
              <a:spcAft>
                <a:spcPts val="0"/>
              </a:spcAft>
              <a:buSzPts val="1800"/>
              <a:buChar char="-"/>
            </a:pPr>
            <a:r>
              <a:rPr lang="en"/>
              <a:t>Validation by comparison with human performance</a:t>
            </a:r>
            <a:endParaRPr/>
          </a:p>
          <a:p>
            <a:pPr indent="-317500" lvl="1" marL="914400" rtl="0" algn="l">
              <a:spcBef>
                <a:spcPts val="0"/>
              </a:spcBef>
              <a:spcAft>
                <a:spcPts val="0"/>
              </a:spcAft>
              <a:buSzPts val="1400"/>
              <a:buChar char="-"/>
            </a:pPr>
            <a:r>
              <a:rPr lang="en"/>
              <a:t>‘Performance’ metrics e.g. BLEU</a:t>
            </a:r>
            <a:endParaRPr/>
          </a:p>
          <a:p>
            <a:pPr indent="-317500" lvl="1" marL="914400" rtl="0" algn="l">
              <a:spcBef>
                <a:spcPts val="0"/>
              </a:spcBef>
              <a:spcAft>
                <a:spcPts val="0"/>
              </a:spcAft>
              <a:buSzPts val="1400"/>
              <a:buChar char="-"/>
            </a:pPr>
            <a:r>
              <a:rPr lang="en"/>
              <a:t>Cognitive metrics (may be harder to pin down)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 typical NLP/CL setup</a:t>
            </a:r>
            <a:endParaRPr/>
          </a:p>
        </p:txBody>
      </p:sp>
      <p:sp>
        <p:nvSpPr>
          <p:cNvPr id="347" name="Google Shape;347;p53"/>
          <p:cNvSpPr txBox="1"/>
          <p:nvPr>
            <p:ph idx="1" type="body"/>
          </p:nvPr>
        </p:nvSpPr>
        <p:spPr>
          <a:xfrm>
            <a:off x="311700" y="1152475"/>
            <a:ext cx="8662800" cy="3734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Method:</a:t>
            </a:r>
            <a:endParaRPr/>
          </a:p>
          <a:p>
            <a:pPr indent="-317500" lvl="1" marL="914400" rtl="0" algn="l">
              <a:spcBef>
                <a:spcPts val="0"/>
              </a:spcBef>
              <a:spcAft>
                <a:spcPts val="0"/>
              </a:spcAft>
              <a:buSzPts val="1400"/>
              <a:buChar char="-"/>
            </a:pPr>
            <a:r>
              <a:rPr lang="en"/>
              <a:t>Use of corpora/text resources</a:t>
            </a:r>
            <a:endParaRPr/>
          </a:p>
          <a:p>
            <a:pPr indent="-317500" lvl="1" marL="914400" rtl="0" algn="l">
              <a:spcBef>
                <a:spcPts val="0"/>
              </a:spcBef>
              <a:spcAft>
                <a:spcPts val="0"/>
              </a:spcAft>
              <a:buSzPts val="1400"/>
              <a:buChar char="-"/>
            </a:pPr>
            <a:r>
              <a:rPr lang="en"/>
              <a:t>Rule-based (formal) grammars, quantitative methods, mathematical formalisms</a:t>
            </a:r>
            <a:endParaRPr/>
          </a:p>
          <a:p>
            <a:pPr indent="-317500" lvl="1" marL="914400" rtl="0" algn="l">
              <a:spcBef>
                <a:spcPts val="0"/>
              </a:spcBef>
              <a:spcAft>
                <a:spcPts val="0"/>
              </a:spcAft>
              <a:buSzPts val="1400"/>
              <a:buChar char="-"/>
            </a:pPr>
            <a:r>
              <a:rPr lang="en"/>
              <a:t>Metrics for evaluation</a:t>
            </a:r>
            <a:br>
              <a:rPr lang="en"/>
            </a:br>
            <a:endParaRPr/>
          </a:p>
          <a:p>
            <a:pPr indent="-342900" lvl="0" marL="457200" rtl="0" algn="l">
              <a:spcBef>
                <a:spcPts val="0"/>
              </a:spcBef>
              <a:spcAft>
                <a:spcPts val="0"/>
              </a:spcAft>
              <a:buSzPts val="1800"/>
              <a:buChar char="-"/>
            </a:pPr>
            <a:r>
              <a:rPr lang="en"/>
              <a:t>Identify a corpus/other relevant resource</a:t>
            </a:r>
            <a:br>
              <a:rPr lang="en"/>
            </a:br>
            <a:endParaRPr/>
          </a:p>
          <a:p>
            <a:pPr indent="-342900" lvl="0" marL="457200" rtl="0" algn="l">
              <a:spcBef>
                <a:spcPts val="0"/>
              </a:spcBef>
              <a:spcAft>
                <a:spcPts val="0"/>
              </a:spcAft>
              <a:buSzPts val="1800"/>
              <a:buChar char="-"/>
            </a:pPr>
            <a:r>
              <a:rPr lang="en"/>
              <a:t>Quantify certain hypotheses you may have about the task (e.g. adjectives help in sentiment analysis, subcategorization information in parsing)</a:t>
            </a:r>
            <a:br>
              <a:rPr lang="en"/>
            </a:br>
            <a:endParaRPr/>
          </a:p>
          <a:p>
            <a:pPr indent="-342900" lvl="0" marL="457200" rtl="0" algn="l">
              <a:spcBef>
                <a:spcPts val="0"/>
              </a:spcBef>
              <a:spcAft>
                <a:spcPts val="0"/>
              </a:spcAft>
              <a:buSzPts val="1800"/>
              <a:buChar char="-"/>
            </a:pPr>
            <a:r>
              <a:rPr lang="en"/>
              <a:t>Develop/learn a computational model based on these hypotheses</a:t>
            </a:r>
            <a:br>
              <a:rPr lang="en"/>
            </a:br>
            <a:endParaRPr/>
          </a:p>
          <a:p>
            <a:pPr indent="-342900" lvl="0" marL="457200" rtl="0" algn="l">
              <a:spcBef>
                <a:spcPts val="0"/>
              </a:spcBef>
              <a:spcAft>
                <a:spcPts val="0"/>
              </a:spcAft>
              <a:buSzPts val="1800"/>
              <a:buChar char="-"/>
            </a:pPr>
            <a:r>
              <a:rPr lang="en"/>
              <a:t>Validate the model based on internal and external metrics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Main Challenges</a:t>
            </a:r>
            <a:endParaRPr/>
          </a:p>
        </p:txBody>
      </p:sp>
      <p:sp>
        <p:nvSpPr>
          <p:cNvPr id="353" name="Google Shape;353;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100">
                <a:solidFill>
                  <a:srgbClr val="0000FF"/>
                </a:solidFill>
              </a:rPr>
              <a:t>Ambiguity and language analysis</a:t>
            </a:r>
            <a:endParaRPr sz="2100">
              <a:solidFill>
                <a:srgbClr val="0000FF"/>
              </a:solidFill>
            </a:endParaRPr>
          </a:p>
          <a:p>
            <a:pPr indent="0" lvl="0" marL="0" rtl="0" algn="l">
              <a:spcBef>
                <a:spcPts val="1200"/>
              </a:spcBef>
              <a:spcAft>
                <a:spcPts val="0"/>
              </a:spcAft>
              <a:buNone/>
            </a:pPr>
            <a:r>
              <a:rPr lang="en"/>
              <a:t>For example: </a:t>
            </a:r>
            <a:r>
              <a:rPr lang="en">
                <a:solidFill>
                  <a:srgbClr val="9900FF"/>
                </a:solidFill>
              </a:rPr>
              <a:t>At last, a computer that understands you like your mother.</a:t>
            </a:r>
            <a:r>
              <a:rPr lang="en"/>
              <a:t> </a:t>
            </a:r>
            <a:endParaRPr/>
          </a:p>
          <a:p>
            <a:pPr indent="457200" lvl="0" marL="4572000" rtl="0" algn="l">
              <a:spcBef>
                <a:spcPts val="1200"/>
              </a:spcBef>
              <a:spcAft>
                <a:spcPts val="0"/>
              </a:spcAft>
              <a:buNone/>
            </a:pPr>
            <a:r>
              <a:rPr lang="en"/>
              <a:t>~ McDonnell-Douglas ad, </a:t>
            </a:r>
            <a:r>
              <a:rPr lang="en"/>
              <a:t>1985</a:t>
            </a:r>
            <a:endParaRPr/>
          </a:p>
          <a:p>
            <a:pPr indent="0" lvl="0" marL="0" rtl="0" algn="l">
              <a:spcBef>
                <a:spcPts val="1200"/>
              </a:spcBef>
              <a:spcAft>
                <a:spcPts val="0"/>
              </a:spcAft>
              <a:buNone/>
            </a:pPr>
            <a:r>
              <a:t/>
            </a:r>
            <a:endParaRPr/>
          </a:p>
          <a:p>
            <a:pPr indent="0" lvl="0" marL="0" rtl="0" algn="l">
              <a:spcBef>
                <a:spcPts val="1200"/>
              </a:spcBef>
              <a:spcAft>
                <a:spcPts val="0"/>
              </a:spcAft>
              <a:buNone/>
            </a:pPr>
            <a:r>
              <a:rPr i="1" lang="en"/>
              <a:t>The computer understands you as well as your mother understands you.</a:t>
            </a:r>
            <a:endParaRPr i="1"/>
          </a:p>
          <a:p>
            <a:pPr indent="0" lvl="0" marL="0" rtl="0" algn="l">
              <a:spcBef>
                <a:spcPts val="1200"/>
              </a:spcBef>
              <a:spcAft>
                <a:spcPts val="0"/>
              </a:spcAft>
              <a:buNone/>
            </a:pPr>
            <a:r>
              <a:rPr i="1" lang="en"/>
              <a:t>The computer understands that you like your mother</a:t>
            </a:r>
            <a:endParaRPr i="1"/>
          </a:p>
          <a:p>
            <a:pPr indent="0" lvl="0" marL="0" rtl="0" algn="l">
              <a:spcBef>
                <a:spcPts val="1200"/>
              </a:spcBef>
              <a:spcAft>
                <a:spcPts val="1200"/>
              </a:spcAft>
              <a:buNone/>
            </a:pPr>
            <a:r>
              <a:rPr i="1" lang="en"/>
              <a:t>The computer understands you as well as it understands your mother.</a:t>
            </a:r>
            <a:endParaRPr i="1"/>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Main Challenges (Contd…)</a:t>
            </a:r>
            <a:endParaRPr/>
          </a:p>
        </p:txBody>
      </p:sp>
      <p:sp>
        <p:nvSpPr>
          <p:cNvPr id="359" name="Google Shape;359;p55"/>
          <p:cNvSpPr txBox="1"/>
          <p:nvPr>
            <p:ph idx="1" type="body"/>
          </p:nvPr>
        </p:nvSpPr>
        <p:spPr>
          <a:xfrm>
            <a:off x="311700" y="1152475"/>
            <a:ext cx="8520600" cy="3674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i="1" lang="en">
                <a:solidFill>
                  <a:srgbClr val="9900FF"/>
                </a:solidFill>
              </a:rPr>
              <a:t>At last, a computer that understands you like your mother.</a:t>
            </a:r>
            <a:endParaRPr i="1">
              <a:solidFill>
                <a:srgbClr val="9900FF"/>
              </a:solidFill>
            </a:endParaRPr>
          </a:p>
          <a:p>
            <a:pPr indent="-342900" lvl="0" marL="457200" rtl="0" algn="l">
              <a:spcBef>
                <a:spcPts val="1200"/>
              </a:spcBef>
              <a:spcAft>
                <a:spcPts val="0"/>
              </a:spcAft>
              <a:buSzPts val="1800"/>
              <a:buChar char="-"/>
            </a:pPr>
            <a:r>
              <a:rPr lang="en"/>
              <a:t>C</a:t>
            </a:r>
            <a:r>
              <a:rPr lang="en"/>
              <a:t>onsider the speech recognition problem: how can we distinguish between this utterance, when spoken, and “... a computer that understands your lie cured mother”?</a:t>
            </a:r>
            <a:br>
              <a:rPr lang="en"/>
            </a:br>
            <a:endParaRPr/>
          </a:p>
          <a:p>
            <a:pPr indent="-342900" lvl="0" marL="457200" rtl="0" algn="l">
              <a:spcBef>
                <a:spcPts val="0"/>
              </a:spcBef>
              <a:spcAft>
                <a:spcPts val="0"/>
              </a:spcAft>
              <a:buSzPts val="1800"/>
              <a:buChar char="-"/>
            </a:pPr>
            <a:r>
              <a:rPr lang="en"/>
              <a:t>Word sense ambiguity problem: how do we know that here “mother” means “a female parent” or “a cask or vat used in vinegar-making”</a:t>
            </a:r>
            <a:br>
              <a:rPr lang="en"/>
            </a:br>
            <a:endParaRPr/>
          </a:p>
          <a:p>
            <a:pPr indent="0" lvl="0" marL="0" rtl="0" algn="l">
              <a:spcBef>
                <a:spcPts val="1200"/>
              </a:spcBef>
              <a:spcAft>
                <a:spcPts val="0"/>
              </a:spcAft>
              <a:buNone/>
            </a:pPr>
            <a:r>
              <a:rPr i="1" lang="en">
                <a:solidFill>
                  <a:srgbClr val="9900FF"/>
                </a:solidFill>
              </a:rPr>
              <a:t>Copy the local patient files to disk</a:t>
            </a:r>
            <a:endParaRPr i="1">
              <a:solidFill>
                <a:srgbClr val="9900FF"/>
              </a:solidFill>
            </a:endParaRPr>
          </a:p>
          <a:p>
            <a:pPr indent="-342900" lvl="0" marL="457200" rtl="0" algn="l">
              <a:spcBef>
                <a:spcPts val="1200"/>
              </a:spcBef>
              <a:spcAft>
                <a:spcPts val="0"/>
              </a:spcAft>
              <a:buSzPts val="1800"/>
              <a:buChar char="-"/>
            </a:pPr>
            <a:r>
              <a:rPr lang="en"/>
              <a:t>is it the patients or the files that are local?</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 NLP a massive knowledge engineering project?</a:t>
            </a:r>
            <a:endParaRPr/>
          </a:p>
        </p:txBody>
      </p:sp>
      <p:sp>
        <p:nvSpPr>
          <p:cNvPr id="365" name="Google Shape;365;p5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Inspired from Linguistics:</a:t>
            </a:r>
            <a:endParaRPr/>
          </a:p>
          <a:p>
            <a:pPr indent="-317500" lvl="1" marL="914400" rtl="0" algn="l">
              <a:spcBef>
                <a:spcPts val="0"/>
              </a:spcBef>
              <a:spcAft>
                <a:spcPts val="0"/>
              </a:spcAft>
              <a:buSzPts val="1400"/>
              <a:buChar char="-"/>
            </a:pPr>
            <a:r>
              <a:rPr lang="en"/>
              <a:t>C</a:t>
            </a:r>
            <a:r>
              <a:rPr lang="en"/>
              <a:t>orrelations (co-occurrences) found in language data are important sources of information</a:t>
            </a:r>
            <a:endParaRPr/>
          </a:p>
          <a:p>
            <a:pPr indent="-317500" lvl="1" marL="914400" rtl="0" algn="l">
              <a:spcBef>
                <a:spcPts val="0"/>
              </a:spcBef>
              <a:spcAft>
                <a:spcPts val="0"/>
              </a:spcAft>
              <a:buSzPts val="1400"/>
              <a:buChar char="-"/>
            </a:pPr>
            <a:r>
              <a:rPr lang="en"/>
              <a:t>You shall know a word by the company it keeps (~ linguist J. R. Firth 1957)</a:t>
            </a:r>
            <a:br>
              <a:rPr lang="en"/>
            </a:br>
            <a:endParaRPr/>
          </a:p>
          <a:p>
            <a:pPr indent="-342900" lvl="0" marL="457200" rtl="0" algn="l">
              <a:spcBef>
                <a:spcPts val="0"/>
              </a:spcBef>
              <a:spcAft>
                <a:spcPts val="0"/>
              </a:spcAft>
              <a:buSzPts val="1800"/>
              <a:buChar char="-"/>
            </a:pPr>
            <a:r>
              <a:rPr lang="en"/>
              <a:t>Claude</a:t>
            </a:r>
            <a:r>
              <a:rPr lang="en"/>
              <a:t> Shannon’s Information Theory</a:t>
            </a:r>
            <a:endParaRPr/>
          </a:p>
          <a:p>
            <a:pPr indent="-336550" lvl="1" marL="914400" rtl="0" algn="l">
              <a:spcBef>
                <a:spcPts val="0"/>
              </a:spcBef>
              <a:spcAft>
                <a:spcPts val="0"/>
              </a:spcAft>
              <a:buSzPts val="1700"/>
              <a:buChar char="-"/>
            </a:pPr>
            <a:r>
              <a:rPr lang="en"/>
              <a:t>Shannon wasn’t concerned with </a:t>
            </a:r>
            <a:r>
              <a:rPr i="1" lang="en"/>
              <a:t>what a message means</a:t>
            </a:r>
            <a:r>
              <a:rPr lang="en"/>
              <a:t>. Instead, he focused on how </a:t>
            </a:r>
            <a:r>
              <a:rPr i="1" lang="en"/>
              <a:t>surprising</a:t>
            </a:r>
            <a:r>
              <a:rPr lang="en"/>
              <a:t> or </a:t>
            </a:r>
            <a:r>
              <a:rPr i="1" lang="en"/>
              <a:t>uncertain</a:t>
            </a:r>
            <a:r>
              <a:rPr lang="en"/>
              <a:t> the message is.</a:t>
            </a:r>
            <a:endParaRPr/>
          </a:p>
          <a:p>
            <a:pPr indent="-317500" lvl="1" marL="914400" rtl="0" algn="l">
              <a:spcBef>
                <a:spcPts val="0"/>
              </a:spcBef>
              <a:spcAft>
                <a:spcPts val="0"/>
              </a:spcAft>
              <a:buSzPts val="1400"/>
              <a:buChar char="-"/>
            </a:pPr>
            <a:r>
              <a:rPr lang="en"/>
              <a:t>The </a:t>
            </a:r>
            <a:r>
              <a:rPr b="1" lang="en"/>
              <a:t>information content</a:t>
            </a:r>
            <a:r>
              <a:rPr lang="en"/>
              <a:t> of a message depends on its </a:t>
            </a:r>
            <a:r>
              <a:rPr b="1" lang="en"/>
              <a:t>probability</a:t>
            </a:r>
            <a:r>
              <a:rPr lang="en"/>
              <a:t>, not its meaning</a:t>
            </a:r>
            <a:br>
              <a:rPr lang="en"/>
            </a:br>
            <a:endParaRPr/>
          </a:p>
          <a:p>
            <a:pPr indent="-342900" lvl="0" marL="457200" rtl="0" algn="l">
              <a:spcBef>
                <a:spcPts val="0"/>
              </a:spcBef>
              <a:spcAft>
                <a:spcPts val="0"/>
              </a:spcAft>
              <a:buSzPts val="1800"/>
              <a:buChar char="-"/>
            </a:pPr>
            <a:r>
              <a:rPr lang="en"/>
              <a:t>Language can be viewed from a data-driven, empirical perspective — and a data-driven perspective leads naturally to a computational perspective</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Computational linguistics without linguistics?</a:t>
            </a:r>
            <a:endParaRPr/>
          </a:p>
        </p:txBody>
      </p:sp>
      <p:sp>
        <p:nvSpPr>
          <p:cNvPr id="371" name="Google Shape;371;p57"/>
          <p:cNvSpPr txBox="1"/>
          <p:nvPr>
            <p:ph idx="1" type="body"/>
          </p:nvPr>
        </p:nvSpPr>
        <p:spPr>
          <a:xfrm>
            <a:off x="311700" y="1152475"/>
            <a:ext cx="8832300" cy="38181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en"/>
              <a:t>Always been a trend, perhaps more so with deep learning and neural models</a:t>
            </a:r>
            <a:br>
              <a:rPr lang="en"/>
            </a:br>
            <a:endParaRPr/>
          </a:p>
          <a:p>
            <a:pPr indent="-325755" lvl="0" marL="457200" rtl="0" algn="l">
              <a:spcBef>
                <a:spcPts val="0"/>
              </a:spcBef>
              <a:spcAft>
                <a:spcPts val="0"/>
              </a:spcAft>
              <a:buSzPct val="100000"/>
              <a:buChar char="-"/>
            </a:pPr>
            <a:r>
              <a:rPr lang="en"/>
              <a:t>Ever-larger training sets, more powerful training techniques to yield impressive performance</a:t>
            </a:r>
            <a:br>
              <a:rPr lang="en"/>
            </a:br>
            <a:endParaRPr/>
          </a:p>
          <a:p>
            <a:pPr indent="-325755" lvl="0" marL="457200" rtl="0" algn="l">
              <a:spcBef>
                <a:spcPts val="0"/>
              </a:spcBef>
              <a:spcAft>
                <a:spcPts val="0"/>
              </a:spcAft>
              <a:buSzPct val="100000"/>
              <a:buChar char="-"/>
            </a:pPr>
            <a:r>
              <a:rPr lang="en"/>
              <a:t>Impossibly large datasets required, computational power</a:t>
            </a:r>
            <a:br>
              <a:rPr lang="en"/>
            </a:br>
            <a:endParaRPr/>
          </a:p>
          <a:p>
            <a:pPr indent="-325755" lvl="0" marL="457200" rtl="0" algn="l">
              <a:spcBef>
                <a:spcPts val="0"/>
              </a:spcBef>
              <a:spcAft>
                <a:spcPts val="0"/>
              </a:spcAft>
              <a:buSzPct val="100000"/>
              <a:buChar char="-"/>
            </a:pPr>
            <a:r>
              <a:rPr lang="en"/>
              <a:t>Divisions between ‘high’ and ‘low’ resource languages</a:t>
            </a:r>
            <a:br>
              <a:rPr lang="en"/>
            </a:br>
            <a:endParaRPr/>
          </a:p>
          <a:p>
            <a:pPr indent="-325755" lvl="0" marL="457200" rtl="0" algn="l">
              <a:spcBef>
                <a:spcPts val="0"/>
              </a:spcBef>
              <a:spcAft>
                <a:spcPts val="0"/>
              </a:spcAft>
              <a:buSzPct val="100000"/>
              <a:buChar char="-"/>
            </a:pPr>
            <a:r>
              <a:rPr lang="en"/>
              <a:t>Language models that only use linguistic form to predict the next word do not learn meaning/communicative intent (Bender and Koller, 2020)</a:t>
            </a:r>
            <a:br>
              <a:rPr lang="en"/>
            </a:br>
            <a:endParaRPr/>
          </a:p>
          <a:p>
            <a:pPr indent="-325755" lvl="0" marL="457200" rtl="0" algn="l">
              <a:spcBef>
                <a:spcPts val="0"/>
              </a:spcBef>
              <a:spcAft>
                <a:spcPts val="0"/>
              </a:spcAft>
              <a:buSzPct val="100000"/>
              <a:buChar char="-"/>
            </a:pPr>
            <a:r>
              <a:rPr lang="en"/>
              <a:t>Powerful models like BERT still insensitive to negation, event prediction based on roles (Ettinger, 2020)</a:t>
            </a:r>
            <a:br>
              <a:rPr lang="en"/>
            </a:br>
            <a:endParaRPr/>
          </a:p>
          <a:p>
            <a:pPr indent="-325755" lvl="0" marL="457200" rtl="0" algn="l">
              <a:spcBef>
                <a:spcPts val="0"/>
              </a:spcBef>
              <a:spcAft>
                <a:spcPts val="0"/>
              </a:spcAft>
              <a:buSzPct val="100000"/>
              <a:buChar char="-"/>
            </a:pPr>
            <a:r>
              <a:rPr lang="en"/>
              <a:t>How to learn from rare, but informative events?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NLP Trinity</a:t>
            </a:r>
            <a:endParaRPr/>
          </a:p>
        </p:txBody>
      </p:sp>
      <p:pic>
        <p:nvPicPr>
          <p:cNvPr id="377" name="Google Shape;377;p58"/>
          <p:cNvPicPr preferRelativeResize="0"/>
          <p:nvPr/>
        </p:nvPicPr>
        <p:blipFill rotWithShape="1">
          <a:blip r:embed="rId3">
            <a:alphaModFix/>
          </a:blip>
          <a:srcRect b="0" l="3316" r="0" t="0"/>
          <a:stretch/>
        </p:blipFill>
        <p:spPr>
          <a:xfrm>
            <a:off x="5263900" y="1414200"/>
            <a:ext cx="3496525" cy="3399449"/>
          </a:xfrm>
          <a:prstGeom prst="rect">
            <a:avLst/>
          </a:prstGeom>
          <a:noFill/>
          <a:ln>
            <a:noFill/>
          </a:ln>
        </p:spPr>
      </p:pic>
      <p:pic>
        <p:nvPicPr>
          <p:cNvPr id="378" name="Google Shape;378;p58"/>
          <p:cNvPicPr preferRelativeResize="0"/>
          <p:nvPr/>
        </p:nvPicPr>
        <p:blipFill>
          <a:blip r:embed="rId4">
            <a:alphaModFix/>
          </a:blip>
          <a:stretch>
            <a:fillRect/>
          </a:stretch>
        </p:blipFill>
        <p:spPr>
          <a:xfrm>
            <a:off x="473700" y="1515975"/>
            <a:ext cx="3692175" cy="29917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Closing Discussion</a:t>
            </a:r>
            <a:endParaRPr/>
          </a:p>
        </p:txBody>
      </p:sp>
      <p:sp>
        <p:nvSpPr>
          <p:cNvPr id="384" name="Google Shape;384;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9900FF"/>
              </a:buClr>
              <a:buSzPts val="1800"/>
              <a:buChar char="-"/>
            </a:pPr>
            <a:r>
              <a:rPr b="1" lang="en">
                <a:solidFill>
                  <a:schemeClr val="dk1"/>
                </a:solidFill>
              </a:rPr>
              <a:t>Q1:</a:t>
            </a:r>
            <a:r>
              <a:rPr lang="en">
                <a:solidFill>
                  <a:srgbClr val="9900FF"/>
                </a:solidFill>
              </a:rPr>
              <a:t> If a machine produces a completely appropriate response to a sentence, does that mean it understands the sentence?</a:t>
            </a:r>
            <a:br>
              <a:rPr lang="en">
                <a:solidFill>
                  <a:srgbClr val="9900FF"/>
                </a:solidFill>
              </a:rPr>
            </a:br>
            <a:endParaRPr/>
          </a:p>
          <a:p>
            <a:pPr indent="-342900" lvl="0" marL="457200" rtl="0" algn="l">
              <a:spcBef>
                <a:spcPts val="0"/>
              </a:spcBef>
              <a:spcAft>
                <a:spcPts val="0"/>
              </a:spcAft>
              <a:buClr>
                <a:srgbClr val="0000FF"/>
              </a:buClr>
              <a:buSzPts val="1800"/>
              <a:buChar char="-"/>
            </a:pPr>
            <a:r>
              <a:rPr b="1" lang="en">
                <a:solidFill>
                  <a:schemeClr val="dk1"/>
                </a:solidFill>
              </a:rPr>
              <a:t>Q2:</a:t>
            </a:r>
            <a:r>
              <a:rPr lang="en">
                <a:solidFill>
                  <a:srgbClr val="0000FF"/>
                </a:solidFill>
              </a:rPr>
              <a:t> What is the difference between </a:t>
            </a:r>
            <a:r>
              <a:rPr i="1" lang="en">
                <a:solidFill>
                  <a:schemeClr val="dk1"/>
                </a:solidFill>
              </a:rPr>
              <a:t>processing</a:t>
            </a:r>
            <a:r>
              <a:rPr i="1" lang="en">
                <a:solidFill>
                  <a:schemeClr val="dk1"/>
                </a:solidFill>
              </a:rPr>
              <a:t> </a:t>
            </a:r>
            <a:r>
              <a:rPr lang="en">
                <a:solidFill>
                  <a:srgbClr val="0000FF"/>
                </a:solidFill>
              </a:rPr>
              <a:t>language and </a:t>
            </a:r>
            <a:r>
              <a:rPr i="1" lang="en">
                <a:solidFill>
                  <a:schemeClr val="dk1"/>
                </a:solidFill>
              </a:rPr>
              <a:t>understanding </a:t>
            </a:r>
            <a:r>
              <a:rPr lang="en">
                <a:solidFill>
                  <a:srgbClr val="0000FF"/>
                </a:solidFill>
              </a:rPr>
              <a:t>language?</a:t>
            </a:r>
            <a:br>
              <a:rPr lang="en">
                <a:solidFill>
                  <a:srgbClr val="0000FF"/>
                </a:solidFill>
              </a:rPr>
            </a:br>
            <a:endParaRPr/>
          </a:p>
          <a:p>
            <a:pPr indent="-342900" lvl="0" marL="457200" rtl="0" algn="l">
              <a:spcBef>
                <a:spcPts val="0"/>
              </a:spcBef>
              <a:spcAft>
                <a:spcPts val="0"/>
              </a:spcAft>
              <a:buClr>
                <a:srgbClr val="980000"/>
              </a:buClr>
              <a:buSzPts val="1800"/>
              <a:buChar char="-"/>
            </a:pPr>
            <a:r>
              <a:rPr b="1" lang="en">
                <a:solidFill>
                  <a:schemeClr val="dk1"/>
                </a:solidFill>
              </a:rPr>
              <a:t>Q3:</a:t>
            </a:r>
            <a:r>
              <a:rPr lang="en">
                <a:solidFill>
                  <a:srgbClr val="980000"/>
                </a:solidFill>
              </a:rPr>
              <a:t> If a model learns statistical patterns from enormous amounts of text, what exactly has it learned?</a:t>
            </a:r>
            <a:endParaRPr>
              <a:solidFill>
                <a:srgbClr val="980000"/>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Today</a:t>
            </a:r>
            <a:r>
              <a:rPr lang="en"/>
              <a:t>’s world</a:t>
            </a:r>
            <a:endParaRPr/>
          </a:p>
        </p:txBody>
      </p:sp>
      <p:pic>
        <p:nvPicPr>
          <p:cNvPr id="390" name="Google Shape;390;p60"/>
          <p:cNvPicPr preferRelativeResize="0"/>
          <p:nvPr/>
        </p:nvPicPr>
        <p:blipFill>
          <a:blip r:embed="rId3">
            <a:alphaModFix/>
          </a:blip>
          <a:stretch>
            <a:fillRect/>
          </a:stretch>
        </p:blipFill>
        <p:spPr>
          <a:xfrm>
            <a:off x="1348575" y="1170125"/>
            <a:ext cx="6637960" cy="3820976"/>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Next Class</a:t>
            </a:r>
            <a:endParaRPr/>
          </a:p>
        </p:txBody>
      </p:sp>
      <p:sp>
        <p:nvSpPr>
          <p:cNvPr id="396" name="Google Shape;396;p6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ctr">
              <a:spcBef>
                <a:spcPts val="1200"/>
              </a:spcBef>
              <a:spcAft>
                <a:spcPts val="1200"/>
              </a:spcAft>
              <a:buNone/>
            </a:pPr>
            <a:br>
              <a:rPr lang="en"/>
            </a:br>
            <a:r>
              <a:rPr i="1" lang="en" sz="2100">
                <a:solidFill>
                  <a:srgbClr val="0000FF"/>
                </a:solidFill>
              </a:rPr>
              <a:t>How can we computationally represent the structure of language?</a:t>
            </a:r>
            <a:endParaRPr i="1" sz="2100">
              <a:solidFill>
                <a:srgbClr val="0000FF"/>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Reading and References</a:t>
            </a:r>
            <a:endParaRPr/>
          </a:p>
        </p:txBody>
      </p:sp>
      <p:sp>
        <p:nvSpPr>
          <p:cNvPr id="402" name="Google Shape;402;p6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334328" lvl="0" marL="457200" rtl="0" algn="l">
              <a:spcBef>
                <a:spcPts val="0"/>
              </a:spcBef>
              <a:spcAft>
                <a:spcPts val="0"/>
              </a:spcAft>
              <a:buSzPct val="100000"/>
              <a:buChar char="-"/>
            </a:pPr>
            <a:r>
              <a:rPr lang="en"/>
              <a:t>Lillian Lee’s ”I’m sorry Dave, I’m afraid I can’t do that”: Linguistics, Statistics, and Natural Language Processing circa 2001” (also in the form of a online talk)</a:t>
            </a:r>
            <a:br>
              <a:rPr lang="en"/>
            </a:br>
            <a:endParaRPr/>
          </a:p>
          <a:p>
            <a:pPr indent="-334328" lvl="0" marL="457200" rtl="0" algn="l">
              <a:spcBef>
                <a:spcPts val="0"/>
              </a:spcBef>
              <a:spcAft>
                <a:spcPts val="0"/>
              </a:spcAft>
              <a:buSzPct val="100000"/>
              <a:buChar char="-"/>
            </a:pPr>
            <a:r>
              <a:rPr lang="en"/>
              <a:t>Mark Steedman’s Romantics and Revolutionaries: What Theoretical and Computational Linguists need to know about each other (but were afraid to ask). in Linguistic Issues in Language Technology</a:t>
            </a:r>
            <a:br>
              <a:rPr lang="en"/>
            </a:br>
            <a:endParaRPr/>
          </a:p>
          <a:p>
            <a:pPr indent="-334328" lvl="0" marL="457200" rtl="0" algn="l">
              <a:spcBef>
                <a:spcPts val="0"/>
              </a:spcBef>
              <a:spcAft>
                <a:spcPts val="0"/>
              </a:spcAft>
              <a:buSzPct val="100000"/>
              <a:buChar char="-"/>
            </a:pPr>
            <a:r>
              <a:rPr lang="en"/>
              <a:t>E. Bender and A. Koller, Climbing towards NLU: On Meaning, Form and Understanding in the age of Data, ACL 2020</a:t>
            </a:r>
            <a:br>
              <a:rPr lang="en"/>
            </a:br>
            <a:endParaRPr/>
          </a:p>
          <a:p>
            <a:pPr indent="-334328" lvl="0" marL="457200" rtl="0" algn="l">
              <a:spcBef>
                <a:spcPts val="0"/>
              </a:spcBef>
              <a:spcAft>
                <a:spcPts val="0"/>
              </a:spcAft>
              <a:buSzPct val="100000"/>
              <a:buChar char="-"/>
            </a:pPr>
            <a:r>
              <a:rPr lang="en"/>
              <a:t>Allyson Ettinger, What BERT is Not: Lessons from a New Suite of Psycholinguistic Diagnostics for Language Models, TACL, Vol 8, 2020</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